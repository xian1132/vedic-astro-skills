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12191695" cy="228600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874519"/>
            <a:ext cx="82296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14400"/>
            <a:ext cx="10515600" cy="731520"/>
          </a:xfrm>
          <a:prstGeom prst="rect">
            <a:avLst/>
          </a:prstGeom>
          <a:noFill/>
        </p:spPr>
        <p:txBody>
          <a:bodyPr wrap="square" anchor="t" lIns="25400" rIns="25400" tIns="25400" bIns="25400">
            <a:spAutoFit/>
          </a:bodyPr>
          <a:lstStyle/>
          <a:p>
            <a:pPr algn="l"/>
            <a:r>
              <a:rPr sz="1800" b="0" i="0">
                <a:solidFill>
                  <a:srgbClr val="F3CFC9"/>
                </a:solidFill>
                <a:latin typeface="微软雅黑"/>
                <a:ea typeface="微软雅黑"/>
              </a:rPr>
              <a:t>管理会计 / 战略管理 · 案例分析</a:t>
            </a:r>
          </a:p>
        </p:txBody>
      </p:sp>
      <p:sp>
        <p:nvSpPr>
          <p:cNvPr id="7" name="TextBox 6"/>
          <p:cNvSpPr txBox="1"/>
          <p:nvPr/>
        </p:nvSpPr>
        <p:spPr>
          <a:xfrm>
            <a:off x="777240" y="2148840"/>
            <a:ext cx="10607040" cy="1645920"/>
          </a:xfrm>
          <a:prstGeom prst="rect">
            <a:avLst/>
          </a:prstGeom>
          <a:noFill/>
        </p:spPr>
        <p:txBody>
          <a:bodyPr wrap="square" anchor="t" lIns="25400" rIns="25400" tIns="25400" bIns="25400">
            <a:spAutoFit/>
          </a:bodyPr>
          <a:lstStyle/>
          <a:p>
            <a:pPr algn="l"/>
            <a:r>
              <a:rPr sz="6000" b="1" i="0">
                <a:solidFill>
                  <a:srgbClr val="FFFFFF"/>
                </a:solidFill>
                <a:latin typeface="微软雅黑"/>
                <a:ea typeface="微软雅黑"/>
              </a:rPr>
              <a:t>赵一鸣零食</a:t>
            </a:r>
          </a:p>
        </p:txBody>
      </p:sp>
      <p:sp>
        <p:nvSpPr>
          <p:cNvPr id="8" name="TextBox 7"/>
          <p:cNvSpPr txBox="1"/>
          <p:nvPr/>
        </p:nvSpPr>
        <p:spPr>
          <a:xfrm>
            <a:off x="822960" y="3246120"/>
            <a:ext cx="10607040" cy="914400"/>
          </a:xfrm>
          <a:prstGeom prst="rect">
            <a:avLst/>
          </a:prstGeom>
          <a:noFill/>
        </p:spPr>
        <p:txBody>
          <a:bodyPr wrap="square" anchor="t" lIns="25400" rIns="25400" tIns="25400" bIns="25400">
            <a:spAutoFit/>
          </a:bodyPr>
          <a:lstStyle/>
          <a:p>
            <a:pPr algn="l"/>
            <a:r>
              <a:rPr sz="3400" b="1" i="0">
                <a:solidFill>
                  <a:srgbClr val="FFFFFF"/>
                </a:solidFill>
                <a:latin typeface="微软雅黑"/>
                <a:ea typeface="微软雅黑"/>
              </a:rPr>
              <a:t>战略地图与战略执行分析</a:t>
            </a:r>
          </a:p>
          <a:p>
            <a:pPr algn="l">
              <a:spcBef>
                <a:spcPts val="800"/>
              </a:spcBef>
            </a:pPr>
            <a:r>
              <a:rPr sz="1800" b="0" i="0">
                <a:solidFill>
                  <a:srgbClr val="F3CFC9"/>
                </a:solidFill>
                <a:latin typeface="微软雅黑"/>
                <a:ea typeface="微软雅黑"/>
              </a:rPr>
              <a:t>——基于平衡计分卡（BSC）的四维度视角</a:t>
            </a:r>
          </a:p>
        </p:txBody>
      </p:sp>
      <p:sp>
        <p:nvSpPr>
          <p:cNvPr id="9" name="TextBox 8"/>
          <p:cNvSpPr txBox="1"/>
          <p:nvPr/>
        </p:nvSpPr>
        <p:spPr>
          <a:xfrm>
            <a:off x="822960" y="4983480"/>
            <a:ext cx="10607040" cy="1280160"/>
          </a:xfrm>
          <a:prstGeom prst="rect">
            <a:avLst/>
          </a:prstGeom>
          <a:noFill/>
        </p:spPr>
        <p:txBody>
          <a:bodyPr wrap="square" anchor="t" lIns="25400" rIns="25400" tIns="25400" bIns="25400">
            <a:spAutoFit/>
          </a:bodyPr>
          <a:lstStyle/>
          <a:p>
            <a:pPr algn="l"/>
            <a:r>
              <a:rPr sz="1400" b="0" i="0">
                <a:solidFill>
                  <a:srgbClr val="F0C8C2"/>
                </a:solidFill>
                <a:latin typeface="微软雅黑"/>
                <a:ea typeface="微软雅黑"/>
              </a:rPr>
              <a:t>汇报小组：</a:t>
            </a:r>
            <a:r>
              <a:rPr sz="1400" b="1" i="0">
                <a:solidFill>
                  <a:srgbClr val="FFFFFF"/>
                </a:solidFill>
                <a:latin typeface="微软雅黑"/>
                <a:ea typeface="微软雅黑"/>
              </a:rPr>
              <a:t>第 X 组（5 人）</a:t>
            </a:r>
          </a:p>
          <a:p>
            <a:pPr algn="l">
              <a:spcBef>
                <a:spcPts val="600"/>
              </a:spcBef>
            </a:pPr>
            <a:r>
              <a:rPr sz="1400" b="0" i="0">
                <a:solidFill>
                  <a:srgbClr val="F0C8C2"/>
                </a:solidFill>
                <a:latin typeface="微软雅黑"/>
                <a:ea typeface="微软雅黑"/>
              </a:rPr>
              <a:t>分析框架：</a:t>
            </a:r>
            <a:r>
              <a:rPr sz="1400" b="0" i="0">
                <a:solidFill>
                  <a:srgbClr val="FFFFFF"/>
                </a:solidFill>
                <a:latin typeface="微软雅黑"/>
                <a:ea typeface="微软雅黑"/>
              </a:rPr>
              <a:t>PEST · 波特五力 · SWOT · 战略地图 · BSC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14400"/>
            <a:ext cx="82296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108960" cy="1828800"/>
          </a:xfrm>
          <a:prstGeom prst="rect">
            <a:avLst/>
          </a:prstGeom>
          <a:noFill/>
        </p:spPr>
        <p:txBody>
          <a:bodyPr wrap="square" anchor="t" lIns="25400" rIns="25400" tIns="25400" bIns="25400">
            <a:spAutoFit/>
          </a:bodyPr>
          <a:lstStyle/>
          <a:p>
            <a:pPr algn="l"/>
            <a:r>
              <a:rPr sz="2200" b="1" i="0">
                <a:solidFill>
                  <a:srgbClr val="F0C8C2"/>
                </a:solidFill>
                <a:latin typeface="Arial"/>
                <a:ea typeface="Arial"/>
              </a:rPr>
              <a:t>CONTENTS</a:t>
            </a:r>
          </a:p>
          <a:p>
            <a:pPr algn="l">
              <a:spcBef>
                <a:spcPts val="600"/>
              </a:spcBef>
            </a:pPr>
            <a:r>
              <a:rPr sz="4000" b="1" i="0">
                <a:solidFill>
                  <a:srgbClr val="FFFFFF"/>
                </a:solidFill>
                <a:latin typeface="微软雅黑"/>
                <a:ea typeface="微软雅黑"/>
              </a:rPr>
              <a:t>目  录</a:t>
            </a:r>
          </a:p>
        </p:txBody>
      </p:sp>
      <p:sp>
        <p:nvSpPr>
          <p:cNvPr id="6" name="TextBox 5"/>
          <p:cNvSpPr txBox="1"/>
          <p:nvPr/>
        </p:nvSpPr>
        <p:spPr>
          <a:xfrm>
            <a:off x="4526280" y="960120"/>
            <a:ext cx="914400" cy="822960"/>
          </a:xfrm>
          <a:prstGeom prst="rect">
            <a:avLst/>
          </a:prstGeom>
          <a:noFill/>
        </p:spPr>
        <p:txBody>
          <a:bodyPr wrap="square" anchor="ctr" lIns="25400" rIns="25400" tIns="25400" bIns="25400">
            <a:spAutoFit/>
          </a:bodyPr>
          <a:lstStyle/>
          <a:p>
            <a:pPr algn="l"/>
            <a:r>
              <a:rPr sz="3400" b="1" i="0">
                <a:solidFill>
                  <a:srgbClr val="C01A22"/>
                </a:solidFill>
                <a:latin typeface="Arial"/>
                <a:ea typeface="Arial"/>
              </a:rPr>
              <a:t>01</a:t>
            </a:r>
          </a:p>
        </p:txBody>
      </p:sp>
      <p:sp>
        <p:nvSpPr>
          <p:cNvPr id="7" name="TextBox 6"/>
          <p:cNvSpPr txBox="1"/>
          <p:nvPr/>
        </p:nvSpPr>
        <p:spPr>
          <a:xfrm>
            <a:off x="5486400" y="960120"/>
            <a:ext cx="6217920" cy="822960"/>
          </a:xfrm>
          <a:prstGeom prst="rect">
            <a:avLst/>
          </a:prstGeom>
          <a:noFill/>
        </p:spPr>
        <p:txBody>
          <a:bodyPr wrap="square" anchor="ctr" lIns="25400" rIns="25400" tIns="25400" bIns="25400">
            <a:spAutoFit/>
          </a:bodyPr>
          <a:lstStyle/>
          <a:p>
            <a:pPr algn="l"/>
            <a:r>
              <a:rPr sz="2100" b="1" i="0">
                <a:solidFill>
                  <a:srgbClr val="262626"/>
                </a:solidFill>
                <a:latin typeface="微软雅黑"/>
                <a:ea typeface="微软雅黑"/>
              </a:rPr>
              <a:t>案例介绍</a:t>
            </a:r>
          </a:p>
          <a:p>
            <a:pPr algn="l">
              <a:spcBef>
                <a:spcPts val="300"/>
              </a:spcBef>
            </a:pPr>
            <a:r>
              <a:rPr sz="1250" b="0" i="0">
                <a:solidFill>
                  <a:srgbClr val="666666"/>
                </a:solidFill>
                <a:latin typeface="微软雅黑"/>
                <a:ea typeface="微软雅黑"/>
              </a:rPr>
              <a:t>企业背景 · 发展历程 · 商业模式</a:t>
            </a:r>
          </a:p>
        </p:txBody>
      </p:sp>
      <p:sp>
        <p:nvSpPr>
          <p:cNvPr id="8" name="Rectangle 7"/>
          <p:cNvSpPr/>
          <p:nvPr/>
        </p:nvSpPr>
        <p:spPr>
          <a:xfrm>
            <a:off x="4572000" y="1892808"/>
            <a:ext cx="7040880" cy="127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11680"/>
            <a:ext cx="914400" cy="822960"/>
          </a:xfrm>
          <a:prstGeom prst="rect">
            <a:avLst/>
          </a:prstGeom>
          <a:noFill/>
        </p:spPr>
        <p:txBody>
          <a:bodyPr wrap="square" anchor="ctr" lIns="25400" rIns="25400" tIns="25400" bIns="25400">
            <a:spAutoFit/>
          </a:bodyPr>
          <a:lstStyle/>
          <a:p>
            <a:pPr algn="l"/>
            <a:r>
              <a:rPr sz="3400" b="1" i="0">
                <a:solidFill>
                  <a:srgbClr val="C01A22"/>
                </a:solidFill>
                <a:latin typeface="Arial"/>
                <a:ea typeface="Arial"/>
              </a:rPr>
              <a:t>02</a:t>
            </a:r>
          </a:p>
        </p:txBody>
      </p:sp>
      <p:sp>
        <p:nvSpPr>
          <p:cNvPr id="10" name="TextBox 9"/>
          <p:cNvSpPr txBox="1"/>
          <p:nvPr/>
        </p:nvSpPr>
        <p:spPr>
          <a:xfrm>
            <a:off x="5486400" y="2011680"/>
            <a:ext cx="6217920" cy="822960"/>
          </a:xfrm>
          <a:prstGeom prst="rect">
            <a:avLst/>
          </a:prstGeom>
          <a:noFill/>
        </p:spPr>
        <p:txBody>
          <a:bodyPr wrap="square" anchor="ctr" lIns="25400" rIns="25400" tIns="25400" bIns="25400">
            <a:spAutoFit/>
          </a:bodyPr>
          <a:lstStyle/>
          <a:p>
            <a:pPr algn="l"/>
            <a:r>
              <a:rPr sz="2100" b="1" i="0">
                <a:solidFill>
                  <a:srgbClr val="262626"/>
                </a:solidFill>
                <a:latin typeface="微软雅黑"/>
                <a:ea typeface="微软雅黑"/>
              </a:rPr>
              <a:t>竞争战略分析</a:t>
            </a:r>
          </a:p>
          <a:p>
            <a:pPr algn="l">
              <a:spcBef>
                <a:spcPts val="300"/>
              </a:spcBef>
            </a:pPr>
            <a:r>
              <a:rPr sz="1250" b="0" i="0">
                <a:solidFill>
                  <a:srgbClr val="666666"/>
                </a:solidFill>
                <a:latin typeface="微软雅黑"/>
                <a:ea typeface="微软雅黑"/>
              </a:rPr>
              <a:t>PEST · 波特五力模型 · SWOT</a:t>
            </a:r>
          </a:p>
        </p:txBody>
      </p:sp>
      <p:sp>
        <p:nvSpPr>
          <p:cNvPr id="11" name="Rectangle 10"/>
          <p:cNvSpPr/>
          <p:nvPr/>
        </p:nvSpPr>
        <p:spPr>
          <a:xfrm>
            <a:off x="4572000" y="2944368"/>
            <a:ext cx="7040880" cy="127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063240"/>
            <a:ext cx="914400" cy="822960"/>
          </a:xfrm>
          <a:prstGeom prst="rect">
            <a:avLst/>
          </a:prstGeom>
          <a:noFill/>
        </p:spPr>
        <p:txBody>
          <a:bodyPr wrap="square" anchor="ctr" lIns="25400" rIns="25400" tIns="25400" bIns="25400">
            <a:spAutoFit/>
          </a:bodyPr>
          <a:lstStyle/>
          <a:p>
            <a:pPr algn="l"/>
            <a:r>
              <a:rPr sz="3400" b="1" i="0">
                <a:solidFill>
                  <a:srgbClr val="C01A22"/>
                </a:solidFill>
                <a:latin typeface="Arial"/>
                <a:ea typeface="Arial"/>
              </a:rPr>
              <a:t>03</a:t>
            </a:r>
          </a:p>
        </p:txBody>
      </p:sp>
      <p:sp>
        <p:nvSpPr>
          <p:cNvPr id="13" name="TextBox 12"/>
          <p:cNvSpPr txBox="1"/>
          <p:nvPr/>
        </p:nvSpPr>
        <p:spPr>
          <a:xfrm>
            <a:off x="5486400" y="3063240"/>
            <a:ext cx="6217920" cy="822960"/>
          </a:xfrm>
          <a:prstGeom prst="rect">
            <a:avLst/>
          </a:prstGeom>
          <a:noFill/>
        </p:spPr>
        <p:txBody>
          <a:bodyPr wrap="square" anchor="ctr" lIns="25400" rIns="25400" tIns="25400" bIns="25400">
            <a:spAutoFit/>
          </a:bodyPr>
          <a:lstStyle/>
          <a:p>
            <a:pPr algn="l"/>
            <a:r>
              <a:rPr sz="2100" b="1" i="0">
                <a:solidFill>
                  <a:srgbClr val="262626"/>
                </a:solidFill>
                <a:latin typeface="微软雅黑"/>
                <a:ea typeface="微软雅黑"/>
              </a:rPr>
              <a:t>战略类型与战略推导</a:t>
            </a:r>
          </a:p>
          <a:p>
            <a:pPr algn="l">
              <a:spcBef>
                <a:spcPts val="300"/>
              </a:spcBef>
            </a:pPr>
            <a:r>
              <a:rPr sz="1250" b="0" i="0">
                <a:solidFill>
                  <a:srgbClr val="666666"/>
                </a:solidFill>
                <a:latin typeface="微软雅黑"/>
                <a:ea typeface="微软雅黑"/>
              </a:rPr>
              <a:t>总体战略 · 三大战略主轴</a:t>
            </a:r>
          </a:p>
        </p:txBody>
      </p:sp>
      <p:sp>
        <p:nvSpPr>
          <p:cNvPr id="14" name="Rectangle 13"/>
          <p:cNvSpPr/>
          <p:nvPr/>
        </p:nvSpPr>
        <p:spPr>
          <a:xfrm>
            <a:off x="4572000" y="3995928"/>
            <a:ext cx="7040880" cy="127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114800"/>
            <a:ext cx="914400" cy="822960"/>
          </a:xfrm>
          <a:prstGeom prst="rect">
            <a:avLst/>
          </a:prstGeom>
          <a:noFill/>
        </p:spPr>
        <p:txBody>
          <a:bodyPr wrap="square" anchor="ctr" lIns="25400" rIns="25400" tIns="25400" bIns="25400">
            <a:spAutoFit/>
          </a:bodyPr>
          <a:lstStyle/>
          <a:p>
            <a:pPr algn="l"/>
            <a:r>
              <a:rPr sz="3400" b="1" i="0">
                <a:solidFill>
                  <a:srgbClr val="C01A22"/>
                </a:solidFill>
                <a:latin typeface="Arial"/>
                <a:ea typeface="Arial"/>
              </a:rPr>
              <a:t>04</a:t>
            </a:r>
          </a:p>
        </p:txBody>
      </p:sp>
      <p:sp>
        <p:nvSpPr>
          <p:cNvPr id="16" name="TextBox 15"/>
          <p:cNvSpPr txBox="1"/>
          <p:nvPr/>
        </p:nvSpPr>
        <p:spPr>
          <a:xfrm>
            <a:off x="5486400" y="4114800"/>
            <a:ext cx="6217920" cy="822960"/>
          </a:xfrm>
          <a:prstGeom prst="rect">
            <a:avLst/>
          </a:prstGeom>
          <a:noFill/>
        </p:spPr>
        <p:txBody>
          <a:bodyPr wrap="square" anchor="ctr" lIns="25400" rIns="25400" tIns="25400" bIns="25400">
            <a:spAutoFit/>
          </a:bodyPr>
          <a:lstStyle/>
          <a:p>
            <a:pPr algn="l"/>
            <a:r>
              <a:rPr sz="2100" b="1" i="0">
                <a:solidFill>
                  <a:srgbClr val="262626"/>
                </a:solidFill>
                <a:latin typeface="微软雅黑"/>
                <a:ea typeface="微软雅黑"/>
              </a:rPr>
              <a:t>战略地图（BSC 四维度）</a:t>
            </a:r>
          </a:p>
          <a:p>
            <a:pPr algn="l">
              <a:spcBef>
                <a:spcPts val="300"/>
              </a:spcBef>
            </a:pPr>
            <a:r>
              <a:rPr sz="1250" b="0" i="0">
                <a:solidFill>
                  <a:srgbClr val="666666"/>
                </a:solidFill>
                <a:latin typeface="微软雅黑"/>
                <a:ea typeface="微软雅黑"/>
              </a:rPr>
              <a:t>财务 · 客户 · 内部流程 · 学习成长</a:t>
            </a:r>
          </a:p>
        </p:txBody>
      </p:sp>
      <p:sp>
        <p:nvSpPr>
          <p:cNvPr id="17" name="Rectangle 16"/>
          <p:cNvSpPr/>
          <p:nvPr/>
        </p:nvSpPr>
        <p:spPr>
          <a:xfrm>
            <a:off x="4572000" y="5047488"/>
            <a:ext cx="7040880" cy="127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5166360"/>
            <a:ext cx="914400" cy="822960"/>
          </a:xfrm>
          <a:prstGeom prst="rect">
            <a:avLst/>
          </a:prstGeom>
          <a:noFill/>
        </p:spPr>
        <p:txBody>
          <a:bodyPr wrap="square" anchor="ctr" lIns="25400" rIns="25400" tIns="25400" bIns="25400">
            <a:spAutoFit/>
          </a:bodyPr>
          <a:lstStyle/>
          <a:p>
            <a:pPr algn="l"/>
            <a:r>
              <a:rPr sz="3400" b="1" i="0">
                <a:solidFill>
                  <a:srgbClr val="C01A22"/>
                </a:solidFill>
                <a:latin typeface="Arial"/>
                <a:ea typeface="Arial"/>
              </a:rPr>
              <a:t>05</a:t>
            </a:r>
          </a:p>
        </p:txBody>
      </p:sp>
      <p:sp>
        <p:nvSpPr>
          <p:cNvPr id="19" name="TextBox 18"/>
          <p:cNvSpPr txBox="1"/>
          <p:nvPr/>
        </p:nvSpPr>
        <p:spPr>
          <a:xfrm>
            <a:off x="5486400" y="5166360"/>
            <a:ext cx="6217920" cy="822960"/>
          </a:xfrm>
          <a:prstGeom prst="rect">
            <a:avLst/>
          </a:prstGeom>
          <a:noFill/>
        </p:spPr>
        <p:txBody>
          <a:bodyPr wrap="square" anchor="ctr" lIns="25400" rIns="25400" tIns="25400" bIns="25400">
            <a:spAutoFit/>
          </a:bodyPr>
          <a:lstStyle/>
          <a:p>
            <a:pPr algn="l"/>
            <a:r>
              <a:rPr sz="2100" b="1" i="0">
                <a:solidFill>
                  <a:srgbClr val="262626"/>
                </a:solidFill>
                <a:latin typeface="微软雅黑"/>
                <a:ea typeface="微软雅黑"/>
              </a:rPr>
              <a:t>分析与讨论</a:t>
            </a:r>
          </a:p>
          <a:p>
            <a:pPr algn="l">
              <a:spcBef>
                <a:spcPts val="300"/>
              </a:spcBef>
            </a:pPr>
            <a:r>
              <a:rPr sz="1250" b="0" i="0">
                <a:solidFill>
                  <a:srgbClr val="666666"/>
                </a:solidFill>
                <a:latin typeface="微软雅黑"/>
                <a:ea typeface="微软雅黑"/>
              </a:rPr>
              <a:t>战略执行评价 · 偏差原因分析 · 启示</a:t>
            </a:r>
          </a:p>
        </p:txBody>
      </p:sp>
      <p:sp>
        <p:nvSpPr>
          <p:cNvPr id="20" name="Rectangle 19"/>
          <p:cNvSpPr/>
          <p:nvPr/>
        </p:nvSpPr>
        <p:spPr>
          <a:xfrm>
            <a:off x="4572000" y="6099048"/>
            <a:ext cx="7040880" cy="127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2" name="TextBox 21"/>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研究框架：分析逻辑主线</a:t>
            </a:r>
          </a:p>
        </p:txBody>
      </p:sp>
      <p:sp>
        <p:nvSpPr>
          <p:cNvPr id="6" name="Rectangle 5"/>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11155680" cy="548640"/>
          </a:xfrm>
          <a:prstGeom prst="rect">
            <a:avLst/>
          </a:prstGeom>
          <a:noFill/>
        </p:spPr>
        <p:txBody>
          <a:bodyPr wrap="square" anchor="t" lIns="25400" rIns="25400" tIns="25400" bIns="25400">
            <a:spAutoFit/>
          </a:bodyPr>
          <a:lstStyle/>
          <a:p>
            <a:pPr algn="l">
              <a:lnSpc>
                <a:spcPct val="130000"/>
              </a:lnSpc>
            </a:pPr>
            <a:r>
              <a:rPr sz="1400" b="0" i="0">
                <a:solidFill>
                  <a:srgbClr val="262626"/>
                </a:solidFill>
                <a:latin typeface="微软雅黑"/>
                <a:ea typeface="微软雅黑"/>
              </a:rPr>
              <a:t>遵循「先分析、后战略、再评价」的逻辑闭环：以环境分析为依据推导整体战略，用战略地图落地为可衡量目标，最终回到数据评价执行成效。</a:t>
            </a:r>
          </a:p>
        </p:txBody>
      </p:sp>
      <p:sp>
        <p:nvSpPr>
          <p:cNvPr id="8" name="Rectangle 7"/>
          <p:cNvSpPr/>
          <p:nvPr/>
        </p:nvSpPr>
        <p:spPr>
          <a:xfrm>
            <a:off x="502920" y="2194560"/>
            <a:ext cx="1993392" cy="2651760"/>
          </a:xfrm>
          <a:prstGeom prst="rect">
            <a:avLst/>
          </a:prstGeom>
          <a:solidFill>
            <a:srgbClr val="FFFFFF"/>
          </a:solidFill>
          <a:ln w="19050">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94560"/>
            <a:ext cx="1993392" cy="86868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79"/>
            <a:ext cx="1993392" cy="822960"/>
          </a:xfrm>
          <a:prstGeom prst="rect">
            <a:avLst/>
          </a:prstGeom>
          <a:noFill/>
        </p:spPr>
        <p:txBody>
          <a:bodyPr wrap="square" anchor="ctr" lIns="25400" rIns="25400" tIns="25400" bIns="25400">
            <a:spAutoFit/>
          </a:bodyPr>
          <a:lstStyle/>
          <a:p>
            <a:pPr algn="ctr"/>
            <a:r>
              <a:rPr sz="2600" b="1" i="0">
                <a:solidFill>
                  <a:srgbClr val="FFFFFF"/>
                </a:solidFill>
                <a:latin typeface="微软雅黑"/>
                <a:ea typeface="微软雅黑"/>
              </a:rPr>
              <a:t>①</a:t>
            </a:r>
          </a:p>
        </p:txBody>
      </p:sp>
      <p:sp>
        <p:nvSpPr>
          <p:cNvPr id="11" name="TextBox 10"/>
          <p:cNvSpPr txBox="1"/>
          <p:nvPr/>
        </p:nvSpPr>
        <p:spPr>
          <a:xfrm>
            <a:off x="594360" y="3154680"/>
            <a:ext cx="1810512" cy="1600200"/>
          </a:xfrm>
          <a:prstGeom prst="rect">
            <a:avLst/>
          </a:prstGeom>
          <a:noFill/>
        </p:spPr>
        <p:txBody>
          <a:bodyPr wrap="square" anchor="t" lIns="25400" rIns="25400" tIns="25400" bIns="25400">
            <a:spAutoFit/>
          </a:bodyPr>
          <a:lstStyle/>
          <a:p>
            <a:pPr algn="ctr">
              <a:spcAft>
                <a:spcPts val="300"/>
              </a:spcAft>
            </a:pPr>
            <a:r>
              <a:rPr sz="1500" b="1" i="0">
                <a:solidFill>
                  <a:srgbClr val="2E8B76"/>
                </a:solidFill>
                <a:latin typeface="微软雅黑"/>
                <a:ea typeface="微软雅黑"/>
              </a:rPr>
              <a:t>企业背景</a:t>
            </a:r>
          </a:p>
          <a:p>
            <a:pPr algn="ctr">
              <a:spcAft>
                <a:spcPts val="800"/>
              </a:spcAft>
            </a:pPr>
            <a:r>
              <a:rPr sz="1000" b="0" i="0">
                <a:solidFill>
                  <a:srgbClr val="666666"/>
                </a:solidFill>
                <a:latin typeface="Arial"/>
                <a:ea typeface="Arial"/>
              </a:rPr>
              <a:t>Company Profile</a:t>
            </a:r>
          </a:p>
          <a:p>
            <a:pPr algn="ctr">
              <a:lnSpc>
                <a:spcPct val="120000"/>
              </a:lnSpc>
            </a:pPr>
            <a:r>
              <a:rPr sz="1100" b="0" i="0">
                <a:solidFill>
                  <a:srgbClr val="262626"/>
                </a:solidFill>
                <a:latin typeface="微软雅黑"/>
                <a:ea typeface="微软雅黑"/>
              </a:rPr>
              <a:t>行业地位、商业模式、
发展历程</a:t>
            </a:r>
          </a:p>
        </p:txBody>
      </p:sp>
      <p:sp>
        <p:nvSpPr>
          <p:cNvPr id="12" name="Right Arrow 11"/>
          <p:cNvSpPr/>
          <p:nvPr/>
        </p:nvSpPr>
        <p:spPr>
          <a:xfrm>
            <a:off x="2514600" y="3355847"/>
            <a:ext cx="260603" cy="329184"/>
          </a:xfrm>
          <a:prstGeom prst="rightArrow">
            <a:avLst/>
          </a:prstGeom>
          <a:solidFill>
            <a:srgbClr val="CF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3491" y="2194560"/>
            <a:ext cx="1993392" cy="2651760"/>
          </a:xfrm>
          <a:prstGeom prst="rect">
            <a:avLst/>
          </a:prstGeom>
          <a:solidFill>
            <a:srgbClr val="FFFFFF"/>
          </a:solidFill>
          <a:ln w="19050">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93491" y="2194560"/>
            <a:ext cx="1993392" cy="86868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3491" y="2240279"/>
            <a:ext cx="1993392" cy="822960"/>
          </a:xfrm>
          <a:prstGeom prst="rect">
            <a:avLst/>
          </a:prstGeom>
          <a:noFill/>
        </p:spPr>
        <p:txBody>
          <a:bodyPr wrap="square" anchor="ctr" lIns="25400" rIns="25400" tIns="25400" bIns="25400">
            <a:spAutoFit/>
          </a:bodyPr>
          <a:lstStyle/>
          <a:p>
            <a:pPr algn="ctr"/>
            <a:r>
              <a:rPr sz="2600" b="1" i="0">
                <a:solidFill>
                  <a:srgbClr val="FFFFFF"/>
                </a:solidFill>
                <a:latin typeface="微软雅黑"/>
                <a:ea typeface="微软雅黑"/>
              </a:rPr>
              <a:t>②</a:t>
            </a:r>
          </a:p>
        </p:txBody>
      </p:sp>
      <p:sp>
        <p:nvSpPr>
          <p:cNvPr id="16" name="TextBox 15"/>
          <p:cNvSpPr txBox="1"/>
          <p:nvPr/>
        </p:nvSpPr>
        <p:spPr>
          <a:xfrm>
            <a:off x="2884932" y="3154680"/>
            <a:ext cx="1810512" cy="1600200"/>
          </a:xfrm>
          <a:prstGeom prst="rect">
            <a:avLst/>
          </a:prstGeom>
          <a:noFill/>
        </p:spPr>
        <p:txBody>
          <a:bodyPr wrap="square" anchor="t" lIns="25400" rIns="25400" tIns="25400" bIns="25400">
            <a:spAutoFit/>
          </a:bodyPr>
          <a:lstStyle/>
          <a:p>
            <a:pPr algn="ctr">
              <a:spcAft>
                <a:spcPts val="300"/>
              </a:spcAft>
            </a:pPr>
            <a:r>
              <a:rPr sz="1500" b="1" i="0">
                <a:solidFill>
                  <a:srgbClr val="E37E1B"/>
                </a:solidFill>
                <a:latin typeface="微软雅黑"/>
                <a:ea typeface="微软雅黑"/>
              </a:rPr>
              <a:t>战略环境分析</a:t>
            </a:r>
          </a:p>
          <a:p>
            <a:pPr algn="ctr">
              <a:spcAft>
                <a:spcPts val="800"/>
              </a:spcAft>
            </a:pPr>
            <a:r>
              <a:rPr sz="1000" b="0" i="0">
                <a:solidFill>
                  <a:srgbClr val="666666"/>
                </a:solidFill>
                <a:latin typeface="Arial"/>
                <a:ea typeface="Arial"/>
              </a:rPr>
              <a:t>PEST·五力·SWOT</a:t>
            </a:r>
          </a:p>
          <a:p>
            <a:pPr algn="ctr">
              <a:lnSpc>
                <a:spcPct val="120000"/>
              </a:lnSpc>
            </a:pPr>
            <a:r>
              <a:rPr sz="1100" b="0" i="0">
                <a:solidFill>
                  <a:srgbClr val="262626"/>
                </a:solidFill>
                <a:latin typeface="微软雅黑"/>
                <a:ea typeface="微软雅黑"/>
              </a:rPr>
              <a:t>宏观环境、行业结构、
内外部优劣机会威胁</a:t>
            </a:r>
          </a:p>
        </p:txBody>
      </p:sp>
      <p:sp>
        <p:nvSpPr>
          <p:cNvPr id="17" name="Right Arrow 16"/>
          <p:cNvSpPr/>
          <p:nvPr/>
        </p:nvSpPr>
        <p:spPr>
          <a:xfrm>
            <a:off x="4805171" y="3355847"/>
            <a:ext cx="260603" cy="329184"/>
          </a:xfrm>
          <a:prstGeom prst="rightArrow">
            <a:avLst/>
          </a:prstGeom>
          <a:solidFill>
            <a:srgbClr val="CF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84064" y="2194560"/>
            <a:ext cx="1993392" cy="2651760"/>
          </a:xfrm>
          <a:prstGeom prst="rect">
            <a:avLst/>
          </a:prstGeom>
          <a:solidFill>
            <a:srgbClr val="FFFFFF"/>
          </a:solidFill>
          <a:ln w="19050">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2194560"/>
            <a:ext cx="1993392" cy="86868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64" y="2240279"/>
            <a:ext cx="1993392" cy="822960"/>
          </a:xfrm>
          <a:prstGeom prst="rect">
            <a:avLst/>
          </a:prstGeom>
          <a:noFill/>
        </p:spPr>
        <p:txBody>
          <a:bodyPr wrap="square" anchor="ctr" lIns="25400" rIns="25400" tIns="25400" bIns="25400">
            <a:spAutoFit/>
          </a:bodyPr>
          <a:lstStyle/>
          <a:p>
            <a:pPr algn="ctr"/>
            <a:r>
              <a:rPr sz="2600" b="1" i="0">
                <a:solidFill>
                  <a:srgbClr val="FFFFFF"/>
                </a:solidFill>
                <a:latin typeface="微软雅黑"/>
                <a:ea typeface="微软雅黑"/>
              </a:rPr>
              <a:t>③</a:t>
            </a:r>
          </a:p>
        </p:txBody>
      </p:sp>
      <p:sp>
        <p:nvSpPr>
          <p:cNvPr id="21" name="TextBox 20"/>
          <p:cNvSpPr txBox="1"/>
          <p:nvPr/>
        </p:nvSpPr>
        <p:spPr>
          <a:xfrm>
            <a:off x="5175503" y="3154680"/>
            <a:ext cx="1810512" cy="1600200"/>
          </a:xfrm>
          <a:prstGeom prst="rect">
            <a:avLst/>
          </a:prstGeom>
          <a:noFill/>
        </p:spPr>
        <p:txBody>
          <a:bodyPr wrap="square" anchor="t" lIns="25400" rIns="25400" tIns="25400" bIns="25400">
            <a:spAutoFit/>
          </a:bodyPr>
          <a:lstStyle/>
          <a:p>
            <a:pPr algn="ctr">
              <a:spcAft>
                <a:spcPts val="300"/>
              </a:spcAft>
            </a:pPr>
            <a:r>
              <a:rPr sz="1500" b="1" i="0">
                <a:solidFill>
                  <a:srgbClr val="C01A22"/>
                </a:solidFill>
                <a:latin typeface="微软雅黑"/>
                <a:ea typeface="微软雅黑"/>
              </a:rPr>
              <a:t>提出整体战略</a:t>
            </a:r>
          </a:p>
          <a:p>
            <a:pPr algn="ctr">
              <a:spcAft>
                <a:spcPts val="800"/>
              </a:spcAft>
            </a:pPr>
            <a:r>
              <a:rPr sz="1000" b="0" i="0">
                <a:solidFill>
                  <a:srgbClr val="666666"/>
                </a:solidFill>
                <a:latin typeface="Arial"/>
                <a:ea typeface="Arial"/>
              </a:rPr>
              <a:t>Strategy</a:t>
            </a:r>
          </a:p>
          <a:p>
            <a:pPr algn="ctr">
              <a:lnSpc>
                <a:spcPct val="120000"/>
              </a:lnSpc>
            </a:pPr>
            <a:r>
              <a:rPr sz="1100" b="0" i="0">
                <a:solidFill>
                  <a:srgbClr val="262626"/>
                </a:solidFill>
                <a:latin typeface="微软雅黑"/>
                <a:ea typeface="微软雅黑"/>
              </a:rPr>
              <a:t>总成本领先 + 总体战略
（规模/品牌/供应链/数字化）</a:t>
            </a:r>
          </a:p>
        </p:txBody>
      </p:sp>
      <p:sp>
        <p:nvSpPr>
          <p:cNvPr id="22" name="Right Arrow 21"/>
          <p:cNvSpPr/>
          <p:nvPr/>
        </p:nvSpPr>
        <p:spPr>
          <a:xfrm>
            <a:off x="7095744" y="3355847"/>
            <a:ext cx="260603" cy="329184"/>
          </a:xfrm>
          <a:prstGeom prst="rightArrow">
            <a:avLst/>
          </a:prstGeom>
          <a:solidFill>
            <a:srgbClr val="CF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74636" y="2194560"/>
            <a:ext cx="1993392" cy="2651760"/>
          </a:xfrm>
          <a:prstGeom prst="rect">
            <a:avLst/>
          </a:prstGeom>
          <a:solidFill>
            <a:srgbClr val="FFFFFF"/>
          </a:solidFill>
          <a:ln w="19050">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74636" y="2194560"/>
            <a:ext cx="1993392" cy="86868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74636" y="2240279"/>
            <a:ext cx="1993392" cy="822960"/>
          </a:xfrm>
          <a:prstGeom prst="rect">
            <a:avLst/>
          </a:prstGeom>
          <a:noFill/>
        </p:spPr>
        <p:txBody>
          <a:bodyPr wrap="square" anchor="ctr" lIns="25400" rIns="25400" tIns="25400" bIns="25400">
            <a:spAutoFit/>
          </a:bodyPr>
          <a:lstStyle/>
          <a:p>
            <a:pPr algn="ctr"/>
            <a:r>
              <a:rPr sz="2600" b="1" i="0">
                <a:solidFill>
                  <a:srgbClr val="FFFFFF"/>
                </a:solidFill>
                <a:latin typeface="微软雅黑"/>
                <a:ea typeface="微软雅黑"/>
              </a:rPr>
              <a:t>④</a:t>
            </a:r>
          </a:p>
        </p:txBody>
      </p:sp>
      <p:sp>
        <p:nvSpPr>
          <p:cNvPr id="26" name="TextBox 25"/>
          <p:cNvSpPr txBox="1"/>
          <p:nvPr/>
        </p:nvSpPr>
        <p:spPr>
          <a:xfrm>
            <a:off x="7466075" y="3154680"/>
            <a:ext cx="1810512" cy="1600200"/>
          </a:xfrm>
          <a:prstGeom prst="rect">
            <a:avLst/>
          </a:prstGeom>
          <a:noFill/>
        </p:spPr>
        <p:txBody>
          <a:bodyPr wrap="square" anchor="t" lIns="25400" rIns="25400" tIns="25400" bIns="25400">
            <a:spAutoFit/>
          </a:bodyPr>
          <a:lstStyle/>
          <a:p>
            <a:pPr algn="ctr">
              <a:spcAft>
                <a:spcPts val="300"/>
              </a:spcAft>
            </a:pPr>
            <a:r>
              <a:rPr sz="1500" b="1" i="0">
                <a:solidFill>
                  <a:srgbClr val="2C5F8A"/>
                </a:solidFill>
                <a:latin typeface="微软雅黑"/>
                <a:ea typeface="微软雅黑"/>
              </a:rPr>
              <a:t>战略地图(BSC)</a:t>
            </a:r>
          </a:p>
          <a:p>
            <a:pPr algn="ctr">
              <a:spcAft>
                <a:spcPts val="800"/>
              </a:spcAft>
            </a:pPr>
            <a:r>
              <a:rPr sz="1000" b="0" i="0">
                <a:solidFill>
                  <a:srgbClr val="666666"/>
                </a:solidFill>
                <a:latin typeface="Arial"/>
                <a:ea typeface="Arial"/>
              </a:rPr>
              <a:t>Strategy Map</a:t>
            </a:r>
          </a:p>
          <a:p>
            <a:pPr algn="ctr">
              <a:lnSpc>
                <a:spcPct val="120000"/>
              </a:lnSpc>
            </a:pPr>
            <a:r>
              <a:rPr sz="1100" b="0" i="0">
                <a:solidFill>
                  <a:srgbClr val="262626"/>
                </a:solidFill>
                <a:latin typeface="微软雅黑"/>
                <a:ea typeface="微软雅黑"/>
              </a:rPr>
              <a:t>财务/客户/内部流程/学习成长
四维目标与 KPI</a:t>
            </a:r>
          </a:p>
        </p:txBody>
      </p:sp>
      <p:sp>
        <p:nvSpPr>
          <p:cNvPr id="27" name="Right Arrow 26"/>
          <p:cNvSpPr/>
          <p:nvPr/>
        </p:nvSpPr>
        <p:spPr>
          <a:xfrm>
            <a:off x="9386315" y="3355847"/>
            <a:ext cx="260603" cy="329184"/>
          </a:xfrm>
          <a:prstGeom prst="rightArrow">
            <a:avLst/>
          </a:prstGeom>
          <a:solidFill>
            <a:srgbClr val="CFBF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65208" y="2194560"/>
            <a:ext cx="1993392" cy="2651760"/>
          </a:xfrm>
          <a:prstGeom prst="rect">
            <a:avLst/>
          </a:prstGeom>
          <a:solidFill>
            <a:srgbClr val="FFFFFF"/>
          </a:solidFill>
          <a:ln w="19050">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65208" y="2194560"/>
            <a:ext cx="1993392" cy="8686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65208" y="2240279"/>
            <a:ext cx="1993392" cy="822960"/>
          </a:xfrm>
          <a:prstGeom prst="rect">
            <a:avLst/>
          </a:prstGeom>
          <a:noFill/>
        </p:spPr>
        <p:txBody>
          <a:bodyPr wrap="square" anchor="ctr" lIns="25400" rIns="25400" tIns="25400" bIns="25400">
            <a:spAutoFit/>
          </a:bodyPr>
          <a:lstStyle/>
          <a:p>
            <a:pPr algn="ctr"/>
            <a:r>
              <a:rPr sz="2600" b="1" i="0">
                <a:solidFill>
                  <a:srgbClr val="FFFFFF"/>
                </a:solidFill>
                <a:latin typeface="微软雅黑"/>
                <a:ea typeface="微软雅黑"/>
              </a:rPr>
              <a:t>⑤</a:t>
            </a:r>
          </a:p>
        </p:txBody>
      </p:sp>
      <p:sp>
        <p:nvSpPr>
          <p:cNvPr id="31" name="TextBox 30"/>
          <p:cNvSpPr txBox="1"/>
          <p:nvPr/>
        </p:nvSpPr>
        <p:spPr>
          <a:xfrm>
            <a:off x="9756648" y="3154680"/>
            <a:ext cx="1810512" cy="1600200"/>
          </a:xfrm>
          <a:prstGeom prst="rect">
            <a:avLst/>
          </a:prstGeom>
          <a:noFill/>
        </p:spPr>
        <p:txBody>
          <a:bodyPr wrap="square" anchor="t" lIns="25400" rIns="25400" tIns="25400" bIns="25400">
            <a:spAutoFit/>
          </a:bodyPr>
          <a:lstStyle/>
          <a:p>
            <a:pPr algn="ctr">
              <a:spcAft>
                <a:spcPts val="300"/>
              </a:spcAft>
            </a:pPr>
            <a:r>
              <a:rPr sz="1500" b="1" i="0">
                <a:solidFill>
                  <a:srgbClr val="F29900"/>
                </a:solidFill>
                <a:latin typeface="微软雅黑"/>
                <a:ea typeface="微软雅黑"/>
              </a:rPr>
              <a:t>执行评价</a:t>
            </a:r>
          </a:p>
          <a:p>
            <a:pPr algn="ctr">
              <a:spcAft>
                <a:spcPts val="800"/>
              </a:spcAft>
            </a:pPr>
            <a:r>
              <a:rPr sz="1000" b="0" i="0">
                <a:solidFill>
                  <a:srgbClr val="666666"/>
                </a:solidFill>
                <a:latin typeface="Arial"/>
                <a:ea typeface="Arial"/>
              </a:rPr>
              <a:t>Evaluation</a:t>
            </a:r>
          </a:p>
          <a:p>
            <a:pPr algn="ctr">
              <a:lnSpc>
                <a:spcPct val="120000"/>
              </a:lnSpc>
            </a:pPr>
            <a:r>
              <a:rPr sz="1100" b="0" i="0">
                <a:solidFill>
                  <a:srgbClr val="262626"/>
                </a:solidFill>
                <a:latin typeface="微软雅黑"/>
                <a:ea typeface="微软雅黑"/>
              </a:rPr>
              <a:t>目标达成对照、偏差归因、
实践借鉴与启示</a:t>
            </a:r>
          </a:p>
        </p:txBody>
      </p:sp>
      <p:sp>
        <p:nvSpPr>
          <p:cNvPr id="32" name="Rectangle 31"/>
          <p:cNvSpPr/>
          <p:nvPr/>
        </p:nvSpPr>
        <p:spPr>
          <a:xfrm>
            <a:off x="502920" y="5166360"/>
            <a:ext cx="11155680" cy="91440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166360"/>
            <a:ext cx="91440" cy="9144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166360"/>
            <a:ext cx="10789920" cy="914400"/>
          </a:xfrm>
          <a:prstGeom prst="rect">
            <a:avLst/>
          </a:prstGeom>
          <a:noFill/>
        </p:spPr>
        <p:txBody>
          <a:bodyPr wrap="square" anchor="ctr" lIns="25400" rIns="25400" tIns="25400" bIns="25400">
            <a:spAutoFit/>
          </a:bodyPr>
          <a:lstStyle/>
          <a:p>
            <a:pPr algn="l">
              <a:lnSpc>
                <a:spcPct val="130000"/>
              </a:lnSpc>
            </a:pPr>
            <a:r>
              <a:rPr sz="1300" b="1" i="0">
                <a:solidFill>
                  <a:srgbClr val="C01A22"/>
                </a:solidFill>
                <a:latin typeface="微软雅黑"/>
                <a:ea typeface="微软雅黑"/>
              </a:rPr>
              <a:t>核心主线：</a:t>
            </a:r>
            <a:r>
              <a:rPr sz="1300" b="0" i="0">
                <a:solidFill>
                  <a:srgbClr val="262626"/>
                </a:solidFill>
                <a:latin typeface="微软雅黑"/>
                <a:ea typeface="微软雅黑"/>
              </a:rPr>
              <a:t>环境分析（②）是战略提出（③）的依据 → 战略经由战略地图（④）转化为四维度可衡量目标 → 用真实数据回到执行评价（⑤），形成「分析—战略—落地—评价」闭环。</a:t>
            </a:r>
          </a:p>
        </p:txBody>
      </p:sp>
      <p:sp>
        <p:nvSpPr>
          <p:cNvPr id="35" name="TextBox 34"/>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6" name="TextBox 35"/>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5486400" cy="1371600"/>
          </a:xfrm>
          <a:prstGeom prst="rect">
            <a:avLst/>
          </a:prstGeom>
          <a:noFill/>
        </p:spPr>
        <p:txBody>
          <a:bodyPr wrap="square" anchor="t" lIns="25400" rIns="25400" tIns="25400" bIns="25400">
            <a:spAutoFit/>
          </a:bodyPr>
          <a:lstStyle/>
          <a:p>
            <a:pPr algn="l"/>
            <a:r>
              <a:rPr sz="9600" b="1" i="0">
                <a:solidFill>
                  <a:srgbClr val="E06A60"/>
                </a:solidFill>
                <a:latin typeface="Arial"/>
                <a:ea typeface="Arial"/>
              </a:rPr>
              <a:t>01</a:t>
            </a:r>
          </a:p>
        </p:txBody>
      </p:sp>
      <p:sp>
        <p:nvSpPr>
          <p:cNvPr id="5" name="Rectangle 4"/>
          <p:cNvSpPr/>
          <p:nvPr/>
        </p:nvSpPr>
        <p:spPr>
          <a:xfrm>
            <a:off x="868680" y="2788920"/>
            <a:ext cx="73152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71800"/>
            <a:ext cx="10058400" cy="1188720"/>
          </a:xfrm>
          <a:prstGeom prst="rect">
            <a:avLst/>
          </a:prstGeom>
          <a:noFill/>
        </p:spPr>
        <p:txBody>
          <a:bodyPr wrap="square" anchor="t" lIns="25400" rIns="25400" tIns="25400" bIns="25400">
            <a:spAutoFit/>
          </a:bodyPr>
          <a:lstStyle/>
          <a:p>
            <a:pPr algn="l"/>
            <a:r>
              <a:rPr sz="4400" b="1" i="0">
                <a:solidFill>
                  <a:srgbClr val="FFFFFF"/>
                </a:solidFill>
                <a:latin typeface="微软雅黑"/>
                <a:ea typeface="微软雅黑"/>
              </a:rPr>
              <a:t>案例介绍</a:t>
            </a:r>
          </a:p>
        </p:txBody>
      </p:sp>
      <p:sp>
        <p:nvSpPr>
          <p:cNvPr id="7" name="TextBox 6"/>
          <p:cNvSpPr txBox="1"/>
          <p:nvPr/>
        </p:nvSpPr>
        <p:spPr>
          <a:xfrm>
            <a:off x="868680" y="4023360"/>
            <a:ext cx="10058400" cy="548640"/>
          </a:xfrm>
          <a:prstGeom prst="rect">
            <a:avLst/>
          </a:prstGeom>
          <a:noFill/>
        </p:spPr>
        <p:txBody>
          <a:bodyPr wrap="square" anchor="t" lIns="25400" rIns="25400" tIns="25400" bIns="25400">
            <a:spAutoFit/>
          </a:bodyPr>
          <a:lstStyle/>
          <a:p>
            <a:pPr algn="l"/>
            <a:r>
              <a:rPr sz="1600" b="0" i="0">
                <a:solidFill>
                  <a:srgbClr val="F0C8C2"/>
                </a:solidFill>
                <a:latin typeface="Arial"/>
                <a:ea typeface="Arial"/>
              </a:rPr>
              <a:t>Company Profile</a:t>
            </a:r>
          </a:p>
        </p:txBody>
      </p:sp>
      <p:sp>
        <p:nvSpPr>
          <p:cNvPr id="8" name="TextBox 7"/>
          <p:cNvSpPr txBox="1"/>
          <p:nvPr/>
        </p:nvSpPr>
        <p:spPr>
          <a:xfrm>
            <a:off x="868680" y="4709160"/>
            <a:ext cx="10058400" cy="548640"/>
          </a:xfrm>
          <a:prstGeom prst="rect">
            <a:avLst/>
          </a:prstGeom>
          <a:noFill/>
        </p:spPr>
        <p:txBody>
          <a:bodyPr wrap="square" anchor="t" lIns="25400" rIns="25400" tIns="25400" bIns="25400">
            <a:spAutoFit/>
          </a:bodyPr>
          <a:lstStyle/>
          <a:p>
            <a:pPr algn="l"/>
            <a:r>
              <a:rPr sz="1500" b="0" i="0">
                <a:solidFill>
                  <a:srgbClr val="F7E3DF"/>
                </a:solidFill>
                <a:latin typeface="微软雅黑"/>
                <a:ea typeface="微软雅黑"/>
              </a:rPr>
              <a:t>企业背景 · 创始人故事 · 股权结构 · 商业模式</a:t>
            </a:r>
          </a:p>
        </p:txBody>
      </p:sp>
      <p:sp>
        <p:nvSpPr>
          <p:cNvPr id="9" name="TextBox 8"/>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10" name="TextBox 9"/>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企业简介：从宜春炒货店到全国零食量贩龙头</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01</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5852160" cy="365760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34440"/>
            <a:ext cx="91440" cy="36576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5394960" cy="3383280"/>
          </a:xfrm>
          <a:prstGeom prst="rect">
            <a:avLst/>
          </a:prstGeom>
          <a:noFill/>
        </p:spPr>
        <p:txBody>
          <a:bodyPr wrap="square" anchor="t" lIns="25400" rIns="25400" tIns="25400" bIns="25400">
            <a:spAutoFit/>
          </a:bodyPr>
          <a:lstStyle/>
          <a:p>
            <a:pPr algn="l">
              <a:spcAft>
                <a:spcPts val="400"/>
              </a:spcAft>
            </a:pPr>
            <a:r>
              <a:rPr sz="1500" b="1" i="0">
                <a:solidFill>
                  <a:srgbClr val="C01A22"/>
                </a:solidFill>
                <a:latin typeface="微软雅黑"/>
                <a:ea typeface="微软雅黑"/>
              </a:rPr>
              <a:t>品牌定位</a:t>
            </a:r>
          </a:p>
          <a:p>
            <a:pPr algn="l">
              <a:lnSpc>
                <a:spcPct val="125000"/>
              </a:lnSpc>
              <a:spcAft>
                <a:spcPts val="1200"/>
              </a:spcAft>
            </a:pPr>
            <a:r>
              <a:rPr sz="1300" b="0" i="0">
                <a:solidFill>
                  <a:srgbClr val="262626"/>
                </a:solidFill>
                <a:latin typeface="微软雅黑"/>
                <a:ea typeface="微软雅黑"/>
              </a:rPr>
              <a:t>诞生于江西宜春的量贩零食连锁品牌，以「不玩套路真便宜，超值超省超好吃」为核心价值主张。</a:t>
            </a:r>
          </a:p>
          <a:p>
            <a:pPr algn="l">
              <a:spcAft>
                <a:spcPts val="400"/>
              </a:spcAft>
            </a:pPr>
            <a:r>
              <a:rPr sz="1500" b="1" i="0">
                <a:solidFill>
                  <a:srgbClr val="C01A22"/>
                </a:solidFill>
                <a:latin typeface="微软雅黑"/>
                <a:ea typeface="微软雅黑"/>
              </a:rPr>
              <a:t>规模现状</a:t>
            </a:r>
          </a:p>
          <a:p>
            <a:pPr algn="l">
              <a:lnSpc>
                <a:spcPct val="125000"/>
              </a:lnSpc>
              <a:spcAft>
                <a:spcPts val="1200"/>
              </a:spcAft>
            </a:pPr>
            <a:r>
              <a:rPr sz="1300" b="0" i="0">
                <a:solidFill>
                  <a:srgbClr val="262626"/>
                </a:solidFill>
                <a:latin typeface="微软雅黑"/>
                <a:ea typeface="微软雅黑"/>
              </a:rPr>
              <a:t>精选 2000+ 种特色零食，月月上新 100+ 新品；全国门店数量已突破 5000 家，是炙手可热的量贩零食头部品牌。</a:t>
            </a:r>
          </a:p>
          <a:p>
            <a:pPr algn="l">
              <a:spcAft>
                <a:spcPts val="400"/>
              </a:spcAft>
            </a:pPr>
            <a:r>
              <a:rPr sz="1500" b="1" i="0">
                <a:solidFill>
                  <a:srgbClr val="C01A22"/>
                </a:solidFill>
                <a:latin typeface="微软雅黑"/>
                <a:ea typeface="微软雅黑"/>
              </a:rPr>
              <a:t>集团归属</a:t>
            </a:r>
          </a:p>
          <a:p>
            <a:pPr algn="l">
              <a:lnSpc>
                <a:spcPct val="125000"/>
              </a:lnSpc>
            </a:pPr>
            <a:r>
              <a:rPr sz="1300" b="0" i="0">
                <a:solidFill>
                  <a:srgbClr val="262626"/>
                </a:solidFill>
                <a:latin typeface="微软雅黑"/>
                <a:ea typeface="微软雅黑"/>
              </a:rPr>
              <a:t>现为「鸣鸣很忙集团」核心品牌（与「零食很忙」并列），集团 2024 年营收 163.28 亿元，2025 年已推进上市，赵一鸣为集团第一大收入贡献品牌（约 58.4%）。</a:t>
            </a:r>
          </a:p>
        </p:txBody>
      </p:sp>
      <p:sp>
        <p:nvSpPr>
          <p:cNvPr id="11" name="Rectangle 10"/>
          <p:cNvSpPr/>
          <p:nvPr/>
        </p:nvSpPr>
        <p:spPr>
          <a:xfrm>
            <a:off x="6583680" y="1234440"/>
            <a:ext cx="5074920" cy="1097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0" y="1234440"/>
            <a:ext cx="91440" cy="10972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1344168"/>
            <a:ext cx="4754880" cy="914400"/>
          </a:xfrm>
          <a:prstGeom prst="rect">
            <a:avLst/>
          </a:prstGeom>
          <a:noFill/>
        </p:spPr>
        <p:txBody>
          <a:bodyPr wrap="square" anchor="ctr" lIns="25400" rIns="25400" tIns="25400" bIns="25400">
            <a:spAutoFit/>
          </a:bodyPr>
          <a:lstStyle/>
          <a:p>
            <a:pPr algn="l">
              <a:spcAft>
                <a:spcPts val="400"/>
              </a:spcAft>
            </a:pPr>
            <a:r>
              <a:rPr sz="1500" b="1" i="0">
                <a:solidFill>
                  <a:srgbClr val="F29900"/>
                </a:solidFill>
                <a:latin typeface="微软雅黑"/>
                <a:ea typeface="微软雅黑"/>
              </a:rPr>
              <a:t>企业使命</a:t>
            </a:r>
          </a:p>
          <a:p>
            <a:pPr algn="l">
              <a:lnSpc>
                <a:spcPct val="120000"/>
              </a:lnSpc>
            </a:pPr>
            <a:r>
              <a:rPr sz="1300" b="0" i="0">
                <a:solidFill>
                  <a:srgbClr val="262626"/>
                </a:solidFill>
                <a:latin typeface="微软雅黑"/>
                <a:ea typeface="微软雅黑"/>
              </a:rPr>
              <a:t>帮消费者省钱 · 帮加盟商赚钱 · 帮员工更值钱</a:t>
            </a:r>
          </a:p>
        </p:txBody>
      </p:sp>
      <p:sp>
        <p:nvSpPr>
          <p:cNvPr id="14" name="Rectangle 13"/>
          <p:cNvSpPr/>
          <p:nvPr/>
        </p:nvSpPr>
        <p:spPr>
          <a:xfrm>
            <a:off x="6583680" y="2514600"/>
            <a:ext cx="5074920" cy="1097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2514600"/>
            <a:ext cx="91440" cy="109728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2624328"/>
            <a:ext cx="4754880" cy="914400"/>
          </a:xfrm>
          <a:prstGeom prst="rect">
            <a:avLst/>
          </a:prstGeom>
          <a:noFill/>
        </p:spPr>
        <p:txBody>
          <a:bodyPr wrap="square" anchor="ctr" lIns="25400" rIns="25400" tIns="25400" bIns="25400">
            <a:spAutoFit/>
          </a:bodyPr>
          <a:lstStyle/>
          <a:p>
            <a:pPr algn="l">
              <a:spcAft>
                <a:spcPts val="400"/>
              </a:spcAft>
            </a:pPr>
            <a:r>
              <a:rPr sz="1500" b="1" i="0">
                <a:solidFill>
                  <a:srgbClr val="2E8B76"/>
                </a:solidFill>
                <a:latin typeface="微软雅黑"/>
                <a:ea typeface="微软雅黑"/>
              </a:rPr>
              <a:t>企业价值观</a:t>
            </a:r>
          </a:p>
          <a:p>
            <a:pPr algn="l">
              <a:lnSpc>
                <a:spcPct val="120000"/>
              </a:lnSpc>
            </a:pPr>
            <a:r>
              <a:rPr sz="1300" b="0" i="0">
                <a:solidFill>
                  <a:srgbClr val="262626"/>
                </a:solidFill>
                <a:latin typeface="微软雅黑"/>
                <a:ea typeface="微软雅黑"/>
              </a:rPr>
              <a:t>分享一鸣 · 信任共鸣 · 感恩和鸣 · 创造争鸣</a:t>
            </a:r>
          </a:p>
        </p:txBody>
      </p:sp>
      <p:sp>
        <p:nvSpPr>
          <p:cNvPr id="17" name="Rectangle 16"/>
          <p:cNvSpPr/>
          <p:nvPr/>
        </p:nvSpPr>
        <p:spPr>
          <a:xfrm>
            <a:off x="6583680" y="3794760"/>
            <a:ext cx="5074920" cy="1097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0" y="3794760"/>
            <a:ext cx="91440" cy="109728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3904488"/>
            <a:ext cx="4754880" cy="914400"/>
          </a:xfrm>
          <a:prstGeom prst="rect">
            <a:avLst/>
          </a:prstGeom>
          <a:noFill/>
        </p:spPr>
        <p:txBody>
          <a:bodyPr wrap="square" anchor="ctr" lIns="25400" rIns="25400" tIns="25400" bIns="25400">
            <a:spAutoFit/>
          </a:bodyPr>
          <a:lstStyle/>
          <a:p>
            <a:pPr algn="l">
              <a:spcAft>
                <a:spcPts val="400"/>
              </a:spcAft>
            </a:pPr>
            <a:r>
              <a:rPr sz="1500" b="1" i="0">
                <a:solidFill>
                  <a:srgbClr val="2C5F8A"/>
                </a:solidFill>
                <a:latin typeface="微软雅黑"/>
                <a:ea typeface="微软雅黑"/>
              </a:rPr>
              <a:t>目标客群</a:t>
            </a:r>
          </a:p>
          <a:p>
            <a:pPr algn="l">
              <a:lnSpc>
                <a:spcPct val="120000"/>
              </a:lnSpc>
            </a:pPr>
            <a:r>
              <a:rPr sz="1300" b="0" i="0">
                <a:solidFill>
                  <a:srgbClr val="262626"/>
                </a:solidFill>
                <a:latin typeface="微软雅黑"/>
                <a:ea typeface="微软雅黑"/>
              </a:rPr>
              <a:t>三四线及下沉市场家庭、年轻群体；主打社区便民消费场景</a:t>
            </a:r>
          </a:p>
        </p:txBody>
      </p:sp>
      <p:sp>
        <p:nvSpPr>
          <p:cNvPr id="20" name="TextBox 19"/>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1" name="TextBox 20"/>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创始人故事与发展历程</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01</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88720"/>
            <a:ext cx="11155680" cy="822960"/>
          </a:xfrm>
          <a:prstGeom prst="rect">
            <a:avLst/>
          </a:prstGeom>
          <a:noFill/>
        </p:spPr>
        <p:txBody>
          <a:bodyPr wrap="square" anchor="t" lIns="25400" rIns="25400" tIns="25400" bIns="25400">
            <a:spAutoFit/>
          </a:bodyPr>
          <a:lstStyle/>
          <a:p>
            <a:pPr algn="l">
              <a:lnSpc>
                <a:spcPct val="130000"/>
              </a:lnSpc>
            </a:pPr>
            <a:r>
              <a:rPr sz="1400" b="1" i="0">
                <a:solidFill>
                  <a:srgbClr val="C01A22"/>
                </a:solidFill>
                <a:latin typeface="微软雅黑"/>
                <a:ea typeface="微软雅黑"/>
              </a:rPr>
              <a:t>创始人赵定（1989年生，江西宜春人）：</a:t>
            </a:r>
            <a:r>
              <a:rPr sz="1400" b="0" i="0">
                <a:solidFill>
                  <a:srgbClr val="262626"/>
                </a:solidFill>
                <a:latin typeface="微软雅黑"/>
                <a:ea typeface="微软雅黑"/>
              </a:rPr>
              <a:t>高中辍学赴沪追逐摄影梦，两度受挫后回乡深耕零食。以儿子「赵一鸣」命名品牌，寓意像对待儿子一样经营品牌；以蜜雪冰城为榜样开启「狂飙」扩张，成为量贩零食圈黑马。</a:t>
            </a:r>
          </a:p>
        </p:txBody>
      </p:sp>
      <p:sp>
        <p:nvSpPr>
          <p:cNvPr id="9" name="Rectangle 8"/>
          <p:cNvSpPr/>
          <p:nvPr/>
        </p:nvSpPr>
        <p:spPr>
          <a:xfrm>
            <a:off x="914400" y="4160520"/>
            <a:ext cx="10424160" cy="381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56232" y="4096511"/>
            <a:ext cx="201168" cy="201168"/>
          </a:xfrm>
          <a:prstGeom prst="ellipse">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46120"/>
            <a:ext cx="1901952" cy="640080"/>
          </a:xfrm>
          <a:prstGeom prst="rect">
            <a:avLst/>
          </a:prstGeom>
          <a:noFill/>
        </p:spPr>
        <p:txBody>
          <a:bodyPr wrap="square" anchor="b" lIns="25400" rIns="25400" tIns="25400" bIns="25400">
            <a:spAutoFit/>
          </a:bodyPr>
          <a:lstStyle/>
          <a:p>
            <a:pPr algn="ctr"/>
            <a:r>
              <a:rPr sz="2200" b="1" i="0">
                <a:solidFill>
                  <a:srgbClr val="C01A22"/>
                </a:solidFill>
                <a:latin typeface="Arial"/>
                <a:ea typeface="Arial"/>
              </a:rPr>
              <a:t>2008</a:t>
            </a:r>
          </a:p>
        </p:txBody>
      </p:sp>
      <p:sp>
        <p:nvSpPr>
          <p:cNvPr id="12" name="Rectangle 11"/>
          <p:cNvSpPr/>
          <p:nvPr/>
        </p:nvSpPr>
        <p:spPr>
          <a:xfrm>
            <a:off x="1051560" y="4572000"/>
            <a:ext cx="1810512" cy="16916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663440"/>
            <a:ext cx="1627632" cy="1554480"/>
          </a:xfrm>
          <a:prstGeom prst="rect">
            <a:avLst/>
          </a:prstGeom>
          <a:noFill/>
        </p:spPr>
        <p:txBody>
          <a:bodyPr wrap="square" anchor="t" lIns="25400" rIns="25400" tIns="25400" bIns="25400">
            <a:spAutoFit/>
          </a:bodyPr>
          <a:lstStyle/>
          <a:p>
            <a:pPr algn="ctr">
              <a:spcAft>
                <a:spcPts val="500"/>
              </a:spcAft>
            </a:pPr>
            <a:r>
              <a:rPr sz="1400" b="1" i="0">
                <a:solidFill>
                  <a:srgbClr val="262626"/>
                </a:solidFill>
                <a:latin typeface="微软雅黑"/>
                <a:ea typeface="微软雅黑"/>
              </a:rPr>
              <a:t>返乡创业</a:t>
            </a:r>
          </a:p>
          <a:p>
            <a:pPr algn="ctr">
              <a:lnSpc>
                <a:spcPct val="115000"/>
              </a:lnSpc>
            </a:pPr>
            <a:r>
              <a:rPr sz="1100" b="0" i="0">
                <a:solidFill>
                  <a:srgbClr val="666666"/>
                </a:solidFill>
                <a:latin typeface="微软雅黑"/>
                <a:ea typeface="微软雅黑"/>
              </a:rPr>
              <a:t>回到宜春从事炒货生意，开出第一家炒货零食店，赚得第一桶金</a:t>
            </a:r>
          </a:p>
        </p:txBody>
      </p:sp>
      <p:sp>
        <p:nvSpPr>
          <p:cNvPr id="14" name="Oval 13"/>
          <p:cNvSpPr/>
          <p:nvPr/>
        </p:nvSpPr>
        <p:spPr>
          <a:xfrm>
            <a:off x="3941063" y="4096511"/>
            <a:ext cx="201168" cy="201168"/>
          </a:xfrm>
          <a:prstGeom prst="ellipse">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3246120"/>
            <a:ext cx="1901952" cy="640080"/>
          </a:xfrm>
          <a:prstGeom prst="rect">
            <a:avLst/>
          </a:prstGeom>
          <a:noFill/>
        </p:spPr>
        <p:txBody>
          <a:bodyPr wrap="square" anchor="b" lIns="25400" rIns="25400" tIns="25400" bIns="25400">
            <a:spAutoFit/>
          </a:bodyPr>
          <a:lstStyle/>
          <a:p>
            <a:pPr algn="ctr"/>
            <a:r>
              <a:rPr sz="2200" b="1" i="0">
                <a:solidFill>
                  <a:srgbClr val="C01A22"/>
                </a:solidFill>
                <a:latin typeface="Arial"/>
                <a:ea typeface="Arial"/>
              </a:rPr>
              <a:t>2019</a:t>
            </a:r>
          </a:p>
        </p:txBody>
      </p:sp>
      <p:sp>
        <p:nvSpPr>
          <p:cNvPr id="16" name="Rectangle 15"/>
          <p:cNvSpPr/>
          <p:nvPr/>
        </p:nvSpPr>
        <p:spPr>
          <a:xfrm>
            <a:off x="3136391" y="4572000"/>
            <a:ext cx="1810512" cy="16916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27832" y="4663440"/>
            <a:ext cx="1627632" cy="1554480"/>
          </a:xfrm>
          <a:prstGeom prst="rect">
            <a:avLst/>
          </a:prstGeom>
          <a:noFill/>
        </p:spPr>
        <p:txBody>
          <a:bodyPr wrap="square" anchor="t" lIns="25400" rIns="25400" tIns="25400" bIns="25400">
            <a:spAutoFit/>
          </a:bodyPr>
          <a:lstStyle/>
          <a:p>
            <a:pPr algn="ctr">
              <a:spcAft>
                <a:spcPts val="500"/>
              </a:spcAft>
            </a:pPr>
            <a:r>
              <a:rPr sz="1400" b="1" i="0">
                <a:solidFill>
                  <a:srgbClr val="262626"/>
                </a:solidFill>
                <a:latin typeface="微软雅黑"/>
                <a:ea typeface="微软雅黑"/>
              </a:rPr>
              <a:t>品牌创立</a:t>
            </a:r>
          </a:p>
          <a:p>
            <a:pPr algn="ctr">
              <a:lnSpc>
                <a:spcPct val="115000"/>
              </a:lnSpc>
            </a:pPr>
            <a:r>
              <a:rPr sz="1100" b="0" i="0">
                <a:solidFill>
                  <a:srgbClr val="666666"/>
                </a:solidFill>
                <a:latin typeface="微软雅黑"/>
                <a:ea typeface="微软雅黑"/>
              </a:rPr>
              <a:t>首家直营店落地，正式推出「赵一鸣」品牌，开启量贩零食连锁化</a:t>
            </a:r>
          </a:p>
        </p:txBody>
      </p:sp>
      <p:sp>
        <p:nvSpPr>
          <p:cNvPr id="18" name="Oval 17"/>
          <p:cNvSpPr/>
          <p:nvPr/>
        </p:nvSpPr>
        <p:spPr>
          <a:xfrm>
            <a:off x="6025896" y="4096511"/>
            <a:ext cx="201168" cy="201168"/>
          </a:xfrm>
          <a:prstGeom prst="ellipse">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4" y="3246120"/>
            <a:ext cx="1901952" cy="640080"/>
          </a:xfrm>
          <a:prstGeom prst="rect">
            <a:avLst/>
          </a:prstGeom>
          <a:noFill/>
        </p:spPr>
        <p:txBody>
          <a:bodyPr wrap="square" anchor="b" lIns="25400" rIns="25400" tIns="25400" bIns="25400">
            <a:spAutoFit/>
          </a:bodyPr>
          <a:lstStyle/>
          <a:p>
            <a:pPr algn="ctr"/>
            <a:r>
              <a:rPr sz="2200" b="1" i="0">
                <a:solidFill>
                  <a:srgbClr val="C01A22"/>
                </a:solidFill>
                <a:latin typeface="Arial"/>
                <a:ea typeface="Arial"/>
              </a:rPr>
              <a:t>2023</a:t>
            </a:r>
          </a:p>
        </p:txBody>
      </p:sp>
      <p:sp>
        <p:nvSpPr>
          <p:cNvPr id="20" name="Rectangle 19"/>
          <p:cNvSpPr/>
          <p:nvPr/>
        </p:nvSpPr>
        <p:spPr>
          <a:xfrm>
            <a:off x="5221224" y="4572000"/>
            <a:ext cx="1810512" cy="16916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2664" y="4663440"/>
            <a:ext cx="1627632" cy="1554480"/>
          </a:xfrm>
          <a:prstGeom prst="rect">
            <a:avLst/>
          </a:prstGeom>
          <a:noFill/>
        </p:spPr>
        <p:txBody>
          <a:bodyPr wrap="square" anchor="t" lIns="25400" rIns="25400" tIns="25400" bIns="25400">
            <a:spAutoFit/>
          </a:bodyPr>
          <a:lstStyle/>
          <a:p>
            <a:pPr algn="ctr">
              <a:spcAft>
                <a:spcPts val="500"/>
              </a:spcAft>
            </a:pPr>
            <a:r>
              <a:rPr sz="1400" b="1" i="0">
                <a:solidFill>
                  <a:srgbClr val="262626"/>
                </a:solidFill>
                <a:latin typeface="微软雅黑"/>
                <a:ea typeface="微软雅黑"/>
              </a:rPr>
              <a:t>并入集团</a:t>
            </a:r>
          </a:p>
          <a:p>
            <a:pPr algn="ctr">
              <a:lnSpc>
                <a:spcPct val="115000"/>
              </a:lnSpc>
            </a:pPr>
            <a:r>
              <a:rPr sz="1100" b="0" i="0">
                <a:solidFill>
                  <a:srgbClr val="666666"/>
                </a:solidFill>
                <a:latin typeface="微软雅黑"/>
                <a:ea typeface="微软雅黑"/>
              </a:rPr>
              <a:t>与「零食很忙」合并组建鸣鸣很忙集团，毛利率由 5.6%→9.7%</a:t>
            </a:r>
          </a:p>
        </p:txBody>
      </p:sp>
      <p:sp>
        <p:nvSpPr>
          <p:cNvPr id="22" name="Oval 21"/>
          <p:cNvSpPr/>
          <p:nvPr/>
        </p:nvSpPr>
        <p:spPr>
          <a:xfrm>
            <a:off x="8110728" y="4096511"/>
            <a:ext cx="201168" cy="201168"/>
          </a:xfrm>
          <a:prstGeom prst="ellipse">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0336" y="3246120"/>
            <a:ext cx="1901952" cy="640080"/>
          </a:xfrm>
          <a:prstGeom prst="rect">
            <a:avLst/>
          </a:prstGeom>
          <a:noFill/>
        </p:spPr>
        <p:txBody>
          <a:bodyPr wrap="square" anchor="b" lIns="25400" rIns="25400" tIns="25400" bIns="25400">
            <a:spAutoFit/>
          </a:bodyPr>
          <a:lstStyle/>
          <a:p>
            <a:pPr algn="ctr"/>
            <a:r>
              <a:rPr sz="2200" b="1" i="0">
                <a:solidFill>
                  <a:srgbClr val="C01A22"/>
                </a:solidFill>
                <a:latin typeface="Arial"/>
                <a:ea typeface="Arial"/>
              </a:rPr>
              <a:t>2024</a:t>
            </a:r>
          </a:p>
        </p:txBody>
      </p:sp>
      <p:sp>
        <p:nvSpPr>
          <p:cNvPr id="24" name="Rectangle 23"/>
          <p:cNvSpPr/>
          <p:nvPr/>
        </p:nvSpPr>
        <p:spPr>
          <a:xfrm>
            <a:off x="7306056" y="4572000"/>
            <a:ext cx="1810512" cy="16916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7496" y="4663440"/>
            <a:ext cx="1627632" cy="1554480"/>
          </a:xfrm>
          <a:prstGeom prst="rect">
            <a:avLst/>
          </a:prstGeom>
          <a:noFill/>
        </p:spPr>
        <p:txBody>
          <a:bodyPr wrap="square" anchor="t" lIns="25400" rIns="25400" tIns="25400" bIns="25400">
            <a:spAutoFit/>
          </a:bodyPr>
          <a:lstStyle/>
          <a:p>
            <a:pPr algn="ctr">
              <a:spcAft>
                <a:spcPts val="500"/>
              </a:spcAft>
            </a:pPr>
            <a:r>
              <a:rPr sz="1400" b="1" i="0">
                <a:solidFill>
                  <a:srgbClr val="262626"/>
                </a:solidFill>
                <a:latin typeface="微软雅黑"/>
                <a:ea typeface="微软雅黑"/>
              </a:rPr>
              <a:t>规模登顶</a:t>
            </a:r>
          </a:p>
          <a:p>
            <a:pPr algn="ctr">
              <a:lnSpc>
                <a:spcPct val="115000"/>
              </a:lnSpc>
            </a:pPr>
            <a:r>
              <a:rPr sz="1100" b="0" i="0">
                <a:solidFill>
                  <a:srgbClr val="666666"/>
                </a:solidFill>
                <a:latin typeface="微软雅黑"/>
                <a:ea typeface="微软雅黑"/>
              </a:rPr>
              <a:t>营收 163.28 亿元，门店超 5000 家，成集团第一大收入品牌</a:t>
            </a:r>
          </a:p>
        </p:txBody>
      </p:sp>
      <p:sp>
        <p:nvSpPr>
          <p:cNvPr id="26" name="Oval 25"/>
          <p:cNvSpPr/>
          <p:nvPr/>
        </p:nvSpPr>
        <p:spPr>
          <a:xfrm>
            <a:off x="10195560" y="4096511"/>
            <a:ext cx="201168" cy="201168"/>
          </a:xfrm>
          <a:prstGeom prst="ellipse">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45168" y="3246120"/>
            <a:ext cx="1901952" cy="640080"/>
          </a:xfrm>
          <a:prstGeom prst="rect">
            <a:avLst/>
          </a:prstGeom>
          <a:noFill/>
        </p:spPr>
        <p:txBody>
          <a:bodyPr wrap="square" anchor="b" lIns="25400" rIns="25400" tIns="25400" bIns="25400">
            <a:spAutoFit/>
          </a:bodyPr>
          <a:lstStyle/>
          <a:p>
            <a:pPr algn="ctr"/>
            <a:r>
              <a:rPr sz="2200" b="1" i="0">
                <a:solidFill>
                  <a:srgbClr val="C01A22"/>
                </a:solidFill>
                <a:latin typeface="Arial"/>
                <a:ea typeface="Arial"/>
              </a:rPr>
              <a:t>2025</a:t>
            </a:r>
          </a:p>
        </p:txBody>
      </p:sp>
      <p:sp>
        <p:nvSpPr>
          <p:cNvPr id="28" name="Rectangle 27"/>
          <p:cNvSpPr/>
          <p:nvPr/>
        </p:nvSpPr>
        <p:spPr>
          <a:xfrm>
            <a:off x="9390888" y="4572000"/>
            <a:ext cx="1810512" cy="16916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82328" y="4663440"/>
            <a:ext cx="1627632" cy="1554480"/>
          </a:xfrm>
          <a:prstGeom prst="rect">
            <a:avLst/>
          </a:prstGeom>
          <a:noFill/>
        </p:spPr>
        <p:txBody>
          <a:bodyPr wrap="square" anchor="t" lIns="25400" rIns="25400" tIns="25400" bIns="25400">
            <a:spAutoFit/>
          </a:bodyPr>
          <a:lstStyle/>
          <a:p>
            <a:pPr algn="ctr">
              <a:spcAft>
                <a:spcPts val="500"/>
              </a:spcAft>
            </a:pPr>
            <a:r>
              <a:rPr sz="1400" b="1" i="0">
                <a:solidFill>
                  <a:srgbClr val="262626"/>
                </a:solidFill>
                <a:latin typeface="微软雅黑"/>
                <a:ea typeface="微软雅黑"/>
              </a:rPr>
              <a:t>上市扩张</a:t>
            </a:r>
          </a:p>
          <a:p>
            <a:pPr algn="ctr">
              <a:lnSpc>
                <a:spcPct val="115000"/>
              </a:lnSpc>
            </a:pPr>
            <a:r>
              <a:rPr sz="1100" b="0" i="0">
                <a:solidFill>
                  <a:srgbClr val="666666"/>
                </a:solidFill>
                <a:latin typeface="微软雅黑"/>
                <a:ea typeface="微软雅黑"/>
              </a:rPr>
              <a:t>集团推进上市，借资本与供应链优势加速全国化、深耕北方市场</a:t>
            </a:r>
          </a:p>
        </p:txBody>
      </p:sp>
      <p:sp>
        <p:nvSpPr>
          <p:cNvPr id="30" name="TextBox 29"/>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1" name="TextBox 30"/>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商业模式：量贩零食「多、快、好、省」</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01</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2697480" cy="3291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2697480" cy="118872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27048"/>
            <a:ext cx="2697480" cy="1005840"/>
          </a:xfrm>
          <a:prstGeom prst="rect">
            <a:avLst/>
          </a:prstGeom>
          <a:noFill/>
        </p:spPr>
        <p:txBody>
          <a:bodyPr wrap="square" anchor="ctr" lIns="25400" rIns="25400" tIns="25400" bIns="25400">
            <a:spAutoFit/>
          </a:bodyPr>
          <a:lstStyle/>
          <a:p>
            <a:pPr algn="ctr"/>
            <a:r>
              <a:rPr sz="4400" b="1" i="0">
                <a:solidFill>
                  <a:srgbClr val="FFFFFF"/>
                </a:solidFill>
                <a:latin typeface="微软雅黑"/>
                <a:ea typeface="微软雅黑"/>
              </a:rPr>
              <a:t>多</a:t>
            </a:r>
          </a:p>
        </p:txBody>
      </p:sp>
      <p:sp>
        <p:nvSpPr>
          <p:cNvPr id="11" name="TextBox 10"/>
          <p:cNvSpPr txBox="1"/>
          <p:nvPr/>
        </p:nvSpPr>
        <p:spPr>
          <a:xfrm>
            <a:off x="685800" y="2834640"/>
            <a:ext cx="2331720" cy="1737360"/>
          </a:xfrm>
          <a:prstGeom prst="rect">
            <a:avLst/>
          </a:prstGeom>
          <a:noFill/>
        </p:spPr>
        <p:txBody>
          <a:bodyPr wrap="square" anchor="t" lIns="25400" rIns="25400" tIns="25400" bIns="25400">
            <a:spAutoFit/>
          </a:bodyPr>
          <a:lstStyle/>
          <a:p>
            <a:pPr algn="ctr">
              <a:spcAft>
                <a:spcPts val="1000"/>
              </a:spcAft>
            </a:pPr>
            <a:r>
              <a:rPr sz="1800" b="1" i="0">
                <a:solidFill>
                  <a:srgbClr val="E37E1B"/>
                </a:solidFill>
                <a:latin typeface="微软雅黑"/>
                <a:ea typeface="微软雅黑"/>
              </a:rPr>
              <a:t>SKU 丰富</a:t>
            </a:r>
          </a:p>
          <a:p>
            <a:pPr algn="ctr">
              <a:lnSpc>
                <a:spcPct val="130000"/>
              </a:lnSpc>
            </a:pPr>
            <a:r>
              <a:rPr sz="1300" b="0" i="0">
                <a:solidFill>
                  <a:srgbClr val="262626"/>
                </a:solidFill>
                <a:latin typeface="微软雅黑"/>
                <a:ea typeface="微软雅黑"/>
              </a:rPr>
              <a:t>2000+ 种零食，月上新 100+；合作定制 SKU 占比超 34%</a:t>
            </a:r>
          </a:p>
        </p:txBody>
      </p:sp>
      <p:sp>
        <p:nvSpPr>
          <p:cNvPr id="12" name="Rectangle 11"/>
          <p:cNvSpPr/>
          <p:nvPr/>
        </p:nvSpPr>
        <p:spPr>
          <a:xfrm>
            <a:off x="3319272" y="1417320"/>
            <a:ext cx="2697480" cy="3291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1417320"/>
            <a:ext cx="2697480" cy="118872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9272" y="1527048"/>
            <a:ext cx="2697480" cy="1005840"/>
          </a:xfrm>
          <a:prstGeom prst="rect">
            <a:avLst/>
          </a:prstGeom>
          <a:noFill/>
        </p:spPr>
        <p:txBody>
          <a:bodyPr wrap="square" anchor="ctr" lIns="25400" rIns="25400" tIns="25400" bIns="25400">
            <a:spAutoFit/>
          </a:bodyPr>
          <a:lstStyle/>
          <a:p>
            <a:pPr algn="ctr"/>
            <a:r>
              <a:rPr sz="4400" b="1" i="0">
                <a:solidFill>
                  <a:srgbClr val="FFFFFF"/>
                </a:solidFill>
                <a:latin typeface="微软雅黑"/>
                <a:ea typeface="微软雅黑"/>
              </a:rPr>
              <a:t>快</a:t>
            </a:r>
          </a:p>
        </p:txBody>
      </p:sp>
      <p:sp>
        <p:nvSpPr>
          <p:cNvPr id="15" name="TextBox 14"/>
          <p:cNvSpPr txBox="1"/>
          <p:nvPr/>
        </p:nvSpPr>
        <p:spPr>
          <a:xfrm>
            <a:off x="3502152" y="2834640"/>
            <a:ext cx="2331720" cy="1737360"/>
          </a:xfrm>
          <a:prstGeom prst="rect">
            <a:avLst/>
          </a:prstGeom>
          <a:noFill/>
        </p:spPr>
        <p:txBody>
          <a:bodyPr wrap="square" anchor="t" lIns="25400" rIns="25400" tIns="25400" bIns="25400">
            <a:spAutoFit/>
          </a:bodyPr>
          <a:lstStyle/>
          <a:p>
            <a:pPr algn="ctr">
              <a:spcAft>
                <a:spcPts val="1000"/>
              </a:spcAft>
            </a:pPr>
            <a:r>
              <a:rPr sz="1800" b="1" i="0">
                <a:solidFill>
                  <a:srgbClr val="2E8B76"/>
                </a:solidFill>
                <a:latin typeface="微软雅黑"/>
                <a:ea typeface="微软雅黑"/>
              </a:rPr>
              <a:t>履约高效</a:t>
            </a:r>
          </a:p>
          <a:p>
            <a:pPr algn="ctr">
              <a:lnSpc>
                <a:spcPct val="130000"/>
              </a:lnSpc>
            </a:pPr>
            <a:r>
              <a:rPr sz="1300" b="0" i="0">
                <a:solidFill>
                  <a:srgbClr val="262626"/>
                </a:solidFill>
                <a:latin typeface="微软雅黑"/>
                <a:ea typeface="微软雅黑"/>
              </a:rPr>
              <a:t>56 个区域仓配中心，核心经济圈 300km 内 24 小时达</a:t>
            </a:r>
          </a:p>
        </p:txBody>
      </p:sp>
      <p:sp>
        <p:nvSpPr>
          <p:cNvPr id="16" name="Rectangle 15"/>
          <p:cNvSpPr/>
          <p:nvPr/>
        </p:nvSpPr>
        <p:spPr>
          <a:xfrm>
            <a:off x="6135624" y="1417320"/>
            <a:ext cx="2697480" cy="3291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35624" y="1417320"/>
            <a:ext cx="2697480" cy="118872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1527048"/>
            <a:ext cx="2697480" cy="1005840"/>
          </a:xfrm>
          <a:prstGeom prst="rect">
            <a:avLst/>
          </a:prstGeom>
          <a:noFill/>
        </p:spPr>
        <p:txBody>
          <a:bodyPr wrap="square" anchor="ctr" lIns="25400" rIns="25400" tIns="25400" bIns="25400">
            <a:spAutoFit/>
          </a:bodyPr>
          <a:lstStyle/>
          <a:p>
            <a:pPr algn="ctr"/>
            <a:r>
              <a:rPr sz="4400" b="1" i="0">
                <a:solidFill>
                  <a:srgbClr val="FFFFFF"/>
                </a:solidFill>
                <a:latin typeface="微软雅黑"/>
                <a:ea typeface="微软雅黑"/>
              </a:rPr>
              <a:t>好</a:t>
            </a:r>
          </a:p>
        </p:txBody>
      </p:sp>
      <p:sp>
        <p:nvSpPr>
          <p:cNvPr id="19" name="TextBox 18"/>
          <p:cNvSpPr txBox="1"/>
          <p:nvPr/>
        </p:nvSpPr>
        <p:spPr>
          <a:xfrm>
            <a:off x="6318504" y="2834640"/>
            <a:ext cx="2331720" cy="1737360"/>
          </a:xfrm>
          <a:prstGeom prst="rect">
            <a:avLst/>
          </a:prstGeom>
          <a:noFill/>
        </p:spPr>
        <p:txBody>
          <a:bodyPr wrap="square" anchor="t" lIns="25400" rIns="25400" tIns="25400" bIns="25400">
            <a:spAutoFit/>
          </a:bodyPr>
          <a:lstStyle/>
          <a:p>
            <a:pPr algn="ctr">
              <a:spcAft>
                <a:spcPts val="1000"/>
              </a:spcAft>
            </a:pPr>
            <a:r>
              <a:rPr sz="1800" b="1" i="0">
                <a:solidFill>
                  <a:srgbClr val="2C5F8A"/>
                </a:solidFill>
                <a:latin typeface="微软雅黑"/>
                <a:ea typeface="微软雅黑"/>
              </a:rPr>
              <a:t>体验升级</a:t>
            </a:r>
          </a:p>
          <a:p>
            <a:pPr algn="ctr">
              <a:lnSpc>
                <a:spcPct val="130000"/>
              </a:lnSpc>
            </a:pPr>
            <a:r>
              <a:rPr sz="1300" b="0" i="0">
                <a:solidFill>
                  <a:srgbClr val="262626"/>
                </a:solidFill>
                <a:latin typeface="微软雅黑"/>
                <a:ea typeface="微软雅黑"/>
              </a:rPr>
              <a:t>欢乐舒适的购物体验 + 集团统一 IP 营销（零食音乐节等）</a:t>
            </a:r>
          </a:p>
        </p:txBody>
      </p:sp>
      <p:sp>
        <p:nvSpPr>
          <p:cNvPr id="20" name="Rectangle 19"/>
          <p:cNvSpPr/>
          <p:nvPr/>
        </p:nvSpPr>
        <p:spPr>
          <a:xfrm>
            <a:off x="8951976" y="1417320"/>
            <a:ext cx="2697480" cy="3291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1976" y="1417320"/>
            <a:ext cx="2697480" cy="118872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51976" y="1527048"/>
            <a:ext cx="2697480" cy="1005840"/>
          </a:xfrm>
          <a:prstGeom prst="rect">
            <a:avLst/>
          </a:prstGeom>
          <a:noFill/>
        </p:spPr>
        <p:txBody>
          <a:bodyPr wrap="square" anchor="ctr" lIns="25400" rIns="25400" tIns="25400" bIns="25400">
            <a:spAutoFit/>
          </a:bodyPr>
          <a:lstStyle/>
          <a:p>
            <a:pPr algn="ctr"/>
            <a:r>
              <a:rPr sz="4400" b="1" i="0">
                <a:solidFill>
                  <a:srgbClr val="FFFFFF"/>
                </a:solidFill>
                <a:latin typeface="微软雅黑"/>
                <a:ea typeface="微软雅黑"/>
              </a:rPr>
              <a:t>省</a:t>
            </a:r>
          </a:p>
        </p:txBody>
      </p:sp>
      <p:sp>
        <p:nvSpPr>
          <p:cNvPr id="23" name="TextBox 22"/>
          <p:cNvSpPr txBox="1"/>
          <p:nvPr/>
        </p:nvSpPr>
        <p:spPr>
          <a:xfrm>
            <a:off x="9134855" y="2834640"/>
            <a:ext cx="2331720" cy="1737360"/>
          </a:xfrm>
          <a:prstGeom prst="rect">
            <a:avLst/>
          </a:prstGeom>
          <a:noFill/>
        </p:spPr>
        <p:txBody>
          <a:bodyPr wrap="square" anchor="t" lIns="25400" rIns="25400" tIns="25400" bIns="25400">
            <a:spAutoFit/>
          </a:bodyPr>
          <a:lstStyle/>
          <a:p>
            <a:pPr algn="ctr">
              <a:spcAft>
                <a:spcPts val="1000"/>
              </a:spcAft>
            </a:pPr>
            <a:r>
              <a:rPr sz="1800" b="1" i="0">
                <a:solidFill>
                  <a:srgbClr val="C01A22"/>
                </a:solidFill>
                <a:latin typeface="微软雅黑"/>
                <a:ea typeface="微软雅黑"/>
              </a:rPr>
              <a:t>极致质价比</a:t>
            </a:r>
          </a:p>
          <a:p>
            <a:pPr algn="ctr">
              <a:lnSpc>
                <a:spcPct val="130000"/>
              </a:lnSpc>
            </a:pPr>
            <a:r>
              <a:rPr sz="1300" b="0" i="0">
                <a:solidFill>
                  <a:srgbClr val="262626"/>
                </a:solidFill>
                <a:latin typeface="微软雅黑"/>
                <a:ea typeface="微软雅黑"/>
              </a:rPr>
              <a:t>源头直采去经销商化（92.3%），砍掉中间溢价让利消费者</a:t>
            </a:r>
          </a:p>
        </p:txBody>
      </p:sp>
      <p:sp>
        <p:nvSpPr>
          <p:cNvPr id="24" name="Rectangle 23"/>
          <p:cNvSpPr/>
          <p:nvPr/>
        </p:nvSpPr>
        <p:spPr>
          <a:xfrm>
            <a:off x="502920" y="5029200"/>
            <a:ext cx="11155680" cy="100584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029200"/>
            <a:ext cx="91440" cy="100584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38928"/>
            <a:ext cx="10789920" cy="822960"/>
          </a:xfrm>
          <a:prstGeom prst="rect">
            <a:avLst/>
          </a:prstGeom>
          <a:noFill/>
        </p:spPr>
        <p:txBody>
          <a:bodyPr wrap="square" anchor="ctr" lIns="25400" rIns="25400" tIns="25400" bIns="25400">
            <a:spAutoFit/>
          </a:bodyPr>
          <a:lstStyle/>
          <a:p>
            <a:pPr algn="l">
              <a:lnSpc>
                <a:spcPct val="130000"/>
              </a:lnSpc>
            </a:pPr>
            <a:r>
              <a:rPr sz="1400" b="1" i="0">
                <a:solidFill>
                  <a:srgbClr val="C01A22"/>
                </a:solidFill>
                <a:latin typeface="微软雅黑"/>
                <a:ea typeface="微软雅黑"/>
              </a:rPr>
              <a:t>盈利逻辑：</a:t>
            </a:r>
            <a:r>
              <a:rPr sz="1300" b="0" i="0">
                <a:solidFill>
                  <a:srgbClr val="262626"/>
                </a:solidFill>
                <a:latin typeface="微软雅黑"/>
                <a:ea typeface="微软雅黑"/>
              </a:rPr>
              <a:t>加盟连锁 + 供应链直采。公司向加盟商供货收入（约 18 万/月目标口径）→ 门店 GMV （约 35–40 万/月）；公司层面以「薄毛利、大规模、高周转」取胜，加盟商端毛利 18–20%，自有品牌毛利可达 30–50%。</a:t>
            </a:r>
          </a:p>
        </p:txBody>
      </p:sp>
      <p:sp>
        <p:nvSpPr>
          <p:cNvPr id="27" name="TextBox 26"/>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8" name="TextBox 27"/>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5486400" cy="1371600"/>
          </a:xfrm>
          <a:prstGeom prst="rect">
            <a:avLst/>
          </a:prstGeom>
          <a:noFill/>
        </p:spPr>
        <p:txBody>
          <a:bodyPr wrap="square" anchor="t" lIns="25400" rIns="25400" tIns="25400" bIns="25400">
            <a:spAutoFit/>
          </a:bodyPr>
          <a:lstStyle/>
          <a:p>
            <a:pPr algn="l"/>
            <a:r>
              <a:rPr sz="9600" b="1" i="0">
                <a:solidFill>
                  <a:srgbClr val="E06A60"/>
                </a:solidFill>
                <a:latin typeface="Arial"/>
                <a:ea typeface="Arial"/>
              </a:rPr>
              <a:t>02</a:t>
            </a:r>
          </a:p>
        </p:txBody>
      </p:sp>
      <p:sp>
        <p:nvSpPr>
          <p:cNvPr id="5" name="Rectangle 4"/>
          <p:cNvSpPr/>
          <p:nvPr/>
        </p:nvSpPr>
        <p:spPr>
          <a:xfrm>
            <a:off x="868680" y="2788920"/>
            <a:ext cx="73152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71800"/>
            <a:ext cx="10058400" cy="1188720"/>
          </a:xfrm>
          <a:prstGeom prst="rect">
            <a:avLst/>
          </a:prstGeom>
          <a:noFill/>
        </p:spPr>
        <p:txBody>
          <a:bodyPr wrap="square" anchor="t" lIns="25400" rIns="25400" tIns="25400" bIns="25400">
            <a:spAutoFit/>
          </a:bodyPr>
          <a:lstStyle/>
          <a:p>
            <a:pPr algn="l"/>
            <a:r>
              <a:rPr sz="4400" b="1" i="0">
                <a:solidFill>
                  <a:srgbClr val="FFFFFF"/>
                </a:solidFill>
                <a:latin typeface="微软雅黑"/>
                <a:ea typeface="微软雅黑"/>
              </a:rPr>
              <a:t>竞争战略分析</a:t>
            </a:r>
          </a:p>
        </p:txBody>
      </p:sp>
      <p:sp>
        <p:nvSpPr>
          <p:cNvPr id="7" name="TextBox 6"/>
          <p:cNvSpPr txBox="1"/>
          <p:nvPr/>
        </p:nvSpPr>
        <p:spPr>
          <a:xfrm>
            <a:off x="868680" y="4023360"/>
            <a:ext cx="10058400" cy="548640"/>
          </a:xfrm>
          <a:prstGeom prst="rect">
            <a:avLst/>
          </a:prstGeom>
          <a:noFill/>
        </p:spPr>
        <p:txBody>
          <a:bodyPr wrap="square" anchor="t" lIns="25400" rIns="25400" tIns="25400" bIns="25400">
            <a:spAutoFit/>
          </a:bodyPr>
          <a:lstStyle/>
          <a:p>
            <a:pPr algn="l"/>
            <a:r>
              <a:rPr sz="1600" b="0" i="0">
                <a:solidFill>
                  <a:srgbClr val="F0C8C2"/>
                </a:solidFill>
                <a:latin typeface="Arial"/>
                <a:ea typeface="Arial"/>
              </a:rPr>
              <a:t>Competitive Strategy Analysis</a:t>
            </a:r>
          </a:p>
        </p:txBody>
      </p:sp>
      <p:sp>
        <p:nvSpPr>
          <p:cNvPr id="8" name="TextBox 7"/>
          <p:cNvSpPr txBox="1"/>
          <p:nvPr/>
        </p:nvSpPr>
        <p:spPr>
          <a:xfrm>
            <a:off x="868680" y="4709160"/>
            <a:ext cx="10058400" cy="548640"/>
          </a:xfrm>
          <a:prstGeom prst="rect">
            <a:avLst/>
          </a:prstGeom>
          <a:noFill/>
        </p:spPr>
        <p:txBody>
          <a:bodyPr wrap="square" anchor="t" lIns="25400" rIns="25400" tIns="25400" bIns="25400">
            <a:spAutoFit/>
          </a:bodyPr>
          <a:lstStyle/>
          <a:p>
            <a:pPr algn="l"/>
            <a:r>
              <a:rPr sz="1500" b="0" i="0">
                <a:solidFill>
                  <a:srgbClr val="F7E3DF"/>
                </a:solidFill>
                <a:latin typeface="微软雅黑"/>
                <a:ea typeface="微软雅黑"/>
              </a:rPr>
              <a:t>PEST 宏观环境 · 波特五力模型 · SWOT 分析</a:t>
            </a:r>
          </a:p>
        </p:txBody>
      </p:sp>
      <p:sp>
        <p:nvSpPr>
          <p:cNvPr id="9" name="TextBox 8"/>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10" name="TextBox 9"/>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PEST 宏观环境分析</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02</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5486400" cy="210312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188720"/>
            <a:ext cx="960120" cy="210312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188720"/>
            <a:ext cx="960120" cy="2103120"/>
          </a:xfrm>
          <a:prstGeom prst="rect">
            <a:avLst/>
          </a:prstGeom>
          <a:noFill/>
        </p:spPr>
        <p:txBody>
          <a:bodyPr wrap="square" anchor="ctr" lIns="25400" rIns="25400" tIns="25400" bIns="25400">
            <a:spAutoFit/>
          </a:bodyPr>
          <a:lstStyle/>
          <a:p>
            <a:pPr algn="ctr"/>
            <a:r>
              <a:rPr sz="4000" b="1" i="0">
                <a:solidFill>
                  <a:srgbClr val="FFFFFF"/>
                </a:solidFill>
                <a:latin typeface="Arial"/>
                <a:ea typeface="Arial"/>
              </a:rPr>
              <a:t>P</a:t>
            </a:r>
          </a:p>
        </p:txBody>
      </p:sp>
      <p:sp>
        <p:nvSpPr>
          <p:cNvPr id="11" name="TextBox 10"/>
          <p:cNvSpPr txBox="1"/>
          <p:nvPr/>
        </p:nvSpPr>
        <p:spPr>
          <a:xfrm>
            <a:off x="1645920" y="1325880"/>
            <a:ext cx="4160520" cy="1828799"/>
          </a:xfrm>
          <a:prstGeom prst="rect">
            <a:avLst/>
          </a:prstGeom>
          <a:noFill/>
        </p:spPr>
        <p:txBody>
          <a:bodyPr wrap="square" anchor="t" lIns="25400" rIns="25400" tIns="25400" bIns="25400">
            <a:spAutoFit/>
          </a:bodyPr>
          <a:lstStyle/>
          <a:p>
            <a:pPr algn="l">
              <a:spcAft>
                <a:spcPts val="600"/>
              </a:spcAft>
            </a:pPr>
            <a:r>
              <a:rPr sz="1600" b="1" i="0">
                <a:solidFill>
                  <a:srgbClr val="C01A22"/>
                </a:solidFill>
                <a:latin typeface="微软雅黑"/>
                <a:ea typeface="微软雅黑"/>
              </a:rPr>
              <a:t>政治 Political</a:t>
            </a:r>
          </a:p>
          <a:p>
            <a:pPr algn="l">
              <a:lnSpc>
                <a:spcPct val="120000"/>
              </a:lnSpc>
              <a:spcAft>
                <a:spcPts val="500"/>
              </a:spcAft>
            </a:pPr>
            <a:r>
              <a:rPr sz="1200" b="0" i="0">
                <a:solidFill>
                  <a:srgbClr val="C01A22"/>
                </a:solidFill>
                <a:latin typeface="微软雅黑"/>
                <a:ea typeface="微软雅黑"/>
              </a:rPr>
              <a:t>▪ </a:t>
            </a:r>
            <a:r>
              <a:rPr sz="1200" b="0" i="0">
                <a:solidFill>
                  <a:srgbClr val="262626"/>
                </a:solidFill>
                <a:latin typeface="微软雅黑"/>
                <a:ea typeface="微软雅黑"/>
              </a:rPr>
              <a:t>契合「县域商业体系建设」与「乡村振兴」战略，下沉市场政策支持力度大</a:t>
            </a:r>
          </a:p>
          <a:p>
            <a:pPr algn="l">
              <a:lnSpc>
                <a:spcPct val="120000"/>
              </a:lnSpc>
              <a:spcAft>
                <a:spcPts val="500"/>
              </a:spcAft>
            </a:pPr>
            <a:r>
              <a:rPr sz="1200" b="0" i="0">
                <a:solidFill>
                  <a:srgbClr val="C01A22"/>
                </a:solidFill>
                <a:latin typeface="微软雅黑"/>
                <a:ea typeface="微软雅黑"/>
              </a:rPr>
              <a:t>▪ </a:t>
            </a:r>
            <a:r>
              <a:rPr sz="1200" b="0" i="0">
                <a:solidFill>
                  <a:srgbClr val="262626"/>
                </a:solidFill>
                <a:latin typeface="微软雅黑"/>
                <a:ea typeface="微软雅黑"/>
              </a:rPr>
              <a:t>需在反垄断申报、特许经营合规、食品安全属地监管上与集团保持统一高标准</a:t>
            </a:r>
          </a:p>
        </p:txBody>
      </p:sp>
      <p:sp>
        <p:nvSpPr>
          <p:cNvPr id="12" name="Rectangle 11"/>
          <p:cNvSpPr/>
          <p:nvPr/>
        </p:nvSpPr>
        <p:spPr>
          <a:xfrm>
            <a:off x="6199632" y="1188720"/>
            <a:ext cx="5486400" cy="210312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188720"/>
            <a:ext cx="960120" cy="210312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9632" y="1188720"/>
            <a:ext cx="960120" cy="2103120"/>
          </a:xfrm>
          <a:prstGeom prst="rect">
            <a:avLst/>
          </a:prstGeom>
          <a:noFill/>
        </p:spPr>
        <p:txBody>
          <a:bodyPr wrap="square" anchor="ctr" lIns="25400" rIns="25400" tIns="25400" bIns="25400">
            <a:spAutoFit/>
          </a:bodyPr>
          <a:lstStyle/>
          <a:p>
            <a:pPr algn="ctr"/>
            <a:r>
              <a:rPr sz="4000" b="1" i="0">
                <a:solidFill>
                  <a:srgbClr val="FFFFFF"/>
                </a:solidFill>
                <a:latin typeface="Arial"/>
                <a:ea typeface="Arial"/>
              </a:rPr>
              <a:t>E</a:t>
            </a:r>
          </a:p>
        </p:txBody>
      </p:sp>
      <p:sp>
        <p:nvSpPr>
          <p:cNvPr id="15" name="TextBox 14"/>
          <p:cNvSpPr txBox="1"/>
          <p:nvPr/>
        </p:nvSpPr>
        <p:spPr>
          <a:xfrm>
            <a:off x="7342632" y="1325880"/>
            <a:ext cx="4160520" cy="1828799"/>
          </a:xfrm>
          <a:prstGeom prst="rect">
            <a:avLst/>
          </a:prstGeom>
          <a:noFill/>
        </p:spPr>
        <p:txBody>
          <a:bodyPr wrap="square" anchor="t" lIns="25400" rIns="25400" tIns="25400" bIns="25400">
            <a:spAutoFit/>
          </a:bodyPr>
          <a:lstStyle/>
          <a:p>
            <a:pPr algn="l">
              <a:spcAft>
                <a:spcPts val="600"/>
              </a:spcAft>
            </a:pPr>
            <a:r>
              <a:rPr sz="1600" b="1" i="0">
                <a:solidFill>
                  <a:srgbClr val="E37E1B"/>
                </a:solidFill>
                <a:latin typeface="微软雅黑"/>
                <a:ea typeface="微软雅黑"/>
              </a:rPr>
              <a:t>经济 Economic</a:t>
            </a:r>
          </a:p>
          <a:p>
            <a:pPr algn="l">
              <a:lnSpc>
                <a:spcPct val="120000"/>
              </a:lnSpc>
              <a:spcAft>
                <a:spcPts val="500"/>
              </a:spcAft>
            </a:pPr>
            <a:r>
              <a:rPr sz="1200" b="0" i="0">
                <a:solidFill>
                  <a:srgbClr val="E37E1B"/>
                </a:solidFill>
                <a:latin typeface="微软雅黑"/>
                <a:ea typeface="微软雅黑"/>
              </a:rPr>
              <a:t>▪ </a:t>
            </a:r>
            <a:r>
              <a:rPr sz="1200" b="0" i="0">
                <a:solidFill>
                  <a:srgbClr val="262626"/>
                </a:solidFill>
                <a:latin typeface="微软雅黑"/>
                <a:ea typeface="微软雅黑"/>
              </a:rPr>
              <a:t>消费分级，大众追求「质价比」，价格定位精准吸引价格敏感型客群</a:t>
            </a:r>
          </a:p>
          <a:p>
            <a:pPr algn="l">
              <a:lnSpc>
                <a:spcPct val="120000"/>
              </a:lnSpc>
              <a:spcAft>
                <a:spcPts val="500"/>
              </a:spcAft>
            </a:pPr>
            <a:r>
              <a:rPr sz="1200" b="0" i="0">
                <a:solidFill>
                  <a:srgbClr val="E37E1B"/>
                </a:solidFill>
                <a:latin typeface="微软雅黑"/>
                <a:ea typeface="微软雅黑"/>
              </a:rPr>
              <a:t>▪ </a:t>
            </a:r>
            <a:r>
              <a:rPr sz="1200" b="0" i="0">
                <a:solidFill>
                  <a:srgbClr val="262626"/>
                </a:solidFill>
                <a:latin typeface="微软雅黑"/>
                <a:ea typeface="微软雅黑"/>
              </a:rPr>
              <a:t>并入集团后毛利率 5.6%→9.7%，盈利能力增强，为独立扩张提供财务基础</a:t>
            </a:r>
          </a:p>
        </p:txBody>
      </p:sp>
      <p:sp>
        <p:nvSpPr>
          <p:cNvPr id="16" name="Rectangle 15"/>
          <p:cNvSpPr/>
          <p:nvPr/>
        </p:nvSpPr>
        <p:spPr>
          <a:xfrm>
            <a:off x="502920" y="3364992"/>
            <a:ext cx="5486400" cy="210312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364992"/>
            <a:ext cx="960120" cy="210312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364992"/>
            <a:ext cx="960120" cy="2103120"/>
          </a:xfrm>
          <a:prstGeom prst="rect">
            <a:avLst/>
          </a:prstGeom>
          <a:noFill/>
        </p:spPr>
        <p:txBody>
          <a:bodyPr wrap="square" anchor="ctr" lIns="25400" rIns="25400" tIns="25400" bIns="25400">
            <a:spAutoFit/>
          </a:bodyPr>
          <a:lstStyle/>
          <a:p>
            <a:pPr algn="ctr"/>
            <a:r>
              <a:rPr sz="4000" b="1" i="0">
                <a:solidFill>
                  <a:srgbClr val="FFFFFF"/>
                </a:solidFill>
                <a:latin typeface="Arial"/>
                <a:ea typeface="Arial"/>
              </a:rPr>
              <a:t>S</a:t>
            </a:r>
          </a:p>
        </p:txBody>
      </p:sp>
      <p:sp>
        <p:nvSpPr>
          <p:cNvPr id="19" name="TextBox 18"/>
          <p:cNvSpPr txBox="1"/>
          <p:nvPr/>
        </p:nvSpPr>
        <p:spPr>
          <a:xfrm>
            <a:off x="1645920" y="3502152"/>
            <a:ext cx="4160520" cy="1828799"/>
          </a:xfrm>
          <a:prstGeom prst="rect">
            <a:avLst/>
          </a:prstGeom>
          <a:noFill/>
        </p:spPr>
        <p:txBody>
          <a:bodyPr wrap="square" anchor="t" lIns="25400" rIns="25400" tIns="25400" bIns="25400">
            <a:spAutoFit/>
          </a:bodyPr>
          <a:lstStyle/>
          <a:p>
            <a:pPr algn="l">
              <a:spcAft>
                <a:spcPts val="600"/>
              </a:spcAft>
            </a:pPr>
            <a:r>
              <a:rPr sz="1600" b="1" i="0">
                <a:solidFill>
                  <a:srgbClr val="2E8B76"/>
                </a:solidFill>
                <a:latin typeface="微软雅黑"/>
                <a:ea typeface="微软雅黑"/>
              </a:rPr>
              <a:t>社会 Social</a:t>
            </a:r>
          </a:p>
          <a:p>
            <a:pPr algn="l">
              <a:lnSpc>
                <a:spcPct val="120000"/>
              </a:lnSpc>
              <a:spcAft>
                <a:spcPts val="500"/>
              </a:spcAft>
            </a:pPr>
            <a:r>
              <a:rPr sz="1200" b="0" i="0">
                <a:solidFill>
                  <a:srgbClr val="2E8B76"/>
                </a:solidFill>
                <a:latin typeface="微软雅黑"/>
                <a:ea typeface="微软雅黑"/>
              </a:rPr>
              <a:t>▪ </a:t>
            </a:r>
            <a:r>
              <a:rPr sz="1200" b="0" i="0">
                <a:solidFill>
                  <a:srgbClr val="262626"/>
                </a:solidFill>
                <a:latin typeface="微软雅黑"/>
                <a:ea typeface="微软雅黑"/>
              </a:rPr>
              <a:t>年轻客群与家庭客群追求即时性、娱乐化零食消费，「欢乐舒适」体验受青睐</a:t>
            </a:r>
          </a:p>
          <a:p>
            <a:pPr algn="l">
              <a:lnSpc>
                <a:spcPct val="120000"/>
              </a:lnSpc>
              <a:spcAft>
                <a:spcPts val="500"/>
              </a:spcAft>
            </a:pPr>
            <a:r>
              <a:rPr sz="1200" b="0" i="0">
                <a:solidFill>
                  <a:srgbClr val="2E8B76"/>
                </a:solidFill>
                <a:latin typeface="微软雅黑"/>
                <a:ea typeface="微软雅黑"/>
              </a:rPr>
              <a:t>▪ </a:t>
            </a:r>
            <a:r>
              <a:rPr sz="1200" b="0" i="0">
                <a:solidFill>
                  <a:srgbClr val="262626"/>
                </a:solidFill>
                <a:latin typeface="微软雅黑"/>
                <a:ea typeface="微软雅黑"/>
              </a:rPr>
              <a:t>华中、华北原优势区域消费者认知深厚，集团统一 IP 营销提升全国知名度</a:t>
            </a:r>
          </a:p>
        </p:txBody>
      </p:sp>
      <p:sp>
        <p:nvSpPr>
          <p:cNvPr id="20" name="Rectangle 19"/>
          <p:cNvSpPr/>
          <p:nvPr/>
        </p:nvSpPr>
        <p:spPr>
          <a:xfrm>
            <a:off x="6199632" y="3364992"/>
            <a:ext cx="5486400" cy="210312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364992"/>
            <a:ext cx="960120" cy="210312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2" y="3364992"/>
            <a:ext cx="960120" cy="2103120"/>
          </a:xfrm>
          <a:prstGeom prst="rect">
            <a:avLst/>
          </a:prstGeom>
          <a:noFill/>
        </p:spPr>
        <p:txBody>
          <a:bodyPr wrap="square" anchor="ctr" lIns="25400" rIns="25400" tIns="25400" bIns="25400">
            <a:spAutoFit/>
          </a:bodyPr>
          <a:lstStyle/>
          <a:p>
            <a:pPr algn="ctr"/>
            <a:r>
              <a:rPr sz="4000" b="1" i="0">
                <a:solidFill>
                  <a:srgbClr val="FFFFFF"/>
                </a:solidFill>
                <a:latin typeface="Arial"/>
                <a:ea typeface="Arial"/>
              </a:rPr>
              <a:t>T</a:t>
            </a:r>
          </a:p>
        </p:txBody>
      </p:sp>
      <p:sp>
        <p:nvSpPr>
          <p:cNvPr id="23" name="TextBox 22"/>
          <p:cNvSpPr txBox="1"/>
          <p:nvPr/>
        </p:nvSpPr>
        <p:spPr>
          <a:xfrm>
            <a:off x="7342632" y="3502152"/>
            <a:ext cx="4160520" cy="1828799"/>
          </a:xfrm>
          <a:prstGeom prst="rect">
            <a:avLst/>
          </a:prstGeom>
          <a:noFill/>
        </p:spPr>
        <p:txBody>
          <a:bodyPr wrap="square" anchor="t" lIns="25400" rIns="25400" tIns="25400" bIns="25400">
            <a:spAutoFit/>
          </a:bodyPr>
          <a:lstStyle/>
          <a:p>
            <a:pPr algn="l">
              <a:spcAft>
                <a:spcPts val="600"/>
              </a:spcAft>
            </a:pPr>
            <a:r>
              <a:rPr sz="1600" b="1" i="0">
                <a:solidFill>
                  <a:srgbClr val="2C5F8A"/>
                </a:solidFill>
                <a:latin typeface="微软雅黑"/>
                <a:ea typeface="微软雅黑"/>
              </a:rPr>
              <a:t>技术 Technological</a:t>
            </a:r>
          </a:p>
          <a:p>
            <a:pPr algn="l">
              <a:lnSpc>
                <a:spcPct val="120000"/>
              </a:lnSpc>
              <a:spcAft>
                <a:spcPts val="500"/>
              </a:spcAft>
            </a:pPr>
            <a:r>
              <a:rPr sz="1200" b="0" i="0">
                <a:solidFill>
                  <a:srgbClr val="2C5F8A"/>
                </a:solidFill>
                <a:latin typeface="微软雅黑"/>
                <a:ea typeface="微软雅黑"/>
              </a:rPr>
              <a:t>▪ </a:t>
            </a:r>
            <a:r>
              <a:rPr sz="1200" b="0" i="0">
                <a:solidFill>
                  <a:srgbClr val="262626"/>
                </a:solidFill>
                <a:latin typeface="微软雅黑"/>
                <a:ea typeface="微软雅黑"/>
              </a:rPr>
              <a:t>直接复用集团全流程数字化能力（选品/采购/仓储/门店管理），无需重复建设</a:t>
            </a:r>
          </a:p>
          <a:p>
            <a:pPr algn="l">
              <a:lnSpc>
                <a:spcPct val="120000"/>
              </a:lnSpc>
              <a:spcAft>
                <a:spcPts val="500"/>
              </a:spcAft>
            </a:pPr>
            <a:r>
              <a:rPr sz="1200" b="0" i="0">
                <a:solidFill>
                  <a:srgbClr val="2C5F8A"/>
                </a:solidFill>
                <a:latin typeface="微软雅黑"/>
                <a:ea typeface="微软雅黑"/>
              </a:rPr>
              <a:t>▪ </a:t>
            </a:r>
            <a:r>
              <a:rPr sz="1200" b="0" i="0">
                <a:solidFill>
                  <a:srgbClr val="262626"/>
                </a:solidFill>
                <a:latin typeface="微软雅黑"/>
                <a:ea typeface="微软雅黑"/>
              </a:rPr>
              <a:t>库存周转 11.6 天、物流 24 小时达，行业领先，支撑大规模精细化运营</a:t>
            </a:r>
          </a:p>
        </p:txBody>
      </p:sp>
      <p:sp>
        <p:nvSpPr>
          <p:cNvPr id="24" name="Rectangle 23"/>
          <p:cNvSpPr/>
          <p:nvPr/>
        </p:nvSpPr>
        <p:spPr>
          <a:xfrm>
            <a:off x="502920" y="5650992"/>
            <a:ext cx="11155680" cy="65836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705855"/>
            <a:ext cx="2231136" cy="566928"/>
          </a:xfrm>
          <a:prstGeom prst="rect">
            <a:avLst/>
          </a:prstGeom>
          <a:noFill/>
        </p:spPr>
        <p:txBody>
          <a:bodyPr wrap="square" anchor="ctr" lIns="25400" rIns="25400" tIns="25400" bIns="25400">
            <a:spAutoFit/>
          </a:bodyPr>
          <a:lstStyle/>
          <a:p>
            <a:pPr algn="ctr"/>
            <a:r>
              <a:rPr sz="1700" b="1" i="0">
                <a:solidFill>
                  <a:srgbClr val="FFFFFF"/>
                </a:solidFill>
                <a:latin typeface="微软雅黑"/>
                <a:ea typeface="微软雅黑"/>
              </a:rPr>
              <a:t>25%+</a:t>
            </a:r>
          </a:p>
          <a:p>
            <a:pPr algn="ctr">
              <a:spcBef>
                <a:spcPts val="100"/>
              </a:spcBef>
            </a:pPr>
            <a:r>
              <a:rPr sz="1000" b="0" i="0">
                <a:solidFill>
                  <a:srgbClr val="F7DDDA"/>
                </a:solidFill>
                <a:latin typeface="微软雅黑"/>
                <a:ea typeface="微软雅黑"/>
              </a:rPr>
              <a:t>赛道复合增速</a:t>
            </a:r>
          </a:p>
        </p:txBody>
      </p:sp>
      <p:sp>
        <p:nvSpPr>
          <p:cNvPr id="26" name="TextBox 25"/>
          <p:cNvSpPr txBox="1"/>
          <p:nvPr/>
        </p:nvSpPr>
        <p:spPr>
          <a:xfrm>
            <a:off x="2734056" y="5705855"/>
            <a:ext cx="2231136" cy="566928"/>
          </a:xfrm>
          <a:prstGeom prst="rect">
            <a:avLst/>
          </a:prstGeom>
          <a:noFill/>
        </p:spPr>
        <p:txBody>
          <a:bodyPr wrap="square" anchor="ctr" lIns="25400" rIns="25400" tIns="25400" bIns="25400">
            <a:spAutoFit/>
          </a:bodyPr>
          <a:lstStyle/>
          <a:p>
            <a:pPr algn="ctr"/>
            <a:r>
              <a:rPr sz="1700" b="1" i="0">
                <a:solidFill>
                  <a:srgbClr val="FFFFFF"/>
                </a:solidFill>
                <a:latin typeface="微软雅黑"/>
                <a:ea typeface="微软雅黑"/>
              </a:rPr>
              <a:t>163.28亿</a:t>
            </a:r>
          </a:p>
          <a:p>
            <a:pPr algn="ctr">
              <a:spcBef>
                <a:spcPts val="100"/>
              </a:spcBef>
            </a:pPr>
            <a:r>
              <a:rPr sz="1000" b="0" i="0">
                <a:solidFill>
                  <a:srgbClr val="F7DDDA"/>
                </a:solidFill>
                <a:latin typeface="微软雅黑"/>
                <a:ea typeface="微软雅黑"/>
              </a:rPr>
              <a:t>2024集团营收</a:t>
            </a:r>
          </a:p>
        </p:txBody>
      </p:sp>
      <p:sp>
        <p:nvSpPr>
          <p:cNvPr id="27" name="Rectangle 26"/>
          <p:cNvSpPr/>
          <p:nvPr/>
        </p:nvSpPr>
        <p:spPr>
          <a:xfrm>
            <a:off x="2734056" y="5779007"/>
            <a:ext cx="12700" cy="402336"/>
          </a:xfrm>
          <a:prstGeom prst="rect">
            <a:avLst/>
          </a:prstGeom>
          <a:solidFill>
            <a:srgbClr val="D86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65192" y="5705855"/>
            <a:ext cx="2231136" cy="566928"/>
          </a:xfrm>
          <a:prstGeom prst="rect">
            <a:avLst/>
          </a:prstGeom>
          <a:noFill/>
        </p:spPr>
        <p:txBody>
          <a:bodyPr wrap="square" anchor="ctr" lIns="25400" rIns="25400" tIns="25400" bIns="25400">
            <a:spAutoFit/>
          </a:bodyPr>
          <a:lstStyle/>
          <a:p>
            <a:pPr algn="ctr"/>
            <a:r>
              <a:rPr sz="1700" b="1" i="0">
                <a:solidFill>
                  <a:srgbClr val="FFFFFF"/>
                </a:solidFill>
                <a:latin typeface="微软雅黑"/>
                <a:ea typeface="微软雅黑"/>
              </a:rPr>
              <a:t>5.6%→9.7%</a:t>
            </a:r>
          </a:p>
          <a:p>
            <a:pPr algn="ctr">
              <a:spcBef>
                <a:spcPts val="100"/>
              </a:spcBef>
            </a:pPr>
            <a:r>
              <a:rPr sz="1000" b="0" i="0">
                <a:solidFill>
                  <a:srgbClr val="F7DDDA"/>
                </a:solidFill>
                <a:latin typeface="微软雅黑"/>
                <a:ea typeface="微软雅黑"/>
              </a:rPr>
              <a:t>并入后毛利率</a:t>
            </a:r>
          </a:p>
        </p:txBody>
      </p:sp>
      <p:sp>
        <p:nvSpPr>
          <p:cNvPr id="29" name="Rectangle 28"/>
          <p:cNvSpPr/>
          <p:nvPr/>
        </p:nvSpPr>
        <p:spPr>
          <a:xfrm>
            <a:off x="4965192" y="5779007"/>
            <a:ext cx="12700" cy="402336"/>
          </a:xfrm>
          <a:prstGeom prst="rect">
            <a:avLst/>
          </a:prstGeom>
          <a:solidFill>
            <a:srgbClr val="D86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96328" y="5705855"/>
            <a:ext cx="2231136" cy="566928"/>
          </a:xfrm>
          <a:prstGeom prst="rect">
            <a:avLst/>
          </a:prstGeom>
          <a:noFill/>
        </p:spPr>
        <p:txBody>
          <a:bodyPr wrap="square" anchor="ctr" lIns="25400" rIns="25400" tIns="25400" bIns="25400">
            <a:spAutoFit/>
          </a:bodyPr>
          <a:lstStyle/>
          <a:p>
            <a:pPr algn="ctr"/>
            <a:r>
              <a:rPr sz="1700" b="1" i="0">
                <a:solidFill>
                  <a:srgbClr val="FFFFFF"/>
                </a:solidFill>
                <a:latin typeface="微软雅黑"/>
                <a:ea typeface="微软雅黑"/>
              </a:rPr>
              <a:t>11.6天</a:t>
            </a:r>
          </a:p>
          <a:p>
            <a:pPr algn="ctr">
              <a:spcBef>
                <a:spcPts val="100"/>
              </a:spcBef>
            </a:pPr>
            <a:r>
              <a:rPr sz="1000" b="0" i="0">
                <a:solidFill>
                  <a:srgbClr val="F7DDDA"/>
                </a:solidFill>
                <a:latin typeface="微软雅黑"/>
                <a:ea typeface="微软雅黑"/>
              </a:rPr>
              <a:t>库存周转</a:t>
            </a:r>
          </a:p>
        </p:txBody>
      </p:sp>
      <p:sp>
        <p:nvSpPr>
          <p:cNvPr id="31" name="Rectangle 30"/>
          <p:cNvSpPr/>
          <p:nvPr/>
        </p:nvSpPr>
        <p:spPr>
          <a:xfrm>
            <a:off x="7196328" y="5779007"/>
            <a:ext cx="12700" cy="402336"/>
          </a:xfrm>
          <a:prstGeom prst="rect">
            <a:avLst/>
          </a:prstGeom>
          <a:solidFill>
            <a:srgbClr val="D86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27464" y="5705855"/>
            <a:ext cx="2231136" cy="566928"/>
          </a:xfrm>
          <a:prstGeom prst="rect">
            <a:avLst/>
          </a:prstGeom>
          <a:noFill/>
        </p:spPr>
        <p:txBody>
          <a:bodyPr wrap="square" anchor="ctr" lIns="25400" rIns="25400" tIns="25400" bIns="25400">
            <a:spAutoFit/>
          </a:bodyPr>
          <a:lstStyle/>
          <a:p>
            <a:pPr algn="ctr"/>
            <a:r>
              <a:rPr sz="1700" b="1" i="0">
                <a:solidFill>
                  <a:srgbClr val="FFFFFF"/>
                </a:solidFill>
                <a:latin typeface="微软雅黑"/>
                <a:ea typeface="微软雅黑"/>
              </a:rPr>
              <a:t>+80%</a:t>
            </a:r>
          </a:p>
          <a:p>
            <a:pPr algn="ctr">
              <a:spcBef>
                <a:spcPts val="100"/>
              </a:spcBef>
            </a:pPr>
            <a:r>
              <a:rPr sz="1000" b="0" i="0">
                <a:solidFill>
                  <a:srgbClr val="F7DDDA"/>
                </a:solidFill>
                <a:latin typeface="微软雅黑"/>
                <a:ea typeface="微软雅黑"/>
              </a:rPr>
              <a:t>即时零售订单增</a:t>
            </a:r>
          </a:p>
        </p:txBody>
      </p:sp>
      <p:sp>
        <p:nvSpPr>
          <p:cNvPr id="33" name="Rectangle 32"/>
          <p:cNvSpPr/>
          <p:nvPr/>
        </p:nvSpPr>
        <p:spPr>
          <a:xfrm>
            <a:off x="9427464" y="5779007"/>
            <a:ext cx="12700" cy="402336"/>
          </a:xfrm>
          <a:prstGeom prst="rect">
            <a:avLst/>
          </a:prstGeom>
          <a:solidFill>
            <a:srgbClr val="D86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632704"/>
            <a:ext cx="11155680" cy="0"/>
          </a:xfrm>
          <a:prstGeom prst="rect">
            <a:avLst/>
          </a:prstGeom>
          <a:noFill/>
        </p:spPr>
        <p:txBody>
          <a:bodyPr wrap="square" anchor="t" lIns="25400" rIns="25400" tIns="25400" bIns="25400">
            <a:spAutoFit/>
          </a:bodyPr>
          <a:lstStyle/>
          <a:p/>
        </p:txBody>
      </p:sp>
      <p:sp>
        <p:nvSpPr>
          <p:cNvPr id="35" name="TextBox 34"/>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6" name="TextBox 35"/>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波特五力模型：行业竞争结构</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02</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3063239"/>
            <a:ext cx="3108960" cy="128016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3063239"/>
            <a:ext cx="3108960" cy="1280160"/>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现有竞争者</a:t>
            </a:r>
          </a:p>
          <a:p>
            <a:pPr algn="ctr">
              <a:spcBef>
                <a:spcPts val="200"/>
              </a:spcBef>
            </a:pPr>
            <a:r>
              <a:rPr sz="1300" b="1" i="0">
                <a:solidFill>
                  <a:srgbClr val="FFE080"/>
                </a:solidFill>
                <a:latin typeface="微软雅黑"/>
                <a:ea typeface="微软雅黑"/>
              </a:rPr>
              <a:t>【极强】</a:t>
            </a:r>
          </a:p>
          <a:p>
            <a:pPr algn="ctr">
              <a:lnSpc>
                <a:spcPct val="110000"/>
              </a:lnSpc>
              <a:spcBef>
                <a:spcPts val="200"/>
              </a:spcBef>
            </a:pPr>
            <a:r>
              <a:rPr sz="1050" b="0" i="0">
                <a:solidFill>
                  <a:srgbClr val="F7DDDA"/>
                </a:solidFill>
                <a:latin typeface="微软雅黑"/>
                <a:ea typeface="微软雅黑"/>
              </a:rPr>
              <a:t>零食很忙·好想来·来优品；价格战 + 门店加密 + 加盟商争夺</a:t>
            </a:r>
          </a:p>
        </p:txBody>
      </p:sp>
      <p:sp>
        <p:nvSpPr>
          <p:cNvPr id="10" name="Rectangle 9"/>
          <p:cNvSpPr/>
          <p:nvPr/>
        </p:nvSpPr>
        <p:spPr>
          <a:xfrm>
            <a:off x="4434840" y="1234440"/>
            <a:ext cx="3108960" cy="1051560"/>
          </a:xfrm>
          <a:prstGeom prst="rect">
            <a:avLst/>
          </a:prstGeom>
          <a:solidFill>
            <a:srgbClr val="FFFFFF"/>
          </a:solidFill>
          <a:ln w="25400">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234440"/>
            <a:ext cx="3108960" cy="384048"/>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234440"/>
            <a:ext cx="3108960" cy="38404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潜在进入者  </a:t>
            </a:r>
            <a:r>
              <a:rPr sz="1200" b="1" i="0">
                <a:solidFill>
                  <a:srgbClr val="FFF0C0"/>
                </a:solidFill>
                <a:latin typeface="微软雅黑"/>
                <a:ea typeface="微软雅黑"/>
              </a:rPr>
              <a:t>【中】</a:t>
            </a:r>
          </a:p>
        </p:txBody>
      </p:sp>
      <p:sp>
        <p:nvSpPr>
          <p:cNvPr id="13" name="TextBox 12"/>
          <p:cNvSpPr txBox="1"/>
          <p:nvPr/>
        </p:nvSpPr>
        <p:spPr>
          <a:xfrm>
            <a:off x="4572000" y="1691640"/>
            <a:ext cx="2834640" cy="548639"/>
          </a:xfrm>
          <a:prstGeom prst="rect">
            <a:avLst/>
          </a:prstGeom>
          <a:noFill/>
        </p:spPr>
        <p:txBody>
          <a:bodyPr wrap="square" anchor="ctr" lIns="25400" rIns="25400" tIns="25400" bIns="25400">
            <a:spAutoFit/>
          </a:bodyPr>
          <a:lstStyle/>
          <a:p>
            <a:pPr algn="ctr">
              <a:lnSpc>
                <a:spcPct val="120000"/>
              </a:lnSpc>
            </a:pPr>
            <a:r>
              <a:rPr sz="1100" b="0" i="0">
                <a:solidFill>
                  <a:srgbClr val="262626"/>
                </a:solidFill>
                <a:latin typeface="微软雅黑"/>
                <a:ea typeface="微软雅黑"/>
              </a:rPr>
              <a:t>赛道进入整合期(CR2≈鸣鸣很忙+万辰)，新品牌独立突围难；威胁来自上游(盐津/好想你)向下整合</a:t>
            </a:r>
          </a:p>
        </p:txBody>
      </p:sp>
      <p:sp>
        <p:nvSpPr>
          <p:cNvPr id="14" name="Rectangle 13"/>
          <p:cNvSpPr/>
          <p:nvPr/>
        </p:nvSpPr>
        <p:spPr>
          <a:xfrm>
            <a:off x="4434840" y="5074920"/>
            <a:ext cx="3108960" cy="1051560"/>
          </a:xfrm>
          <a:prstGeom prst="rect">
            <a:avLst/>
          </a:prstGeom>
          <a:solidFill>
            <a:srgbClr val="FFFFFF"/>
          </a:solidFill>
          <a:ln w="25400">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5074920"/>
            <a:ext cx="3108960" cy="384048"/>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5074920"/>
            <a:ext cx="3108960" cy="38404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替代品  </a:t>
            </a:r>
            <a:r>
              <a:rPr sz="1200" b="1" i="0">
                <a:solidFill>
                  <a:srgbClr val="FFF0C0"/>
                </a:solidFill>
                <a:latin typeface="微软雅黑"/>
                <a:ea typeface="微软雅黑"/>
              </a:rPr>
              <a:t>【中】</a:t>
            </a:r>
          </a:p>
        </p:txBody>
      </p:sp>
      <p:sp>
        <p:nvSpPr>
          <p:cNvPr id="17" name="TextBox 16"/>
          <p:cNvSpPr txBox="1"/>
          <p:nvPr/>
        </p:nvSpPr>
        <p:spPr>
          <a:xfrm>
            <a:off x="4572000" y="5532120"/>
            <a:ext cx="2834640" cy="548639"/>
          </a:xfrm>
          <a:prstGeom prst="rect">
            <a:avLst/>
          </a:prstGeom>
          <a:noFill/>
        </p:spPr>
        <p:txBody>
          <a:bodyPr wrap="square" anchor="ctr" lIns="25400" rIns="25400" tIns="25400" bIns="25400">
            <a:spAutoFit/>
          </a:bodyPr>
          <a:lstStyle/>
          <a:p>
            <a:pPr algn="ctr">
              <a:lnSpc>
                <a:spcPct val="120000"/>
              </a:lnSpc>
            </a:pPr>
            <a:r>
              <a:rPr sz="1100" b="0" i="0">
                <a:solidFill>
                  <a:srgbClr val="262626"/>
                </a:solidFill>
                <a:latin typeface="微软雅黑"/>
                <a:ea typeface="微软雅黑"/>
              </a:rPr>
              <a:t>传统商超/便利店/社区团购/电商替代；「多快好省」+ 5000+ 门店锁定年轻客群</a:t>
            </a:r>
          </a:p>
        </p:txBody>
      </p:sp>
      <p:sp>
        <p:nvSpPr>
          <p:cNvPr id="18" name="Rectangle 17"/>
          <p:cNvSpPr/>
          <p:nvPr/>
        </p:nvSpPr>
        <p:spPr>
          <a:xfrm>
            <a:off x="502920" y="2834639"/>
            <a:ext cx="3657600" cy="1737360"/>
          </a:xfrm>
          <a:prstGeom prst="rect">
            <a:avLst/>
          </a:prstGeom>
          <a:solidFill>
            <a:srgbClr val="FFFFFF"/>
          </a:solidFill>
          <a:ln w="25400">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834639"/>
            <a:ext cx="3657600" cy="384048"/>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834639"/>
            <a:ext cx="3657600" cy="38404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供应商议价力  </a:t>
            </a:r>
            <a:r>
              <a:rPr sz="1200" b="1" i="0">
                <a:solidFill>
                  <a:srgbClr val="FFF0C0"/>
                </a:solidFill>
                <a:latin typeface="微软雅黑"/>
                <a:ea typeface="微软雅黑"/>
              </a:rPr>
              <a:t>【弱】</a:t>
            </a:r>
          </a:p>
        </p:txBody>
      </p:sp>
      <p:sp>
        <p:nvSpPr>
          <p:cNvPr id="21" name="TextBox 20"/>
          <p:cNvSpPr txBox="1"/>
          <p:nvPr/>
        </p:nvSpPr>
        <p:spPr>
          <a:xfrm>
            <a:off x="640080" y="3291839"/>
            <a:ext cx="3383280" cy="1234439"/>
          </a:xfrm>
          <a:prstGeom prst="rect">
            <a:avLst/>
          </a:prstGeom>
          <a:noFill/>
        </p:spPr>
        <p:txBody>
          <a:bodyPr wrap="square" anchor="ctr" lIns="25400" rIns="25400" tIns="25400" bIns="25400">
            <a:spAutoFit/>
          </a:bodyPr>
          <a:lstStyle/>
          <a:p>
            <a:pPr algn="ctr">
              <a:lnSpc>
                <a:spcPct val="120000"/>
              </a:lnSpc>
            </a:pPr>
            <a:r>
              <a:rPr sz="1100" b="0" i="0">
                <a:solidFill>
                  <a:srgbClr val="262626"/>
                </a:solidFill>
                <a:latin typeface="微软雅黑"/>
                <a:ea typeface="微软雅黑"/>
              </a:rPr>
              <a:t>集团联合采购规模 → 直采占比 92.3%、议价力极强；34% SKU 为合作定制深度绑定供应商</a:t>
            </a:r>
          </a:p>
        </p:txBody>
      </p:sp>
      <p:sp>
        <p:nvSpPr>
          <p:cNvPr id="22" name="Rectangle 21"/>
          <p:cNvSpPr/>
          <p:nvPr/>
        </p:nvSpPr>
        <p:spPr>
          <a:xfrm>
            <a:off x="8028431" y="2834639"/>
            <a:ext cx="3657600" cy="1737360"/>
          </a:xfrm>
          <a:prstGeom prst="rect">
            <a:avLst/>
          </a:prstGeom>
          <a:solidFill>
            <a:srgbClr val="FFFFFF"/>
          </a:solidFill>
          <a:ln w="25400">
            <a:solidFill>
              <a:srgbClr val="F2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28431" y="2834639"/>
            <a:ext cx="3657600" cy="384048"/>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1" y="2834639"/>
            <a:ext cx="3657600" cy="38404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购买者议价力  </a:t>
            </a:r>
            <a:r>
              <a:rPr sz="1200" b="1" i="0">
                <a:solidFill>
                  <a:srgbClr val="FFF0C0"/>
                </a:solidFill>
                <a:latin typeface="微软雅黑"/>
                <a:ea typeface="微软雅黑"/>
              </a:rPr>
              <a:t>【中/弱】</a:t>
            </a:r>
          </a:p>
        </p:txBody>
      </p:sp>
      <p:sp>
        <p:nvSpPr>
          <p:cNvPr id="25" name="TextBox 24"/>
          <p:cNvSpPr txBox="1"/>
          <p:nvPr/>
        </p:nvSpPr>
        <p:spPr>
          <a:xfrm>
            <a:off x="8165592" y="3291839"/>
            <a:ext cx="3383280" cy="1234439"/>
          </a:xfrm>
          <a:prstGeom prst="rect">
            <a:avLst/>
          </a:prstGeom>
          <a:noFill/>
        </p:spPr>
        <p:txBody>
          <a:bodyPr wrap="square" anchor="ctr" lIns="25400" rIns="25400" tIns="25400" bIns="25400">
            <a:spAutoFit/>
          </a:bodyPr>
          <a:lstStyle/>
          <a:p>
            <a:pPr algn="ctr">
              <a:lnSpc>
                <a:spcPct val="120000"/>
              </a:lnSpc>
            </a:pPr>
            <a:r>
              <a:rPr sz="1100" b="0" i="0">
                <a:solidFill>
                  <a:srgbClr val="262626"/>
                </a:solidFill>
                <a:latin typeface="微软雅黑"/>
                <a:ea typeface="微软雅黑"/>
              </a:rPr>
              <a:t>消费者价格敏感但复购率达 75%；加盟商高度依赖品牌、单体无议价力，但可转投竞品</a:t>
            </a:r>
          </a:p>
        </p:txBody>
      </p:sp>
      <p:cxnSp>
        <p:nvCxnSpPr>
          <p:cNvPr id="26" name="Connector 25"/>
          <p:cNvCxnSpPr/>
          <p:nvPr/>
        </p:nvCxnSpPr>
        <p:spPr>
          <a:xfrm>
            <a:off x="5989320" y="2286000"/>
            <a:ext cx="0" cy="749808"/>
          </a:xfrm>
          <a:prstGeom prst="bentConnector3">
            <a:avLst/>
          </a:prstGeom>
          <a:ln w="1905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89320" y="4370832"/>
            <a:ext cx="0" cy="658368"/>
          </a:xfrm>
          <a:prstGeom prst="bentConnector3">
            <a:avLst/>
          </a:prstGeom>
          <a:ln w="1905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160520" y="3703320"/>
            <a:ext cx="274320" cy="0"/>
          </a:xfrm>
          <a:prstGeom prst="bentConnector3">
            <a:avLst/>
          </a:prstGeom>
          <a:ln w="1905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26679" y="3703320"/>
            <a:ext cx="301752" cy="0"/>
          </a:xfrm>
          <a:prstGeom prst="bentConnector3">
            <a:avLst/>
          </a:prstGeom>
          <a:ln w="1905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1" name="TextBox 30"/>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SWOT 分析</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02</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34440"/>
            <a:ext cx="5486400" cy="45720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5120640" cy="457200"/>
          </a:xfrm>
          <a:prstGeom prst="rect">
            <a:avLst/>
          </a:prstGeom>
          <a:noFill/>
        </p:spPr>
        <p:txBody>
          <a:bodyPr wrap="square" anchor="ctr" lIns="25400" rIns="25400" tIns="25400" bIns="25400">
            <a:spAutoFit/>
          </a:bodyPr>
          <a:lstStyle/>
          <a:p>
            <a:pPr algn="l"/>
            <a:r>
              <a:rPr sz="1600" b="1" i="0">
                <a:solidFill>
                  <a:srgbClr val="FFFFFF"/>
                </a:solidFill>
                <a:latin typeface="微软雅黑"/>
                <a:ea typeface="微软雅黑"/>
              </a:rPr>
              <a:t>S 优势</a:t>
            </a:r>
          </a:p>
        </p:txBody>
      </p:sp>
      <p:sp>
        <p:nvSpPr>
          <p:cNvPr id="11" name="TextBox 10"/>
          <p:cNvSpPr txBox="1"/>
          <p:nvPr/>
        </p:nvSpPr>
        <p:spPr>
          <a:xfrm>
            <a:off x="731520" y="1801368"/>
            <a:ext cx="5029200" cy="1600200"/>
          </a:xfrm>
          <a:prstGeom prst="rect">
            <a:avLst/>
          </a:prstGeom>
          <a:noFill/>
        </p:spPr>
        <p:txBody>
          <a:bodyPr wrap="square" anchor="t" lIns="25400" rIns="25400" tIns="25400" bIns="25400">
            <a:spAutoFit/>
          </a:bodyPr>
          <a:lstStyle/>
          <a:p>
            <a:pPr algn="l">
              <a:lnSpc>
                <a:spcPct val="115000"/>
              </a:lnSpc>
              <a:spcAft>
                <a:spcPts val="400"/>
              </a:spcAft>
            </a:pPr>
            <a:r>
              <a:rPr sz="1150" b="1" i="0">
                <a:solidFill>
                  <a:srgbClr val="2E8B76"/>
                </a:solidFill>
                <a:latin typeface="微软雅黑"/>
                <a:ea typeface="微软雅黑"/>
              </a:rPr>
              <a:t>• </a:t>
            </a:r>
            <a:r>
              <a:rPr sz="1150" b="0" i="0">
                <a:solidFill>
                  <a:srgbClr val="262626"/>
                </a:solidFill>
                <a:latin typeface="微软雅黑"/>
                <a:ea typeface="微软雅黑"/>
              </a:rPr>
              <a:t>集团赋能：供应链/数字化/资本/品牌营销，增速远超独立发展</a:t>
            </a:r>
          </a:p>
          <a:p>
            <a:pPr algn="l">
              <a:lnSpc>
                <a:spcPct val="115000"/>
              </a:lnSpc>
              <a:spcAft>
                <a:spcPts val="400"/>
              </a:spcAft>
            </a:pPr>
            <a:r>
              <a:rPr sz="1150" b="1" i="0">
                <a:solidFill>
                  <a:srgbClr val="2E8B76"/>
                </a:solidFill>
                <a:latin typeface="微软雅黑"/>
                <a:ea typeface="微软雅黑"/>
              </a:rPr>
              <a:t>• </a:t>
            </a:r>
            <a:r>
              <a:rPr sz="1150" b="0" i="0">
                <a:solidFill>
                  <a:srgbClr val="262626"/>
                </a:solidFill>
                <a:latin typeface="微软雅黑"/>
                <a:ea typeface="微软雅黑"/>
              </a:rPr>
              <a:t>独立品牌认知：华北、江西消费者基础与加盟网络深厚</a:t>
            </a:r>
          </a:p>
          <a:p>
            <a:pPr algn="l">
              <a:lnSpc>
                <a:spcPct val="115000"/>
              </a:lnSpc>
              <a:spcAft>
                <a:spcPts val="400"/>
              </a:spcAft>
            </a:pPr>
            <a:r>
              <a:rPr sz="1150" b="1" i="0">
                <a:solidFill>
                  <a:srgbClr val="2E8B76"/>
                </a:solidFill>
                <a:latin typeface="微软雅黑"/>
                <a:ea typeface="微软雅黑"/>
              </a:rPr>
              <a:t>• </a:t>
            </a:r>
            <a:r>
              <a:rPr sz="1150" b="0" i="0">
                <a:solidFill>
                  <a:srgbClr val="262626"/>
                </a:solidFill>
                <a:latin typeface="微软雅黑"/>
                <a:ea typeface="微软雅黑"/>
              </a:rPr>
              <a:t>盈利跃升：毛利率 5.6%→9.7%，单店模型优化</a:t>
            </a:r>
          </a:p>
          <a:p>
            <a:pPr algn="l">
              <a:lnSpc>
                <a:spcPct val="115000"/>
              </a:lnSpc>
              <a:spcAft>
                <a:spcPts val="400"/>
              </a:spcAft>
            </a:pPr>
            <a:r>
              <a:rPr sz="1150" b="1" i="0">
                <a:solidFill>
                  <a:srgbClr val="2E8B76"/>
                </a:solidFill>
                <a:latin typeface="微软雅黑"/>
                <a:ea typeface="微软雅黑"/>
              </a:rPr>
              <a:t>• </a:t>
            </a:r>
            <a:r>
              <a:rPr sz="1150" b="0" i="0">
                <a:solidFill>
                  <a:srgbClr val="262626"/>
                </a:solidFill>
                <a:latin typeface="微软雅黑"/>
                <a:ea typeface="微软雅黑"/>
              </a:rPr>
              <a:t>地域互补：与零食很忙形成南北错位，减少内耗</a:t>
            </a:r>
          </a:p>
        </p:txBody>
      </p:sp>
      <p:sp>
        <p:nvSpPr>
          <p:cNvPr id="12" name="Rectangle 11"/>
          <p:cNvSpPr/>
          <p:nvPr/>
        </p:nvSpPr>
        <p:spPr>
          <a:xfrm>
            <a:off x="6199632" y="123444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234440"/>
            <a:ext cx="5486400" cy="45720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234440"/>
            <a:ext cx="5120640" cy="457200"/>
          </a:xfrm>
          <a:prstGeom prst="rect">
            <a:avLst/>
          </a:prstGeom>
          <a:noFill/>
        </p:spPr>
        <p:txBody>
          <a:bodyPr wrap="square" anchor="ctr" lIns="25400" rIns="25400" tIns="25400" bIns="25400">
            <a:spAutoFit/>
          </a:bodyPr>
          <a:lstStyle/>
          <a:p>
            <a:pPr algn="l"/>
            <a:r>
              <a:rPr sz="1600" b="1" i="0">
                <a:solidFill>
                  <a:srgbClr val="FFFFFF"/>
                </a:solidFill>
                <a:latin typeface="微软雅黑"/>
                <a:ea typeface="微软雅黑"/>
              </a:rPr>
              <a:t>W 劣势</a:t>
            </a:r>
          </a:p>
        </p:txBody>
      </p:sp>
      <p:sp>
        <p:nvSpPr>
          <p:cNvPr id="15" name="TextBox 14"/>
          <p:cNvSpPr txBox="1"/>
          <p:nvPr/>
        </p:nvSpPr>
        <p:spPr>
          <a:xfrm>
            <a:off x="6428232" y="1801368"/>
            <a:ext cx="5029200" cy="1600200"/>
          </a:xfrm>
          <a:prstGeom prst="rect">
            <a:avLst/>
          </a:prstGeom>
          <a:noFill/>
        </p:spPr>
        <p:txBody>
          <a:bodyPr wrap="square" anchor="t" lIns="25400" rIns="25400" tIns="25400" bIns="25400">
            <a:spAutoFit/>
          </a:bodyPr>
          <a:lstStyle/>
          <a:p>
            <a:pPr algn="l">
              <a:lnSpc>
                <a:spcPct val="115000"/>
              </a:lnSpc>
              <a:spcAft>
                <a:spcPts val="400"/>
              </a:spcAft>
            </a:pPr>
            <a:r>
              <a:rPr sz="1150" b="1" i="0">
                <a:solidFill>
                  <a:srgbClr val="E37E1B"/>
                </a:solidFill>
                <a:latin typeface="微软雅黑"/>
                <a:ea typeface="微软雅黑"/>
              </a:rPr>
              <a:t>• </a:t>
            </a:r>
            <a:r>
              <a:rPr sz="1150" b="0" i="0">
                <a:solidFill>
                  <a:srgbClr val="262626"/>
                </a:solidFill>
                <a:latin typeface="微软雅黑"/>
                <a:ea typeface="微软雅黑"/>
              </a:rPr>
              <a:t>全国品牌力弱于零食很忙（如湖南大本营影响力较弱）</a:t>
            </a:r>
          </a:p>
          <a:p>
            <a:pPr algn="l">
              <a:lnSpc>
                <a:spcPct val="115000"/>
              </a:lnSpc>
              <a:spcAft>
                <a:spcPts val="400"/>
              </a:spcAft>
            </a:pPr>
            <a:r>
              <a:rPr sz="1150" b="1" i="0">
                <a:solidFill>
                  <a:srgbClr val="E37E1B"/>
                </a:solidFill>
                <a:latin typeface="微软雅黑"/>
                <a:ea typeface="微软雅黑"/>
              </a:rPr>
              <a:t>• </a:t>
            </a:r>
            <a:r>
              <a:rPr sz="1150" b="0" i="0">
                <a:solidFill>
                  <a:srgbClr val="262626"/>
                </a:solidFill>
                <a:latin typeface="微软雅黑"/>
                <a:ea typeface="微软雅黑"/>
              </a:rPr>
              <a:t>历史管理遗留：早期「非独立加盟商」反映加盟体系不规范</a:t>
            </a:r>
          </a:p>
          <a:p>
            <a:pPr algn="l">
              <a:lnSpc>
                <a:spcPct val="115000"/>
              </a:lnSpc>
              <a:spcAft>
                <a:spcPts val="400"/>
              </a:spcAft>
            </a:pPr>
            <a:r>
              <a:rPr sz="1150" b="1" i="0">
                <a:solidFill>
                  <a:srgbClr val="E37E1B"/>
                </a:solidFill>
                <a:latin typeface="微软雅黑"/>
                <a:ea typeface="微软雅黑"/>
              </a:rPr>
              <a:t>• </a:t>
            </a:r>
            <a:r>
              <a:rPr sz="1150" b="0" i="0">
                <a:solidFill>
                  <a:srgbClr val="262626"/>
                </a:solidFill>
                <a:latin typeface="微软雅黑"/>
                <a:ea typeface="微软雅黑"/>
              </a:rPr>
              <a:t>战略/供应链/数字化完全依赖集团，自主权有限</a:t>
            </a:r>
          </a:p>
        </p:txBody>
      </p:sp>
      <p:sp>
        <p:nvSpPr>
          <p:cNvPr id="16" name="Rectangle 15"/>
          <p:cNvSpPr/>
          <p:nvPr/>
        </p:nvSpPr>
        <p:spPr>
          <a:xfrm>
            <a:off x="502920" y="361188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611880"/>
            <a:ext cx="5486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611880"/>
            <a:ext cx="5120640" cy="457200"/>
          </a:xfrm>
          <a:prstGeom prst="rect">
            <a:avLst/>
          </a:prstGeom>
          <a:noFill/>
        </p:spPr>
        <p:txBody>
          <a:bodyPr wrap="square" anchor="ctr" lIns="25400" rIns="25400" tIns="25400" bIns="25400">
            <a:spAutoFit/>
          </a:bodyPr>
          <a:lstStyle/>
          <a:p>
            <a:pPr algn="l"/>
            <a:r>
              <a:rPr sz="1600" b="1" i="0">
                <a:solidFill>
                  <a:srgbClr val="FFFFFF"/>
                </a:solidFill>
                <a:latin typeface="微软雅黑"/>
                <a:ea typeface="微软雅黑"/>
              </a:rPr>
              <a:t>O 机会</a:t>
            </a:r>
          </a:p>
        </p:txBody>
      </p:sp>
      <p:sp>
        <p:nvSpPr>
          <p:cNvPr id="19" name="TextBox 18"/>
          <p:cNvSpPr txBox="1"/>
          <p:nvPr/>
        </p:nvSpPr>
        <p:spPr>
          <a:xfrm>
            <a:off x="731520" y="4178808"/>
            <a:ext cx="5029200" cy="1600200"/>
          </a:xfrm>
          <a:prstGeom prst="rect">
            <a:avLst/>
          </a:prstGeom>
          <a:noFill/>
        </p:spPr>
        <p:txBody>
          <a:bodyPr wrap="square" anchor="t" lIns="25400" rIns="25400" tIns="25400" bIns="25400">
            <a:spAutoFit/>
          </a:bodyPr>
          <a:lstStyle/>
          <a:p>
            <a:pPr algn="l">
              <a:lnSpc>
                <a:spcPct val="115000"/>
              </a:lnSpc>
              <a:spcAft>
                <a:spcPts val="400"/>
              </a:spcAft>
            </a:pPr>
            <a:r>
              <a:rPr sz="1150" b="1" i="0">
                <a:solidFill>
                  <a:srgbClr val="2C5F8A"/>
                </a:solidFill>
                <a:latin typeface="微软雅黑"/>
                <a:ea typeface="微软雅黑"/>
              </a:rPr>
              <a:t>• </a:t>
            </a:r>
            <a:r>
              <a:rPr sz="1150" b="0" i="0">
                <a:solidFill>
                  <a:srgbClr val="262626"/>
                </a:solidFill>
                <a:latin typeface="微软雅黑"/>
                <a:ea typeface="微软雅黑"/>
              </a:rPr>
              <a:t>全国化扩张：借上市资金向华东/华南/西南空白市场拓展</a:t>
            </a:r>
          </a:p>
          <a:p>
            <a:pPr algn="l">
              <a:lnSpc>
                <a:spcPct val="115000"/>
              </a:lnSpc>
              <a:spcAft>
                <a:spcPts val="400"/>
              </a:spcAft>
            </a:pPr>
            <a:r>
              <a:rPr sz="1150" b="1" i="0">
                <a:solidFill>
                  <a:srgbClr val="2C5F8A"/>
                </a:solidFill>
                <a:latin typeface="微软雅黑"/>
                <a:ea typeface="微软雅黑"/>
              </a:rPr>
              <a:t>• </a:t>
            </a:r>
            <a:r>
              <a:rPr sz="1150" b="0" i="0">
                <a:solidFill>
                  <a:srgbClr val="262626"/>
                </a:solidFill>
                <a:latin typeface="微软雅黑"/>
                <a:ea typeface="微软雅黑"/>
              </a:rPr>
              <a:t>承接集团资源倾斜（占集团收入 58.4%）</a:t>
            </a:r>
          </a:p>
          <a:p>
            <a:pPr algn="l">
              <a:lnSpc>
                <a:spcPct val="115000"/>
              </a:lnSpc>
              <a:spcAft>
                <a:spcPts val="400"/>
              </a:spcAft>
            </a:pPr>
            <a:r>
              <a:rPr sz="1150" b="1" i="0">
                <a:solidFill>
                  <a:srgbClr val="2C5F8A"/>
                </a:solidFill>
                <a:latin typeface="微软雅黑"/>
                <a:ea typeface="微软雅黑"/>
              </a:rPr>
              <a:t>• </a:t>
            </a:r>
            <a:r>
              <a:rPr sz="1150" b="0" i="0">
                <a:solidFill>
                  <a:srgbClr val="262626"/>
                </a:solidFill>
                <a:latin typeface="微软雅黑"/>
                <a:ea typeface="微软雅黑"/>
              </a:rPr>
              <a:t>北方下沉市场竞争较缓，可快速加密构筑护城河</a:t>
            </a:r>
          </a:p>
        </p:txBody>
      </p:sp>
      <p:sp>
        <p:nvSpPr>
          <p:cNvPr id="20" name="Rectangle 19"/>
          <p:cNvSpPr/>
          <p:nvPr/>
        </p:nvSpPr>
        <p:spPr>
          <a:xfrm>
            <a:off x="6199632" y="361188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611880"/>
            <a:ext cx="548640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3611880"/>
            <a:ext cx="5120640" cy="457200"/>
          </a:xfrm>
          <a:prstGeom prst="rect">
            <a:avLst/>
          </a:prstGeom>
          <a:noFill/>
        </p:spPr>
        <p:txBody>
          <a:bodyPr wrap="square" anchor="ctr" lIns="25400" rIns="25400" tIns="25400" bIns="25400">
            <a:spAutoFit/>
          </a:bodyPr>
          <a:lstStyle/>
          <a:p>
            <a:pPr algn="l"/>
            <a:r>
              <a:rPr sz="1600" b="1" i="0">
                <a:solidFill>
                  <a:srgbClr val="FFFFFF"/>
                </a:solidFill>
                <a:latin typeface="微软雅黑"/>
                <a:ea typeface="微软雅黑"/>
              </a:rPr>
              <a:t>T 威胁</a:t>
            </a:r>
          </a:p>
        </p:txBody>
      </p:sp>
      <p:sp>
        <p:nvSpPr>
          <p:cNvPr id="23" name="TextBox 22"/>
          <p:cNvSpPr txBox="1"/>
          <p:nvPr/>
        </p:nvSpPr>
        <p:spPr>
          <a:xfrm>
            <a:off x="6428232" y="4178808"/>
            <a:ext cx="5029200" cy="1600200"/>
          </a:xfrm>
          <a:prstGeom prst="rect">
            <a:avLst/>
          </a:prstGeom>
          <a:noFill/>
        </p:spPr>
        <p:txBody>
          <a:bodyPr wrap="square" anchor="t" lIns="25400" rIns="25400" tIns="25400" bIns="25400">
            <a:spAutoFit/>
          </a:bodyPr>
          <a:lstStyle/>
          <a:p>
            <a:pPr algn="l">
              <a:lnSpc>
                <a:spcPct val="115000"/>
              </a:lnSpc>
              <a:spcAft>
                <a:spcPts val="400"/>
              </a:spcAft>
            </a:pPr>
            <a:r>
              <a:rPr sz="1150" b="1" i="0">
                <a:solidFill>
                  <a:srgbClr val="C01A22"/>
                </a:solidFill>
                <a:latin typeface="微软雅黑"/>
                <a:ea typeface="微软雅黑"/>
              </a:rPr>
              <a:t>• </a:t>
            </a:r>
            <a:r>
              <a:rPr sz="1150" b="0" i="0">
                <a:solidFill>
                  <a:srgbClr val="262626"/>
                </a:solidFill>
                <a:latin typeface="微软雅黑"/>
                <a:ea typeface="微软雅黑"/>
              </a:rPr>
              <a:t>与零食很忙未来在同区域直接竞争不可避免</a:t>
            </a:r>
          </a:p>
          <a:p>
            <a:pPr algn="l">
              <a:lnSpc>
                <a:spcPct val="115000"/>
              </a:lnSpc>
              <a:spcAft>
                <a:spcPts val="400"/>
              </a:spcAft>
            </a:pPr>
            <a:r>
              <a:rPr sz="1150" b="1" i="0">
                <a:solidFill>
                  <a:srgbClr val="C01A22"/>
                </a:solidFill>
                <a:latin typeface="微软雅黑"/>
                <a:ea typeface="微软雅黑"/>
              </a:rPr>
              <a:t>• </a:t>
            </a:r>
            <a:r>
              <a:rPr sz="1150" b="0" i="0">
                <a:solidFill>
                  <a:srgbClr val="262626"/>
                </a:solidFill>
                <a:latin typeface="微软雅黑"/>
                <a:ea typeface="微软雅黑"/>
              </a:rPr>
              <a:t>加盟商忠诚度考验：盈利不及预期或倒戈竞品</a:t>
            </a:r>
          </a:p>
          <a:p>
            <a:pPr algn="l">
              <a:lnSpc>
                <a:spcPct val="115000"/>
              </a:lnSpc>
              <a:spcAft>
                <a:spcPts val="400"/>
              </a:spcAft>
            </a:pPr>
            <a:r>
              <a:rPr sz="1150" b="1" i="0">
                <a:solidFill>
                  <a:srgbClr val="C01A22"/>
                </a:solidFill>
                <a:latin typeface="微软雅黑"/>
                <a:ea typeface="微软雅黑"/>
              </a:rPr>
              <a:t>• </a:t>
            </a:r>
            <a:r>
              <a:rPr sz="1150" b="0" i="0">
                <a:solidFill>
                  <a:srgbClr val="262626"/>
                </a:solidFill>
                <a:latin typeface="微软雅黑"/>
                <a:ea typeface="微软雅黑"/>
              </a:rPr>
              <a:t>门店庞大且以加盟为主，单店食安事件易波及品牌声誉</a:t>
            </a:r>
          </a:p>
        </p:txBody>
      </p:sp>
      <p:sp>
        <p:nvSpPr>
          <p:cNvPr id="24" name="TextBox 23"/>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5" name="TextBox 24"/>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SWOT 战略矩阵：从分析推导战略</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02</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15568"/>
            <a:ext cx="11155680" cy="457200"/>
          </a:xfrm>
          <a:prstGeom prst="rect">
            <a:avLst/>
          </a:prstGeom>
          <a:noFill/>
        </p:spPr>
        <p:txBody>
          <a:bodyPr wrap="square" anchor="t" lIns="25400" rIns="25400" tIns="25400" bIns="25400">
            <a:spAutoFit/>
          </a:bodyPr>
          <a:lstStyle/>
          <a:p>
            <a:pPr algn="l">
              <a:lnSpc>
                <a:spcPct val="125000"/>
              </a:lnSpc>
            </a:pPr>
            <a:r>
              <a:rPr sz="1300" b="0" i="0">
                <a:solidFill>
                  <a:srgbClr val="262626"/>
                </a:solidFill>
                <a:latin typeface="微软雅黑"/>
                <a:ea typeface="微软雅黑"/>
              </a:rPr>
              <a:t>将内部优劣势与外部机会威胁交叉匹配，推导 SO/ST/WO/WT 四类战略，收敛为企业整体战略——这是「先分析、后战略」的关键一步。</a:t>
            </a:r>
          </a:p>
        </p:txBody>
      </p:sp>
      <p:sp>
        <p:nvSpPr>
          <p:cNvPr id="9" name="Rectangle 8"/>
          <p:cNvSpPr/>
          <p:nvPr/>
        </p:nvSpPr>
        <p:spPr>
          <a:xfrm>
            <a:off x="502920" y="1783080"/>
            <a:ext cx="1325880" cy="50292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83080"/>
            <a:ext cx="1325880" cy="50292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内部＼外部</a:t>
            </a:r>
          </a:p>
        </p:txBody>
      </p:sp>
      <p:sp>
        <p:nvSpPr>
          <p:cNvPr id="11" name="Rectangle 10"/>
          <p:cNvSpPr/>
          <p:nvPr/>
        </p:nvSpPr>
        <p:spPr>
          <a:xfrm>
            <a:off x="1828800" y="1783080"/>
            <a:ext cx="4160520" cy="50292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783080"/>
            <a:ext cx="4160520" cy="502920"/>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机会 O</a:t>
            </a:r>
          </a:p>
        </p:txBody>
      </p:sp>
      <p:sp>
        <p:nvSpPr>
          <p:cNvPr id="13" name="Rectangle 12"/>
          <p:cNvSpPr/>
          <p:nvPr/>
        </p:nvSpPr>
        <p:spPr>
          <a:xfrm>
            <a:off x="5989320" y="1783080"/>
            <a:ext cx="4160520" cy="50292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1783080"/>
            <a:ext cx="4160520" cy="502920"/>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威胁 T</a:t>
            </a:r>
          </a:p>
        </p:txBody>
      </p:sp>
      <p:sp>
        <p:nvSpPr>
          <p:cNvPr id="15" name="Rectangle 14"/>
          <p:cNvSpPr/>
          <p:nvPr/>
        </p:nvSpPr>
        <p:spPr>
          <a:xfrm>
            <a:off x="502920" y="2286000"/>
            <a:ext cx="1325880" cy="1664208"/>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286000"/>
            <a:ext cx="1325880" cy="166420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优势 S</a:t>
            </a:r>
          </a:p>
        </p:txBody>
      </p:sp>
      <p:sp>
        <p:nvSpPr>
          <p:cNvPr id="17" name="Rectangle 16"/>
          <p:cNvSpPr/>
          <p:nvPr/>
        </p:nvSpPr>
        <p:spPr>
          <a:xfrm>
            <a:off x="502920" y="3950208"/>
            <a:ext cx="1325880" cy="1664208"/>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950208"/>
            <a:ext cx="1325880" cy="1664208"/>
          </a:xfrm>
          <a:prstGeom prst="rect">
            <a:avLst/>
          </a:prstGeom>
          <a:noFill/>
        </p:spPr>
        <p:txBody>
          <a:bodyPr wrap="square" anchor="ctr" lIns="25400" rIns="25400" tIns="25400" bIns="25400">
            <a:spAutoFit/>
          </a:bodyPr>
          <a:lstStyle/>
          <a:p>
            <a:pPr algn="ctr"/>
            <a:r>
              <a:rPr sz="1400" b="1" i="0">
                <a:solidFill>
                  <a:srgbClr val="FFFFFF"/>
                </a:solidFill>
                <a:latin typeface="微软雅黑"/>
                <a:ea typeface="微软雅黑"/>
              </a:rPr>
              <a:t>劣势 W</a:t>
            </a:r>
          </a:p>
        </p:txBody>
      </p:sp>
      <p:sp>
        <p:nvSpPr>
          <p:cNvPr id="19" name="Rectangle 18"/>
          <p:cNvSpPr/>
          <p:nvPr/>
        </p:nvSpPr>
        <p:spPr>
          <a:xfrm>
            <a:off x="1828800" y="2286000"/>
            <a:ext cx="4160520" cy="1664208"/>
          </a:xfrm>
          <a:prstGeom prst="rect">
            <a:avLst/>
          </a:prstGeom>
          <a:solidFill>
            <a:srgbClr val="FFFFFF"/>
          </a:solidFill>
          <a:ln w="15875">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65960" y="2377440"/>
            <a:ext cx="3886200" cy="1481328"/>
          </a:xfrm>
          <a:prstGeom prst="rect">
            <a:avLst/>
          </a:prstGeom>
          <a:noFill/>
        </p:spPr>
        <p:txBody>
          <a:bodyPr wrap="square" anchor="t" lIns="25400" rIns="25400" tIns="25400" bIns="25400">
            <a:spAutoFit/>
          </a:bodyPr>
          <a:lstStyle/>
          <a:p>
            <a:pPr algn="l">
              <a:spcAft>
                <a:spcPts val="500"/>
              </a:spcAft>
            </a:pPr>
            <a:r>
              <a:rPr sz="1300" b="1" i="0">
                <a:solidFill>
                  <a:srgbClr val="2E8B76"/>
                </a:solidFill>
                <a:latin typeface="微软雅黑"/>
                <a:ea typeface="微软雅黑"/>
              </a:rPr>
              <a:t>SO 增长型战略（进攻）</a:t>
            </a:r>
          </a:p>
          <a:p>
            <a:pPr algn="l">
              <a:lnSpc>
                <a:spcPct val="125000"/>
              </a:lnSpc>
            </a:pPr>
            <a:r>
              <a:rPr sz="1150" b="0" i="0">
                <a:solidFill>
                  <a:srgbClr val="262626"/>
                </a:solidFill>
                <a:latin typeface="微软雅黑"/>
                <a:ea typeface="微软雅黑"/>
              </a:rPr>
              <a:t>用集团赋能 + 区域品牌优势，抢抓全国化与北方下沉机会：加速门店扩张、承接集团资源、规模深耕。</a:t>
            </a:r>
          </a:p>
        </p:txBody>
      </p:sp>
      <p:sp>
        <p:nvSpPr>
          <p:cNvPr id="21" name="Rectangle 20"/>
          <p:cNvSpPr/>
          <p:nvPr/>
        </p:nvSpPr>
        <p:spPr>
          <a:xfrm>
            <a:off x="5989320" y="2286000"/>
            <a:ext cx="4160520" cy="1664208"/>
          </a:xfrm>
          <a:prstGeom prst="rect">
            <a:avLst/>
          </a:prstGeom>
          <a:solidFill>
            <a:srgbClr val="FFFFFF"/>
          </a:solidFill>
          <a:ln w="15875">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2377440"/>
            <a:ext cx="3886200" cy="1481328"/>
          </a:xfrm>
          <a:prstGeom prst="rect">
            <a:avLst/>
          </a:prstGeom>
          <a:noFill/>
        </p:spPr>
        <p:txBody>
          <a:bodyPr wrap="square" anchor="t" lIns="25400" rIns="25400" tIns="25400" bIns="25400">
            <a:spAutoFit/>
          </a:bodyPr>
          <a:lstStyle/>
          <a:p>
            <a:pPr algn="l">
              <a:spcAft>
                <a:spcPts val="500"/>
              </a:spcAft>
            </a:pPr>
            <a:r>
              <a:rPr sz="1300" b="1" i="0">
                <a:solidFill>
                  <a:srgbClr val="C01A22"/>
                </a:solidFill>
                <a:latin typeface="微软雅黑"/>
                <a:ea typeface="微软雅黑"/>
              </a:rPr>
              <a:t>ST 多元化战略（防御）</a:t>
            </a:r>
          </a:p>
          <a:p>
            <a:pPr algn="l">
              <a:lnSpc>
                <a:spcPct val="125000"/>
              </a:lnSpc>
            </a:pPr>
            <a:r>
              <a:rPr sz="1150" b="0" i="0">
                <a:solidFill>
                  <a:srgbClr val="262626"/>
                </a:solidFill>
                <a:latin typeface="微软雅黑"/>
                <a:ea typeface="微软雅黑"/>
              </a:rPr>
              <a:t>以成本与供应链优势应对竞争与替代：发力自有品牌差异化、与零食很忙区域错位、强化食安管控。</a:t>
            </a:r>
          </a:p>
        </p:txBody>
      </p:sp>
      <p:sp>
        <p:nvSpPr>
          <p:cNvPr id="23" name="Rectangle 22"/>
          <p:cNvSpPr/>
          <p:nvPr/>
        </p:nvSpPr>
        <p:spPr>
          <a:xfrm>
            <a:off x="1828800" y="3950208"/>
            <a:ext cx="4160520" cy="1664208"/>
          </a:xfrm>
          <a:prstGeom prst="rect">
            <a:avLst/>
          </a:prstGeom>
          <a:solidFill>
            <a:srgbClr val="FFFFFF"/>
          </a:solidFill>
          <a:ln w="15875">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0" y="4041648"/>
            <a:ext cx="3886200" cy="1481328"/>
          </a:xfrm>
          <a:prstGeom prst="rect">
            <a:avLst/>
          </a:prstGeom>
          <a:noFill/>
        </p:spPr>
        <p:txBody>
          <a:bodyPr wrap="square" anchor="t" lIns="25400" rIns="25400" tIns="25400" bIns="25400">
            <a:spAutoFit/>
          </a:bodyPr>
          <a:lstStyle/>
          <a:p>
            <a:pPr algn="l">
              <a:spcAft>
                <a:spcPts val="500"/>
              </a:spcAft>
            </a:pPr>
            <a:r>
              <a:rPr sz="1300" b="1" i="0">
                <a:solidFill>
                  <a:srgbClr val="2C5F8A"/>
                </a:solidFill>
                <a:latin typeface="微软雅黑"/>
                <a:ea typeface="微软雅黑"/>
              </a:rPr>
              <a:t>WO 扭转型战略</a:t>
            </a:r>
          </a:p>
          <a:p>
            <a:pPr algn="l">
              <a:lnSpc>
                <a:spcPct val="125000"/>
              </a:lnSpc>
            </a:pPr>
            <a:r>
              <a:rPr sz="1150" b="0" i="0">
                <a:solidFill>
                  <a:srgbClr val="262626"/>
                </a:solidFill>
                <a:latin typeface="微软雅黑"/>
                <a:ea typeface="微软雅黑"/>
              </a:rPr>
              <a:t>补品牌与管理短板抓机会：借上市资本提升北方/全国品牌力、规范加盟体系、提升单店盈利模型。</a:t>
            </a:r>
          </a:p>
        </p:txBody>
      </p:sp>
      <p:sp>
        <p:nvSpPr>
          <p:cNvPr id="25" name="Rectangle 24"/>
          <p:cNvSpPr/>
          <p:nvPr/>
        </p:nvSpPr>
        <p:spPr>
          <a:xfrm>
            <a:off x="5989320" y="3950208"/>
            <a:ext cx="4160520" cy="1664208"/>
          </a:xfrm>
          <a:prstGeom prst="rect">
            <a:avLst/>
          </a:prstGeom>
          <a:solidFill>
            <a:srgbClr val="FFFFFF"/>
          </a:solidFill>
          <a:ln w="15875">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0" y="4041648"/>
            <a:ext cx="3886200" cy="1481328"/>
          </a:xfrm>
          <a:prstGeom prst="rect">
            <a:avLst/>
          </a:prstGeom>
          <a:noFill/>
        </p:spPr>
        <p:txBody>
          <a:bodyPr wrap="square" anchor="t" lIns="25400" rIns="25400" tIns="25400" bIns="25400">
            <a:spAutoFit/>
          </a:bodyPr>
          <a:lstStyle/>
          <a:p>
            <a:pPr algn="l">
              <a:spcAft>
                <a:spcPts val="500"/>
              </a:spcAft>
            </a:pPr>
            <a:r>
              <a:rPr sz="1300" b="1" i="0">
                <a:solidFill>
                  <a:srgbClr val="E37E1B"/>
                </a:solidFill>
                <a:latin typeface="微软雅黑"/>
                <a:ea typeface="微软雅黑"/>
              </a:rPr>
              <a:t>WT 防御型战略</a:t>
            </a:r>
          </a:p>
          <a:p>
            <a:pPr algn="l">
              <a:lnSpc>
                <a:spcPct val="125000"/>
              </a:lnSpc>
            </a:pPr>
            <a:r>
              <a:rPr sz="1150" b="0" i="0">
                <a:solidFill>
                  <a:srgbClr val="262626"/>
                </a:solidFill>
                <a:latin typeface="微软雅黑"/>
                <a:ea typeface="微软雅黑"/>
              </a:rPr>
              <a:t>降风险、守底线：标准化加盟管控防食安连锁风险、平衡双品牌竞合、强化加盟商赋能稳忠诚度。</a:t>
            </a:r>
          </a:p>
        </p:txBody>
      </p:sp>
      <p:sp>
        <p:nvSpPr>
          <p:cNvPr id="27" name="Down Arrow 26"/>
          <p:cNvSpPr/>
          <p:nvPr/>
        </p:nvSpPr>
        <p:spPr>
          <a:xfrm>
            <a:off x="5669280" y="5632704"/>
            <a:ext cx="411480" cy="256032"/>
          </a:xfrm>
          <a:prstGeom prst="downArrow">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5943600"/>
            <a:ext cx="11155680" cy="438912"/>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943600"/>
            <a:ext cx="11155680" cy="438912"/>
          </a:xfrm>
          <a:prstGeom prst="rect">
            <a:avLst/>
          </a:prstGeom>
          <a:noFill/>
        </p:spPr>
        <p:txBody>
          <a:bodyPr wrap="square" anchor="ctr" lIns="25400" rIns="25400" tIns="25400" bIns="25400">
            <a:spAutoFit/>
          </a:bodyPr>
          <a:lstStyle/>
          <a:p>
            <a:pPr algn="ctr"/>
            <a:r>
              <a:rPr sz="1350" b="1" i="0">
                <a:solidFill>
                  <a:srgbClr val="FFFFFF"/>
                </a:solidFill>
                <a:latin typeface="微软雅黑"/>
                <a:ea typeface="微软雅黑"/>
              </a:rPr>
              <a:t>收敛为整体战略：规模深耕 + 品牌提质 + 供应链提效 + 数字化赋能（以 SO 进攻为主线）</a:t>
            </a:r>
          </a:p>
        </p:txBody>
      </p:sp>
      <p:sp>
        <p:nvSpPr>
          <p:cNvPr id="30" name="TextBox 29"/>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1" name="TextBox 30"/>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5486400" cy="1371600"/>
          </a:xfrm>
          <a:prstGeom prst="rect">
            <a:avLst/>
          </a:prstGeom>
          <a:noFill/>
        </p:spPr>
        <p:txBody>
          <a:bodyPr wrap="square" anchor="t" lIns="25400" rIns="25400" tIns="25400" bIns="25400">
            <a:spAutoFit/>
          </a:bodyPr>
          <a:lstStyle/>
          <a:p>
            <a:pPr algn="l"/>
            <a:r>
              <a:rPr sz="9600" b="1" i="0">
                <a:solidFill>
                  <a:srgbClr val="E06A60"/>
                </a:solidFill>
                <a:latin typeface="Arial"/>
                <a:ea typeface="Arial"/>
              </a:rPr>
              <a:t>03</a:t>
            </a:r>
          </a:p>
        </p:txBody>
      </p:sp>
      <p:sp>
        <p:nvSpPr>
          <p:cNvPr id="5" name="Rectangle 4"/>
          <p:cNvSpPr/>
          <p:nvPr/>
        </p:nvSpPr>
        <p:spPr>
          <a:xfrm>
            <a:off x="868680" y="2788920"/>
            <a:ext cx="73152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71800"/>
            <a:ext cx="10058400" cy="1188720"/>
          </a:xfrm>
          <a:prstGeom prst="rect">
            <a:avLst/>
          </a:prstGeom>
          <a:noFill/>
        </p:spPr>
        <p:txBody>
          <a:bodyPr wrap="square" anchor="t" lIns="25400" rIns="25400" tIns="25400" bIns="25400">
            <a:spAutoFit/>
          </a:bodyPr>
          <a:lstStyle/>
          <a:p>
            <a:pPr algn="l"/>
            <a:r>
              <a:rPr sz="4400" b="1" i="0">
                <a:solidFill>
                  <a:srgbClr val="FFFFFF"/>
                </a:solidFill>
                <a:latin typeface="微软雅黑"/>
                <a:ea typeface="微软雅黑"/>
              </a:rPr>
              <a:t>战略类型与战略推导</a:t>
            </a:r>
          </a:p>
        </p:txBody>
      </p:sp>
      <p:sp>
        <p:nvSpPr>
          <p:cNvPr id="7" name="TextBox 6"/>
          <p:cNvSpPr txBox="1"/>
          <p:nvPr/>
        </p:nvSpPr>
        <p:spPr>
          <a:xfrm>
            <a:off x="868680" y="4023360"/>
            <a:ext cx="10058400" cy="548640"/>
          </a:xfrm>
          <a:prstGeom prst="rect">
            <a:avLst/>
          </a:prstGeom>
          <a:noFill/>
        </p:spPr>
        <p:txBody>
          <a:bodyPr wrap="square" anchor="t" lIns="25400" rIns="25400" tIns="25400" bIns="25400">
            <a:spAutoFit/>
          </a:bodyPr>
          <a:lstStyle/>
          <a:p>
            <a:pPr algn="l"/>
            <a:r>
              <a:rPr sz="1600" b="0" i="0">
                <a:solidFill>
                  <a:srgbClr val="F0C8C2"/>
                </a:solidFill>
                <a:latin typeface="Arial"/>
                <a:ea typeface="Arial"/>
              </a:rPr>
              <a:t>Strategy Formulation</a:t>
            </a:r>
          </a:p>
        </p:txBody>
      </p:sp>
      <p:sp>
        <p:nvSpPr>
          <p:cNvPr id="8" name="TextBox 7"/>
          <p:cNvSpPr txBox="1"/>
          <p:nvPr/>
        </p:nvSpPr>
        <p:spPr>
          <a:xfrm>
            <a:off x="868680" y="4709160"/>
            <a:ext cx="10058400" cy="548640"/>
          </a:xfrm>
          <a:prstGeom prst="rect">
            <a:avLst/>
          </a:prstGeom>
          <a:noFill/>
        </p:spPr>
        <p:txBody>
          <a:bodyPr wrap="square" anchor="t" lIns="25400" rIns="25400" tIns="25400" bIns="25400">
            <a:spAutoFit/>
          </a:bodyPr>
          <a:lstStyle/>
          <a:p>
            <a:pPr algn="l"/>
            <a:r>
              <a:rPr sz="1500" b="0" i="0">
                <a:solidFill>
                  <a:srgbClr val="F7E3DF"/>
                </a:solidFill>
                <a:latin typeface="微软雅黑"/>
                <a:ea typeface="微软雅黑"/>
              </a:rPr>
              <a:t>竞争战略定位 · 总体战略 · 三大战略主轴</a:t>
            </a:r>
          </a:p>
        </p:txBody>
      </p:sp>
      <p:sp>
        <p:nvSpPr>
          <p:cNvPr id="9" name="TextBox 8"/>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10" name="TextBox 9"/>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战略类型：成本领先为主的总成本领先战略</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03</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43000"/>
            <a:ext cx="11155680" cy="731520"/>
          </a:xfrm>
          <a:prstGeom prst="rect">
            <a:avLst/>
          </a:prstGeom>
          <a:noFill/>
        </p:spPr>
        <p:txBody>
          <a:bodyPr wrap="square" anchor="t" lIns="25400" rIns="25400" tIns="25400" bIns="25400">
            <a:spAutoFit/>
          </a:bodyPr>
          <a:lstStyle/>
          <a:p>
            <a:pPr algn="l">
              <a:lnSpc>
                <a:spcPct val="130000"/>
              </a:lnSpc>
            </a:pPr>
            <a:r>
              <a:rPr sz="1400" b="0" i="0">
                <a:solidFill>
                  <a:srgbClr val="262626"/>
                </a:solidFill>
                <a:latin typeface="微软雅黑"/>
                <a:ea typeface="微软雅黑"/>
              </a:rPr>
              <a:t>基于波特竞争战略框架，</a:t>
            </a:r>
            <a:r>
              <a:rPr sz="1400" b="1" i="0">
                <a:solidFill>
                  <a:srgbClr val="C01A22"/>
                </a:solidFill>
                <a:latin typeface="微软雅黑"/>
                <a:ea typeface="微软雅黑"/>
              </a:rPr>
              <a:t>赵一鸣采取「总成本领先战略」</a:t>
            </a:r>
            <a:r>
              <a:rPr sz="1400" b="0" i="0">
                <a:solidFill>
                  <a:srgbClr val="262626"/>
                </a:solidFill>
                <a:latin typeface="微软雅黑"/>
                <a:ea typeface="微软雅黑"/>
              </a:rPr>
              <a:t>——以源头直采、规模采购、高效供应链与数字化运营压低成本，向价格敏感型下沉客群提供「质价比」零食；并辅以适度差异化（自有品牌、定制爆款）。</a:t>
            </a:r>
          </a:p>
        </p:txBody>
      </p:sp>
      <p:sp>
        <p:nvSpPr>
          <p:cNvPr id="9" name="Rectangle 8"/>
          <p:cNvSpPr/>
          <p:nvPr/>
        </p:nvSpPr>
        <p:spPr>
          <a:xfrm>
            <a:off x="502920" y="2148840"/>
            <a:ext cx="3657600" cy="356616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48840"/>
            <a:ext cx="3657600" cy="64008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148840"/>
            <a:ext cx="3657600" cy="640080"/>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成本领先抓手</a:t>
            </a:r>
          </a:p>
        </p:txBody>
      </p:sp>
      <p:sp>
        <p:nvSpPr>
          <p:cNvPr id="12" name="TextBox 11"/>
          <p:cNvSpPr txBox="1"/>
          <p:nvPr/>
        </p:nvSpPr>
        <p:spPr>
          <a:xfrm>
            <a:off x="777240" y="2880360"/>
            <a:ext cx="3108960" cy="2743200"/>
          </a:xfrm>
          <a:prstGeom prst="rect">
            <a:avLst/>
          </a:prstGeom>
          <a:noFill/>
        </p:spPr>
        <p:txBody>
          <a:bodyPr wrap="square" anchor="ctr" lIns="25400" rIns="25400" tIns="25400" bIns="25400">
            <a:spAutoFit/>
          </a:bodyPr>
          <a:lstStyle/>
          <a:p>
            <a:pPr algn="l">
              <a:lnSpc>
                <a:spcPct val="120000"/>
              </a:lnSpc>
              <a:spcAft>
                <a:spcPts val="1100"/>
              </a:spcAft>
            </a:pPr>
            <a:r>
              <a:rPr sz="1300" b="1" i="0">
                <a:solidFill>
                  <a:srgbClr val="C01A22"/>
                </a:solidFill>
                <a:latin typeface="微软雅黑"/>
                <a:ea typeface="微软雅黑"/>
              </a:rPr>
              <a:t>✓ </a:t>
            </a:r>
            <a:r>
              <a:rPr sz="1300" b="0" i="0">
                <a:solidFill>
                  <a:srgbClr val="262626"/>
                </a:solidFill>
                <a:latin typeface="微软雅黑"/>
                <a:ea typeface="微软雅黑"/>
              </a:rPr>
              <a:t>源头直采去经销商化（92.3%）</a:t>
            </a:r>
          </a:p>
          <a:p>
            <a:pPr algn="l">
              <a:lnSpc>
                <a:spcPct val="120000"/>
              </a:lnSpc>
              <a:spcAft>
                <a:spcPts val="1100"/>
              </a:spcAft>
            </a:pPr>
            <a:r>
              <a:rPr sz="1300" b="1" i="0">
                <a:solidFill>
                  <a:srgbClr val="C01A22"/>
                </a:solidFill>
                <a:latin typeface="微软雅黑"/>
                <a:ea typeface="微软雅黑"/>
              </a:rPr>
              <a:t>✓ </a:t>
            </a:r>
            <a:r>
              <a:rPr sz="1300" b="0" i="0">
                <a:solidFill>
                  <a:srgbClr val="262626"/>
                </a:solidFill>
                <a:latin typeface="微软雅黑"/>
                <a:ea typeface="微软雅黑"/>
              </a:rPr>
              <a:t>联合集团规模采购压低进价</a:t>
            </a:r>
          </a:p>
          <a:p>
            <a:pPr algn="l">
              <a:lnSpc>
                <a:spcPct val="120000"/>
              </a:lnSpc>
              <a:spcAft>
                <a:spcPts val="1100"/>
              </a:spcAft>
            </a:pPr>
            <a:r>
              <a:rPr sz="1300" b="1" i="0">
                <a:solidFill>
                  <a:srgbClr val="C01A22"/>
                </a:solidFill>
                <a:latin typeface="微软雅黑"/>
                <a:ea typeface="微软雅黑"/>
              </a:rPr>
              <a:t>✓ </a:t>
            </a:r>
            <a:r>
              <a:rPr sz="1300" b="0" i="0">
                <a:solidFill>
                  <a:srgbClr val="262626"/>
                </a:solidFill>
                <a:latin typeface="微软雅黑"/>
                <a:ea typeface="微软雅黑"/>
              </a:rPr>
              <a:t>56 个仓配中心 + 物流成本 1.7%</a:t>
            </a:r>
          </a:p>
          <a:p>
            <a:pPr algn="l">
              <a:lnSpc>
                <a:spcPct val="120000"/>
              </a:lnSpc>
              <a:spcAft>
                <a:spcPts val="1100"/>
              </a:spcAft>
            </a:pPr>
            <a:r>
              <a:rPr sz="1300" b="1" i="0">
                <a:solidFill>
                  <a:srgbClr val="C01A22"/>
                </a:solidFill>
                <a:latin typeface="微软雅黑"/>
                <a:ea typeface="微软雅黑"/>
              </a:rPr>
              <a:t>✓ </a:t>
            </a:r>
            <a:r>
              <a:rPr sz="1300" b="0" i="0">
                <a:solidFill>
                  <a:srgbClr val="262626"/>
                </a:solidFill>
                <a:latin typeface="微软雅黑"/>
                <a:ea typeface="微软雅黑"/>
              </a:rPr>
              <a:t>数字化选品/补货降低损耗</a:t>
            </a:r>
          </a:p>
        </p:txBody>
      </p:sp>
      <p:sp>
        <p:nvSpPr>
          <p:cNvPr id="13" name="Rectangle 12"/>
          <p:cNvSpPr/>
          <p:nvPr/>
        </p:nvSpPr>
        <p:spPr>
          <a:xfrm>
            <a:off x="4251959" y="2148840"/>
            <a:ext cx="3657600" cy="356616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59" y="2148840"/>
            <a:ext cx="3657600" cy="64008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2148840"/>
            <a:ext cx="3657600" cy="640080"/>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差异化补充</a:t>
            </a:r>
          </a:p>
        </p:txBody>
      </p:sp>
      <p:sp>
        <p:nvSpPr>
          <p:cNvPr id="16" name="TextBox 15"/>
          <p:cNvSpPr txBox="1"/>
          <p:nvPr/>
        </p:nvSpPr>
        <p:spPr>
          <a:xfrm>
            <a:off x="4526279" y="2880360"/>
            <a:ext cx="3108960" cy="2743200"/>
          </a:xfrm>
          <a:prstGeom prst="rect">
            <a:avLst/>
          </a:prstGeom>
          <a:noFill/>
        </p:spPr>
        <p:txBody>
          <a:bodyPr wrap="square" anchor="ctr" lIns="25400" rIns="25400" tIns="25400" bIns="25400">
            <a:spAutoFit/>
          </a:bodyPr>
          <a:lstStyle/>
          <a:p>
            <a:pPr algn="l">
              <a:lnSpc>
                <a:spcPct val="120000"/>
              </a:lnSpc>
              <a:spcAft>
                <a:spcPts val="1100"/>
              </a:spcAft>
            </a:pPr>
            <a:r>
              <a:rPr sz="1300" b="1" i="0">
                <a:solidFill>
                  <a:srgbClr val="E37E1B"/>
                </a:solidFill>
                <a:latin typeface="微软雅黑"/>
                <a:ea typeface="微软雅黑"/>
              </a:rPr>
              <a:t>✓ </a:t>
            </a:r>
            <a:r>
              <a:rPr sz="1300" b="0" i="0">
                <a:solidFill>
                  <a:srgbClr val="262626"/>
                </a:solidFill>
                <a:latin typeface="微软雅黑"/>
                <a:ea typeface="微软雅黑"/>
              </a:rPr>
              <a:t>自有品牌毛利 30–50%</a:t>
            </a:r>
          </a:p>
          <a:p>
            <a:pPr algn="l">
              <a:lnSpc>
                <a:spcPct val="120000"/>
              </a:lnSpc>
              <a:spcAft>
                <a:spcPts val="1100"/>
              </a:spcAft>
            </a:pPr>
            <a:r>
              <a:rPr sz="1300" b="1" i="0">
                <a:solidFill>
                  <a:srgbClr val="E37E1B"/>
                </a:solidFill>
                <a:latin typeface="微软雅黑"/>
                <a:ea typeface="微软雅黑"/>
              </a:rPr>
              <a:t>✓ </a:t>
            </a:r>
            <a:r>
              <a:rPr sz="1300" b="0" i="0">
                <a:solidFill>
                  <a:srgbClr val="262626"/>
                </a:solidFill>
                <a:latin typeface="微软雅黑"/>
                <a:ea typeface="微软雅黑"/>
              </a:rPr>
              <a:t>定制爆款（麻酱味素毛肚 1 亿+件）</a:t>
            </a:r>
          </a:p>
          <a:p>
            <a:pPr algn="l">
              <a:lnSpc>
                <a:spcPct val="120000"/>
              </a:lnSpc>
              <a:spcAft>
                <a:spcPts val="1100"/>
              </a:spcAft>
            </a:pPr>
            <a:r>
              <a:rPr sz="1300" b="1" i="0">
                <a:solidFill>
                  <a:srgbClr val="E37E1B"/>
                </a:solidFill>
                <a:latin typeface="微软雅黑"/>
                <a:ea typeface="微软雅黑"/>
              </a:rPr>
              <a:t>✓ </a:t>
            </a:r>
            <a:r>
              <a:rPr sz="1300" b="0" i="0">
                <a:solidFill>
                  <a:srgbClr val="262626"/>
                </a:solidFill>
                <a:latin typeface="微软雅黑"/>
                <a:ea typeface="微软雅黑"/>
              </a:rPr>
              <a:t>统一 IP 营销塑造品牌</a:t>
            </a:r>
          </a:p>
          <a:p>
            <a:pPr algn="l">
              <a:lnSpc>
                <a:spcPct val="120000"/>
              </a:lnSpc>
              <a:spcAft>
                <a:spcPts val="1100"/>
              </a:spcAft>
            </a:pPr>
            <a:r>
              <a:rPr sz="1300" b="1" i="0">
                <a:solidFill>
                  <a:srgbClr val="E37E1B"/>
                </a:solidFill>
                <a:latin typeface="微软雅黑"/>
                <a:ea typeface="微软雅黑"/>
              </a:rPr>
              <a:t>✓ </a:t>
            </a:r>
            <a:r>
              <a:rPr sz="1300" b="0" i="0">
                <a:solidFill>
                  <a:srgbClr val="262626"/>
                </a:solidFill>
                <a:latin typeface="微软雅黑"/>
                <a:ea typeface="微软雅黑"/>
              </a:rPr>
              <a:t>欢乐舒适门店体验</a:t>
            </a:r>
          </a:p>
        </p:txBody>
      </p:sp>
      <p:sp>
        <p:nvSpPr>
          <p:cNvPr id="17" name="Rectangle 16"/>
          <p:cNvSpPr/>
          <p:nvPr/>
        </p:nvSpPr>
        <p:spPr>
          <a:xfrm>
            <a:off x="8001000" y="2148840"/>
            <a:ext cx="3657600" cy="356616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2148840"/>
            <a:ext cx="3657600" cy="64008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2148840"/>
            <a:ext cx="3657600" cy="640080"/>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目标聚焦</a:t>
            </a:r>
          </a:p>
        </p:txBody>
      </p:sp>
      <p:sp>
        <p:nvSpPr>
          <p:cNvPr id="20" name="TextBox 19"/>
          <p:cNvSpPr txBox="1"/>
          <p:nvPr/>
        </p:nvSpPr>
        <p:spPr>
          <a:xfrm>
            <a:off x="8275320" y="2880360"/>
            <a:ext cx="3108960" cy="2743200"/>
          </a:xfrm>
          <a:prstGeom prst="rect">
            <a:avLst/>
          </a:prstGeom>
          <a:noFill/>
        </p:spPr>
        <p:txBody>
          <a:bodyPr wrap="square" anchor="ctr" lIns="25400" rIns="25400" tIns="25400" bIns="25400">
            <a:spAutoFit/>
          </a:bodyPr>
          <a:lstStyle/>
          <a:p>
            <a:pPr algn="l">
              <a:lnSpc>
                <a:spcPct val="120000"/>
              </a:lnSpc>
              <a:spcAft>
                <a:spcPts val="1100"/>
              </a:spcAft>
            </a:pPr>
            <a:r>
              <a:rPr sz="1300" b="1" i="0">
                <a:solidFill>
                  <a:srgbClr val="2C5F8A"/>
                </a:solidFill>
                <a:latin typeface="微软雅黑"/>
                <a:ea typeface="微软雅黑"/>
              </a:rPr>
              <a:t>✓ </a:t>
            </a:r>
            <a:r>
              <a:rPr sz="1300" b="0" i="0">
                <a:solidFill>
                  <a:srgbClr val="262626"/>
                </a:solidFill>
                <a:latin typeface="微软雅黑"/>
                <a:ea typeface="微软雅黑"/>
              </a:rPr>
              <a:t>聚焦三四线及下沉市场</a:t>
            </a:r>
          </a:p>
          <a:p>
            <a:pPr algn="l">
              <a:lnSpc>
                <a:spcPct val="120000"/>
              </a:lnSpc>
              <a:spcAft>
                <a:spcPts val="1100"/>
              </a:spcAft>
            </a:pPr>
            <a:r>
              <a:rPr sz="1300" b="1" i="0">
                <a:solidFill>
                  <a:srgbClr val="2C5F8A"/>
                </a:solidFill>
                <a:latin typeface="微软雅黑"/>
                <a:ea typeface="微软雅黑"/>
              </a:rPr>
              <a:t>✓ </a:t>
            </a:r>
            <a:r>
              <a:rPr sz="1300" b="0" i="0">
                <a:solidFill>
                  <a:srgbClr val="262626"/>
                </a:solidFill>
                <a:latin typeface="微软雅黑"/>
                <a:ea typeface="微软雅黑"/>
              </a:rPr>
              <a:t>深耕北方华北/西北空白市场</a:t>
            </a:r>
          </a:p>
          <a:p>
            <a:pPr algn="l">
              <a:lnSpc>
                <a:spcPct val="120000"/>
              </a:lnSpc>
              <a:spcAft>
                <a:spcPts val="1100"/>
              </a:spcAft>
            </a:pPr>
            <a:r>
              <a:rPr sz="1300" b="1" i="0">
                <a:solidFill>
                  <a:srgbClr val="2C5F8A"/>
                </a:solidFill>
                <a:latin typeface="微软雅黑"/>
                <a:ea typeface="微软雅黑"/>
              </a:rPr>
              <a:t>✓ </a:t>
            </a:r>
            <a:r>
              <a:rPr sz="1300" b="0" i="0">
                <a:solidFill>
                  <a:srgbClr val="262626"/>
                </a:solidFill>
                <a:latin typeface="微软雅黑"/>
                <a:ea typeface="微软雅黑"/>
              </a:rPr>
              <a:t>社区便民消费场景</a:t>
            </a:r>
          </a:p>
          <a:p>
            <a:pPr algn="l">
              <a:lnSpc>
                <a:spcPct val="120000"/>
              </a:lnSpc>
              <a:spcAft>
                <a:spcPts val="1100"/>
              </a:spcAft>
            </a:pPr>
            <a:r>
              <a:rPr sz="1300" b="1" i="0">
                <a:solidFill>
                  <a:srgbClr val="2C5F8A"/>
                </a:solidFill>
                <a:latin typeface="微软雅黑"/>
                <a:ea typeface="微软雅黑"/>
              </a:rPr>
              <a:t>✓ </a:t>
            </a:r>
            <a:r>
              <a:rPr sz="1300" b="0" i="0">
                <a:solidFill>
                  <a:srgbClr val="262626"/>
                </a:solidFill>
                <a:latin typeface="微软雅黑"/>
                <a:ea typeface="微软雅黑"/>
              </a:rPr>
              <a:t>家庭与年轻客群</a:t>
            </a:r>
          </a:p>
        </p:txBody>
      </p:sp>
      <p:sp>
        <p:nvSpPr>
          <p:cNvPr id="21" name="TextBox 20"/>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2" name="TextBox 21"/>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总体战略与三大战略主轴</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03</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11155680" cy="123444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98448"/>
            <a:ext cx="10698480" cy="1051560"/>
          </a:xfrm>
          <a:prstGeom prst="rect">
            <a:avLst/>
          </a:prstGeom>
          <a:noFill/>
        </p:spPr>
        <p:txBody>
          <a:bodyPr wrap="square" anchor="t" lIns="25400" rIns="25400" tIns="25400" bIns="25400">
            <a:spAutoFit/>
          </a:bodyPr>
          <a:lstStyle/>
          <a:p>
            <a:pPr algn="ctr"/>
            <a:r>
              <a:rPr sz="1300" b="1" i="0">
                <a:solidFill>
                  <a:srgbClr val="F7D0CB"/>
                </a:solidFill>
                <a:latin typeface="微软雅黑"/>
                <a:ea typeface="微软雅黑"/>
              </a:rPr>
              <a:t>总体战略</a:t>
            </a:r>
          </a:p>
          <a:p>
            <a:pPr algn="ctr">
              <a:spcBef>
                <a:spcPts val="200"/>
              </a:spcBef>
            </a:pPr>
            <a:r>
              <a:rPr sz="2400" b="1" i="0">
                <a:solidFill>
                  <a:srgbClr val="FFFFFF"/>
                </a:solidFill>
                <a:latin typeface="微软雅黑"/>
                <a:ea typeface="微软雅黑"/>
              </a:rPr>
              <a:t>规模深耕 + 品牌提质 + 供应链提效 + 数字化赋能</a:t>
            </a:r>
          </a:p>
          <a:p>
            <a:pPr algn="ctr">
              <a:spcBef>
                <a:spcPts val="400"/>
              </a:spcBef>
            </a:pPr>
            <a:r>
              <a:rPr sz="1400" b="0" i="0">
                <a:solidFill>
                  <a:srgbClr val="F7E3DF"/>
                </a:solidFill>
                <a:latin typeface="微软雅黑"/>
                <a:ea typeface="微软雅黑"/>
              </a:rPr>
              <a:t>打造全国领先的零食量贩龙头品牌 ｜ 2027 目标：营收突破 250 亿元</a:t>
            </a:r>
          </a:p>
        </p:txBody>
      </p:sp>
      <p:sp>
        <p:nvSpPr>
          <p:cNvPr id="10" name="Rectangle 9"/>
          <p:cNvSpPr/>
          <p:nvPr/>
        </p:nvSpPr>
        <p:spPr>
          <a:xfrm>
            <a:off x="502920" y="2697480"/>
            <a:ext cx="3657600" cy="3108960"/>
          </a:xfrm>
          <a:prstGeom prst="rect">
            <a:avLst/>
          </a:prstGeom>
          <a:solidFill>
            <a:srgbClr val="FCF4F1"/>
          </a:solidFill>
          <a:ln w="19050">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697480"/>
            <a:ext cx="3657600" cy="86868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770632"/>
            <a:ext cx="3657600" cy="777240"/>
          </a:xfrm>
          <a:prstGeom prst="rect">
            <a:avLst/>
          </a:prstGeom>
          <a:noFill/>
        </p:spPr>
        <p:txBody>
          <a:bodyPr wrap="square" anchor="ctr" lIns="25400" rIns="25400" tIns="25400" bIns="25400">
            <a:spAutoFit/>
          </a:bodyPr>
          <a:lstStyle/>
          <a:p>
            <a:pPr algn="ctr"/>
            <a:r>
              <a:rPr sz="2200" b="1" i="0">
                <a:solidFill>
                  <a:srgbClr val="FFFFFF"/>
                </a:solidFill>
                <a:latin typeface="微软雅黑"/>
                <a:ea typeface="微软雅黑"/>
              </a:rPr>
              <a:t>巩固核心</a:t>
            </a:r>
          </a:p>
          <a:p>
            <a:pPr algn="ctr">
              <a:spcBef>
                <a:spcPts val="200"/>
              </a:spcBef>
            </a:pPr>
            <a:r>
              <a:rPr sz="1200" b="0" i="0">
                <a:solidFill>
                  <a:srgbClr val="FFF0E0"/>
                </a:solidFill>
                <a:latin typeface="微软雅黑"/>
                <a:ea typeface="微软雅黑"/>
              </a:rPr>
              <a:t>稳固基本盘</a:t>
            </a:r>
          </a:p>
        </p:txBody>
      </p:sp>
      <p:sp>
        <p:nvSpPr>
          <p:cNvPr id="13" name="TextBox 12"/>
          <p:cNvSpPr txBox="1"/>
          <p:nvPr/>
        </p:nvSpPr>
        <p:spPr>
          <a:xfrm>
            <a:off x="777240" y="3749039"/>
            <a:ext cx="3108960" cy="1920240"/>
          </a:xfrm>
          <a:prstGeom prst="rect">
            <a:avLst/>
          </a:prstGeom>
          <a:noFill/>
        </p:spPr>
        <p:txBody>
          <a:bodyPr wrap="square" anchor="ctr" lIns="25400" rIns="25400" tIns="25400" bIns="25400">
            <a:spAutoFit/>
          </a:bodyPr>
          <a:lstStyle/>
          <a:p>
            <a:pPr algn="l">
              <a:lnSpc>
                <a:spcPct val="135000"/>
              </a:lnSpc>
            </a:pPr>
            <a:r>
              <a:rPr sz="1400" b="0" i="0">
                <a:solidFill>
                  <a:srgbClr val="262626"/>
                </a:solidFill>
                <a:latin typeface="微软雅黑"/>
                <a:ea typeface="微软雅黑"/>
              </a:rPr>
              <a:t>持续强化供应链整合优势，牢牢占据下沉市场领导地位，稳固量贩零食基本盘，夯实品牌护城河。</a:t>
            </a:r>
          </a:p>
        </p:txBody>
      </p:sp>
      <p:sp>
        <p:nvSpPr>
          <p:cNvPr id="14" name="Rectangle 13"/>
          <p:cNvSpPr/>
          <p:nvPr/>
        </p:nvSpPr>
        <p:spPr>
          <a:xfrm>
            <a:off x="4251959" y="2697480"/>
            <a:ext cx="3657600" cy="3108960"/>
          </a:xfrm>
          <a:prstGeom prst="rect">
            <a:avLst/>
          </a:prstGeom>
          <a:solidFill>
            <a:srgbClr val="FCF4F1"/>
          </a:solidFill>
          <a:ln w="19050">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59" y="2697480"/>
            <a:ext cx="3657600" cy="86868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2770632"/>
            <a:ext cx="3657600" cy="777240"/>
          </a:xfrm>
          <a:prstGeom prst="rect">
            <a:avLst/>
          </a:prstGeom>
          <a:noFill/>
        </p:spPr>
        <p:txBody>
          <a:bodyPr wrap="square" anchor="ctr" lIns="25400" rIns="25400" tIns="25400" bIns="25400">
            <a:spAutoFit/>
          </a:bodyPr>
          <a:lstStyle/>
          <a:p>
            <a:pPr algn="ctr"/>
            <a:r>
              <a:rPr sz="2200" b="1" i="0">
                <a:solidFill>
                  <a:srgbClr val="FFFFFF"/>
                </a:solidFill>
                <a:latin typeface="微软雅黑"/>
                <a:ea typeface="微软雅黑"/>
              </a:rPr>
              <a:t>精细运营</a:t>
            </a:r>
          </a:p>
          <a:p>
            <a:pPr algn="ctr">
              <a:spcBef>
                <a:spcPts val="200"/>
              </a:spcBef>
            </a:pPr>
            <a:r>
              <a:rPr sz="1200" b="0" i="0">
                <a:solidFill>
                  <a:srgbClr val="FFF0E0"/>
                </a:solidFill>
                <a:latin typeface="微软雅黑"/>
                <a:ea typeface="微软雅黑"/>
              </a:rPr>
              <a:t>效率驱动转型</a:t>
            </a:r>
          </a:p>
        </p:txBody>
      </p:sp>
      <p:sp>
        <p:nvSpPr>
          <p:cNvPr id="17" name="TextBox 16"/>
          <p:cNvSpPr txBox="1"/>
          <p:nvPr/>
        </p:nvSpPr>
        <p:spPr>
          <a:xfrm>
            <a:off x="4526279" y="3749039"/>
            <a:ext cx="3108960" cy="1920240"/>
          </a:xfrm>
          <a:prstGeom prst="rect">
            <a:avLst/>
          </a:prstGeom>
          <a:noFill/>
        </p:spPr>
        <p:txBody>
          <a:bodyPr wrap="square" anchor="ctr" lIns="25400" rIns="25400" tIns="25400" bIns="25400">
            <a:spAutoFit/>
          </a:bodyPr>
          <a:lstStyle/>
          <a:p>
            <a:pPr algn="l">
              <a:lnSpc>
                <a:spcPct val="135000"/>
              </a:lnSpc>
            </a:pPr>
            <a:r>
              <a:rPr sz="1400" b="0" i="0">
                <a:solidFill>
                  <a:srgbClr val="262626"/>
                </a:solidFill>
                <a:latin typeface="微软雅黑"/>
                <a:ea typeface="微软雅黑"/>
              </a:rPr>
              <a:t>战略重心从门店扩张转向单店效益提升，以数字化加强加盟商赋能与管控，从「规模驱动」转向「效率驱动」。</a:t>
            </a:r>
          </a:p>
        </p:txBody>
      </p:sp>
      <p:sp>
        <p:nvSpPr>
          <p:cNvPr id="18" name="Rectangle 17"/>
          <p:cNvSpPr/>
          <p:nvPr/>
        </p:nvSpPr>
        <p:spPr>
          <a:xfrm>
            <a:off x="8001000" y="2697480"/>
            <a:ext cx="3657600" cy="3108960"/>
          </a:xfrm>
          <a:prstGeom prst="rect">
            <a:avLst/>
          </a:prstGeom>
          <a:solidFill>
            <a:srgbClr val="FCF4F1"/>
          </a:solidFill>
          <a:ln w="19050">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2697480"/>
            <a:ext cx="3657600" cy="86868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0" y="2770632"/>
            <a:ext cx="3657600" cy="777240"/>
          </a:xfrm>
          <a:prstGeom prst="rect">
            <a:avLst/>
          </a:prstGeom>
          <a:noFill/>
        </p:spPr>
        <p:txBody>
          <a:bodyPr wrap="square" anchor="ctr" lIns="25400" rIns="25400" tIns="25400" bIns="25400">
            <a:spAutoFit/>
          </a:bodyPr>
          <a:lstStyle/>
          <a:p>
            <a:pPr algn="ctr"/>
            <a:r>
              <a:rPr sz="2200" b="1" i="0">
                <a:solidFill>
                  <a:srgbClr val="FFFFFF"/>
                </a:solidFill>
                <a:latin typeface="微软雅黑"/>
                <a:ea typeface="微软雅黑"/>
              </a:rPr>
              <a:t>多元探索</a:t>
            </a:r>
          </a:p>
          <a:p>
            <a:pPr algn="ctr">
              <a:spcBef>
                <a:spcPts val="200"/>
              </a:spcBef>
            </a:pPr>
            <a:r>
              <a:rPr sz="1200" b="0" i="0">
                <a:solidFill>
                  <a:srgbClr val="FFF0E0"/>
                </a:solidFill>
                <a:latin typeface="微软雅黑"/>
                <a:ea typeface="微软雅黑"/>
              </a:rPr>
              <a:t>培育第二曲线</a:t>
            </a:r>
          </a:p>
        </p:txBody>
      </p:sp>
      <p:sp>
        <p:nvSpPr>
          <p:cNvPr id="21" name="TextBox 20"/>
          <p:cNvSpPr txBox="1"/>
          <p:nvPr/>
        </p:nvSpPr>
        <p:spPr>
          <a:xfrm>
            <a:off x="8275320" y="3749039"/>
            <a:ext cx="3108960" cy="1920240"/>
          </a:xfrm>
          <a:prstGeom prst="rect">
            <a:avLst/>
          </a:prstGeom>
          <a:noFill/>
        </p:spPr>
        <p:txBody>
          <a:bodyPr wrap="square" anchor="ctr" lIns="25400" rIns="25400" tIns="25400" bIns="25400">
            <a:spAutoFit/>
          </a:bodyPr>
          <a:lstStyle/>
          <a:p>
            <a:pPr algn="l">
              <a:lnSpc>
                <a:spcPct val="135000"/>
              </a:lnSpc>
            </a:pPr>
            <a:r>
              <a:rPr sz="1400" b="0" i="0">
                <a:solidFill>
                  <a:srgbClr val="262626"/>
                </a:solidFill>
                <a:latin typeface="微软雅黑"/>
                <a:ea typeface="微软雅黑"/>
              </a:rPr>
              <a:t>布局健康化、功能化产品赛道，孵化「新鲜零食」等创新业态，挖掘消费新需求，保障长期生命力。</a:t>
            </a:r>
          </a:p>
        </p:txBody>
      </p:sp>
      <p:sp>
        <p:nvSpPr>
          <p:cNvPr id="22" name="TextBox 21"/>
          <p:cNvSpPr txBox="1"/>
          <p:nvPr/>
        </p:nvSpPr>
        <p:spPr>
          <a:xfrm>
            <a:off x="502920" y="5989320"/>
            <a:ext cx="11155680" cy="365760"/>
          </a:xfrm>
          <a:prstGeom prst="rect">
            <a:avLst/>
          </a:prstGeom>
          <a:noFill/>
        </p:spPr>
        <p:txBody>
          <a:bodyPr wrap="square" anchor="t" lIns="25400" rIns="25400" tIns="25400" bIns="25400">
            <a:spAutoFit/>
          </a:bodyPr>
          <a:lstStyle/>
          <a:p>
            <a:pPr algn="ctr"/>
            <a:r>
              <a:rPr sz="1300" b="1" i="0">
                <a:solidFill>
                  <a:srgbClr val="C01A22"/>
                </a:solidFill>
                <a:latin typeface="微软雅黑"/>
                <a:ea typeface="微软雅黑"/>
              </a:rPr>
              <a:t>战略愿景：通过「核心稳固、运营提效、业态创新」三位一体，构建全链路、可持续的商业增长闭环。</a:t>
            </a:r>
          </a:p>
        </p:txBody>
      </p:sp>
      <p:sp>
        <p:nvSpPr>
          <p:cNvPr id="23" name="TextBox 22"/>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4" name="TextBox 23"/>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战略评价：总成本领先战略的优势与风险</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03</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15568"/>
            <a:ext cx="11155680" cy="457200"/>
          </a:xfrm>
          <a:prstGeom prst="rect">
            <a:avLst/>
          </a:prstGeom>
          <a:noFill/>
        </p:spPr>
        <p:txBody>
          <a:bodyPr wrap="square" anchor="t" lIns="25400" rIns="25400" tIns="25400" bIns="25400">
            <a:spAutoFit/>
          </a:bodyPr>
          <a:lstStyle/>
          <a:p>
            <a:pPr algn="l">
              <a:lnSpc>
                <a:spcPct val="125000"/>
              </a:lnSpc>
            </a:pPr>
            <a:r>
              <a:rPr sz="1300" b="0" i="0">
                <a:solidFill>
                  <a:srgbClr val="262626"/>
                </a:solidFill>
                <a:latin typeface="微软雅黑"/>
                <a:ea typeface="微软雅黑"/>
              </a:rPr>
              <a:t>任何战略都有两面性。客观评价所选战略的优点与潜在风险，是判断其可持续性的前提。</a:t>
            </a:r>
          </a:p>
        </p:txBody>
      </p:sp>
      <p:sp>
        <p:nvSpPr>
          <p:cNvPr id="9" name="Rectangle 8"/>
          <p:cNvSpPr/>
          <p:nvPr/>
        </p:nvSpPr>
        <p:spPr>
          <a:xfrm>
            <a:off x="502920" y="1783080"/>
            <a:ext cx="5486400" cy="2606040"/>
          </a:xfrm>
          <a:prstGeom prst="rect">
            <a:avLst/>
          </a:prstGeom>
          <a:solidFill>
            <a:srgbClr val="FFFFFF"/>
          </a:solidFill>
          <a:ln w="19050">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5486400" cy="50292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783080"/>
            <a:ext cx="5486400" cy="502920"/>
          </a:xfrm>
          <a:prstGeom prst="rect">
            <a:avLst/>
          </a:prstGeom>
          <a:noFill/>
        </p:spPr>
        <p:txBody>
          <a:bodyPr wrap="square" anchor="ctr" lIns="25400" rIns="25400" tIns="25400" bIns="25400">
            <a:spAutoFit/>
          </a:bodyPr>
          <a:lstStyle/>
          <a:p>
            <a:pPr algn="ctr"/>
            <a:r>
              <a:rPr sz="1600" b="1" i="0">
                <a:solidFill>
                  <a:srgbClr val="FFFFFF"/>
                </a:solidFill>
                <a:latin typeface="微软雅黑"/>
                <a:ea typeface="微软雅黑"/>
              </a:rPr>
              <a:t>战略优势 Pros</a:t>
            </a:r>
          </a:p>
        </p:txBody>
      </p:sp>
      <p:sp>
        <p:nvSpPr>
          <p:cNvPr id="12" name="TextBox 11"/>
          <p:cNvSpPr txBox="1"/>
          <p:nvPr/>
        </p:nvSpPr>
        <p:spPr>
          <a:xfrm>
            <a:off x="777240" y="2404872"/>
            <a:ext cx="4937760" cy="1874519"/>
          </a:xfrm>
          <a:prstGeom prst="rect">
            <a:avLst/>
          </a:prstGeom>
          <a:noFill/>
        </p:spPr>
        <p:txBody>
          <a:bodyPr wrap="square" anchor="t" lIns="25400" rIns="25400" tIns="25400" bIns="25400">
            <a:spAutoFit/>
          </a:bodyPr>
          <a:lstStyle/>
          <a:p>
            <a:pPr algn="l">
              <a:lnSpc>
                <a:spcPct val="120000"/>
              </a:lnSpc>
              <a:spcAft>
                <a:spcPts val="900"/>
              </a:spcAft>
            </a:pPr>
            <a:r>
              <a:rPr sz="1250" b="1" i="0">
                <a:solidFill>
                  <a:srgbClr val="2E8B76"/>
                </a:solidFill>
                <a:latin typeface="微软雅黑"/>
                <a:ea typeface="微软雅黑"/>
              </a:rPr>
              <a:t>✓ </a:t>
            </a:r>
            <a:r>
              <a:rPr sz="1250" b="0" i="0">
                <a:solidFill>
                  <a:srgbClr val="262626"/>
                </a:solidFill>
                <a:latin typeface="微软雅黑"/>
                <a:ea typeface="微软雅黑"/>
              </a:rPr>
              <a:t>规模 + 直采(92.3%)构筑成本护城河，价格优势难被模仿</a:t>
            </a:r>
          </a:p>
          <a:p>
            <a:pPr algn="l">
              <a:lnSpc>
                <a:spcPct val="120000"/>
              </a:lnSpc>
              <a:spcAft>
                <a:spcPts val="900"/>
              </a:spcAft>
            </a:pPr>
            <a:r>
              <a:rPr sz="1250" b="1" i="0">
                <a:solidFill>
                  <a:srgbClr val="2E8B76"/>
                </a:solidFill>
                <a:latin typeface="微软雅黑"/>
                <a:ea typeface="微软雅黑"/>
              </a:rPr>
              <a:t>✓ </a:t>
            </a:r>
            <a:r>
              <a:rPr sz="1250" b="0" i="0">
                <a:solidFill>
                  <a:srgbClr val="262626"/>
                </a:solidFill>
                <a:latin typeface="微软雅黑"/>
                <a:ea typeface="微软雅黑"/>
              </a:rPr>
              <a:t>「质价比」精准契合下沉市场消费分级红利，客群基数大</a:t>
            </a:r>
          </a:p>
          <a:p>
            <a:pPr algn="l">
              <a:lnSpc>
                <a:spcPct val="120000"/>
              </a:lnSpc>
              <a:spcAft>
                <a:spcPts val="900"/>
              </a:spcAft>
            </a:pPr>
            <a:r>
              <a:rPr sz="1250" b="1" i="0">
                <a:solidFill>
                  <a:srgbClr val="2E8B76"/>
                </a:solidFill>
                <a:latin typeface="微软雅黑"/>
                <a:ea typeface="微软雅黑"/>
              </a:rPr>
              <a:t>✓ </a:t>
            </a:r>
            <a:r>
              <a:rPr sz="1250" b="0" i="0">
                <a:solidFill>
                  <a:srgbClr val="262626"/>
                </a:solidFill>
                <a:latin typeface="微软雅黑"/>
                <a:ea typeface="微软雅黑"/>
              </a:rPr>
              <a:t>数字化供应链(物流1.7%、周转11.6天)支撑高效扩张</a:t>
            </a:r>
          </a:p>
          <a:p>
            <a:pPr algn="l">
              <a:lnSpc>
                <a:spcPct val="120000"/>
              </a:lnSpc>
              <a:spcAft>
                <a:spcPts val="900"/>
              </a:spcAft>
            </a:pPr>
            <a:r>
              <a:rPr sz="1250" b="1" i="0">
                <a:solidFill>
                  <a:srgbClr val="2E8B76"/>
                </a:solidFill>
                <a:latin typeface="微软雅黑"/>
                <a:ea typeface="微软雅黑"/>
              </a:rPr>
              <a:t>✓ </a:t>
            </a:r>
            <a:r>
              <a:rPr sz="1250" b="0" i="0">
                <a:solidFill>
                  <a:srgbClr val="262626"/>
                </a:solidFill>
                <a:latin typeface="微软雅黑"/>
                <a:ea typeface="微软雅黑"/>
              </a:rPr>
              <a:t>加盟模式轻资产、扩张快，5000+ 门店形成网络规模效应</a:t>
            </a:r>
          </a:p>
        </p:txBody>
      </p:sp>
      <p:sp>
        <p:nvSpPr>
          <p:cNvPr id="13" name="Rectangle 12"/>
          <p:cNvSpPr/>
          <p:nvPr/>
        </p:nvSpPr>
        <p:spPr>
          <a:xfrm>
            <a:off x="6199632" y="1783080"/>
            <a:ext cx="5486400" cy="2606040"/>
          </a:xfrm>
          <a:prstGeom prst="rect">
            <a:avLst/>
          </a:prstGeom>
          <a:solidFill>
            <a:srgbClr val="FFFFFF"/>
          </a:solidFill>
          <a:ln w="19050">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783080"/>
            <a:ext cx="5486400" cy="50292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1783080"/>
            <a:ext cx="5486400" cy="502920"/>
          </a:xfrm>
          <a:prstGeom prst="rect">
            <a:avLst/>
          </a:prstGeom>
          <a:noFill/>
        </p:spPr>
        <p:txBody>
          <a:bodyPr wrap="square" anchor="ctr" lIns="25400" rIns="25400" tIns="25400" bIns="25400">
            <a:spAutoFit/>
          </a:bodyPr>
          <a:lstStyle/>
          <a:p>
            <a:pPr algn="ctr"/>
            <a:r>
              <a:rPr sz="1600" b="1" i="0">
                <a:solidFill>
                  <a:srgbClr val="FFFFFF"/>
                </a:solidFill>
                <a:latin typeface="微软雅黑"/>
                <a:ea typeface="微软雅黑"/>
              </a:rPr>
              <a:t>潜在风险/缺点 Cons</a:t>
            </a:r>
          </a:p>
        </p:txBody>
      </p:sp>
      <p:sp>
        <p:nvSpPr>
          <p:cNvPr id="16" name="TextBox 15"/>
          <p:cNvSpPr txBox="1"/>
          <p:nvPr/>
        </p:nvSpPr>
        <p:spPr>
          <a:xfrm>
            <a:off x="6473952" y="2404872"/>
            <a:ext cx="4937760" cy="1874519"/>
          </a:xfrm>
          <a:prstGeom prst="rect">
            <a:avLst/>
          </a:prstGeom>
          <a:noFill/>
        </p:spPr>
        <p:txBody>
          <a:bodyPr wrap="square" anchor="t" lIns="25400" rIns="25400" tIns="25400" bIns="25400">
            <a:spAutoFit/>
          </a:bodyPr>
          <a:lstStyle/>
          <a:p>
            <a:pPr algn="l">
              <a:lnSpc>
                <a:spcPct val="120000"/>
              </a:lnSpc>
              <a:spcAft>
                <a:spcPts val="900"/>
              </a:spcAft>
            </a:pPr>
            <a:r>
              <a:rPr sz="1250" b="1" i="0">
                <a:solidFill>
                  <a:srgbClr val="C01A22"/>
                </a:solidFill>
                <a:latin typeface="微软雅黑"/>
                <a:ea typeface="微软雅黑"/>
              </a:rPr>
              <a:t>⚠ </a:t>
            </a:r>
            <a:r>
              <a:rPr sz="1250" b="0" i="0">
                <a:solidFill>
                  <a:srgbClr val="262626"/>
                </a:solidFill>
                <a:latin typeface="微软雅黑"/>
                <a:ea typeface="微软雅黑"/>
              </a:rPr>
              <a:t>公司层面毛利仅 7.6%，薄利依赖规模，抗风险能力弱</a:t>
            </a:r>
          </a:p>
          <a:p>
            <a:pPr algn="l">
              <a:lnSpc>
                <a:spcPct val="120000"/>
              </a:lnSpc>
              <a:spcAft>
                <a:spcPts val="900"/>
              </a:spcAft>
            </a:pPr>
            <a:r>
              <a:rPr sz="1250" b="1" i="0">
                <a:solidFill>
                  <a:srgbClr val="C01A22"/>
                </a:solidFill>
                <a:latin typeface="微软雅黑"/>
                <a:ea typeface="微软雅黑"/>
              </a:rPr>
              <a:t>⚠ </a:t>
            </a:r>
            <a:r>
              <a:rPr sz="1250" b="0" i="0">
                <a:solidFill>
                  <a:srgbClr val="262626"/>
                </a:solidFill>
                <a:latin typeface="微软雅黑"/>
                <a:ea typeface="微软雅黑"/>
              </a:rPr>
              <a:t>易陷价格战，与零食很忙/万辰同质化竞争激烈</a:t>
            </a:r>
          </a:p>
          <a:p>
            <a:pPr algn="l">
              <a:lnSpc>
                <a:spcPct val="120000"/>
              </a:lnSpc>
              <a:spcAft>
                <a:spcPts val="900"/>
              </a:spcAft>
            </a:pPr>
            <a:r>
              <a:rPr sz="1250" b="1" i="0">
                <a:solidFill>
                  <a:srgbClr val="C01A22"/>
                </a:solidFill>
                <a:latin typeface="微软雅黑"/>
                <a:ea typeface="微软雅黑"/>
              </a:rPr>
              <a:t>⚠ </a:t>
            </a:r>
            <a:r>
              <a:rPr sz="1250" b="0" i="0">
                <a:solidFill>
                  <a:srgbClr val="262626"/>
                </a:solidFill>
                <a:latin typeface="微软雅黑"/>
                <a:ea typeface="微软雅黑"/>
              </a:rPr>
              <a:t>重加盟 → 食安与品控连锁风险，单店事件易波及品牌</a:t>
            </a:r>
          </a:p>
          <a:p>
            <a:pPr algn="l">
              <a:lnSpc>
                <a:spcPct val="120000"/>
              </a:lnSpc>
              <a:spcAft>
                <a:spcPts val="900"/>
              </a:spcAft>
            </a:pPr>
            <a:r>
              <a:rPr sz="1250" b="1" i="0">
                <a:solidFill>
                  <a:srgbClr val="C01A22"/>
                </a:solidFill>
                <a:latin typeface="微软雅黑"/>
                <a:ea typeface="微软雅黑"/>
              </a:rPr>
              <a:t>⚠ </a:t>
            </a:r>
            <a:r>
              <a:rPr sz="1250" b="0" i="0">
                <a:solidFill>
                  <a:srgbClr val="262626"/>
                </a:solidFill>
                <a:latin typeface="微软雅黑"/>
                <a:ea typeface="微软雅黑"/>
              </a:rPr>
              <a:t>「低价低质」标签风险，品牌升级与自有品牌培育需长期投入</a:t>
            </a:r>
          </a:p>
        </p:txBody>
      </p:sp>
      <p:sp>
        <p:nvSpPr>
          <p:cNvPr id="17" name="Rectangle 16"/>
          <p:cNvSpPr/>
          <p:nvPr/>
        </p:nvSpPr>
        <p:spPr>
          <a:xfrm>
            <a:off x="502920" y="4553712"/>
            <a:ext cx="11155680" cy="141732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553712"/>
            <a:ext cx="91440" cy="141732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26864"/>
            <a:ext cx="10789920" cy="365760"/>
          </a:xfrm>
          <a:prstGeom prst="rect">
            <a:avLst/>
          </a:prstGeom>
          <a:noFill/>
        </p:spPr>
        <p:txBody>
          <a:bodyPr wrap="square" anchor="t" lIns="25400" rIns="25400" tIns="25400" bIns="25400">
            <a:spAutoFit/>
          </a:bodyPr>
          <a:lstStyle/>
          <a:p>
            <a:pPr algn="l"/>
            <a:r>
              <a:rPr sz="1400" b="1" i="0">
                <a:solidFill>
                  <a:srgbClr val="C01A22"/>
                </a:solidFill>
                <a:latin typeface="微软雅黑"/>
                <a:ea typeface="微软雅黑"/>
              </a:rPr>
              <a:t>应对措施（扬长补短）</a:t>
            </a:r>
          </a:p>
        </p:txBody>
      </p:sp>
      <p:sp>
        <p:nvSpPr>
          <p:cNvPr id="20" name="TextBox 19"/>
          <p:cNvSpPr txBox="1"/>
          <p:nvPr/>
        </p:nvSpPr>
        <p:spPr>
          <a:xfrm>
            <a:off x="777240" y="5010912"/>
            <a:ext cx="5212079" cy="457200"/>
          </a:xfrm>
          <a:prstGeom prst="rect">
            <a:avLst/>
          </a:prstGeom>
          <a:noFill/>
        </p:spPr>
        <p:txBody>
          <a:bodyPr wrap="square" anchor="t" lIns="25400" rIns="25400" tIns="25400" bIns="25400">
            <a:spAutoFit/>
          </a:bodyPr>
          <a:lstStyle/>
          <a:p>
            <a:pPr algn="l">
              <a:lnSpc>
                <a:spcPct val="115000"/>
              </a:lnSpc>
            </a:pPr>
            <a:r>
              <a:rPr sz="1150" b="1" i="0">
                <a:solidFill>
                  <a:srgbClr val="F29900"/>
                </a:solidFill>
                <a:latin typeface="微软雅黑"/>
                <a:ea typeface="微软雅黑"/>
              </a:rPr>
              <a:t>▶ </a:t>
            </a:r>
            <a:r>
              <a:rPr sz="1150" b="0" i="0">
                <a:solidFill>
                  <a:srgbClr val="262626"/>
                </a:solidFill>
                <a:latin typeface="微软雅黑"/>
                <a:ea typeface="微软雅黑"/>
              </a:rPr>
              <a:t>发力自有品牌(→30%)与定制爆款，提毛利、去同质化</a:t>
            </a:r>
          </a:p>
        </p:txBody>
      </p:sp>
      <p:sp>
        <p:nvSpPr>
          <p:cNvPr id="21" name="TextBox 20"/>
          <p:cNvSpPr txBox="1"/>
          <p:nvPr/>
        </p:nvSpPr>
        <p:spPr>
          <a:xfrm>
            <a:off x="6172199" y="5010912"/>
            <a:ext cx="5212079" cy="457200"/>
          </a:xfrm>
          <a:prstGeom prst="rect">
            <a:avLst/>
          </a:prstGeom>
          <a:noFill/>
        </p:spPr>
        <p:txBody>
          <a:bodyPr wrap="square" anchor="t" lIns="25400" rIns="25400" tIns="25400" bIns="25400">
            <a:spAutoFit/>
          </a:bodyPr>
          <a:lstStyle/>
          <a:p>
            <a:pPr algn="l">
              <a:lnSpc>
                <a:spcPct val="115000"/>
              </a:lnSpc>
            </a:pPr>
            <a:r>
              <a:rPr sz="1150" b="1" i="0">
                <a:solidFill>
                  <a:srgbClr val="F29900"/>
                </a:solidFill>
                <a:latin typeface="微软雅黑"/>
                <a:ea typeface="微软雅黑"/>
              </a:rPr>
              <a:t>▶ </a:t>
            </a:r>
            <a:r>
              <a:rPr sz="1150" b="0" i="0">
                <a:solidFill>
                  <a:srgbClr val="262626"/>
                </a:solidFill>
                <a:latin typeface="微软雅黑"/>
                <a:ea typeface="微软雅黑"/>
              </a:rPr>
              <a:t>标准化加盟管控 + 培训赋能，守食安底线、稳加盟商</a:t>
            </a:r>
          </a:p>
        </p:txBody>
      </p:sp>
      <p:sp>
        <p:nvSpPr>
          <p:cNvPr id="22" name="TextBox 21"/>
          <p:cNvSpPr txBox="1"/>
          <p:nvPr/>
        </p:nvSpPr>
        <p:spPr>
          <a:xfrm>
            <a:off x="777240" y="5486400"/>
            <a:ext cx="5212079" cy="457200"/>
          </a:xfrm>
          <a:prstGeom prst="rect">
            <a:avLst/>
          </a:prstGeom>
          <a:noFill/>
        </p:spPr>
        <p:txBody>
          <a:bodyPr wrap="square" anchor="t" lIns="25400" rIns="25400" tIns="25400" bIns="25400">
            <a:spAutoFit/>
          </a:bodyPr>
          <a:lstStyle/>
          <a:p>
            <a:pPr algn="l">
              <a:lnSpc>
                <a:spcPct val="115000"/>
              </a:lnSpc>
            </a:pPr>
            <a:r>
              <a:rPr sz="1150" b="1" i="0">
                <a:solidFill>
                  <a:srgbClr val="F29900"/>
                </a:solidFill>
                <a:latin typeface="微软雅黑"/>
                <a:ea typeface="微软雅黑"/>
              </a:rPr>
              <a:t>▶ </a:t>
            </a:r>
            <a:r>
              <a:rPr sz="1150" b="0" i="0">
                <a:solidFill>
                  <a:srgbClr val="262626"/>
                </a:solidFill>
                <a:latin typeface="微软雅黑"/>
                <a:ea typeface="微软雅黑"/>
              </a:rPr>
              <a:t>区域错位 + 北方深耕，避开正面价格战</a:t>
            </a:r>
          </a:p>
        </p:txBody>
      </p:sp>
      <p:sp>
        <p:nvSpPr>
          <p:cNvPr id="23" name="TextBox 22"/>
          <p:cNvSpPr txBox="1"/>
          <p:nvPr/>
        </p:nvSpPr>
        <p:spPr>
          <a:xfrm>
            <a:off x="6172199" y="5486400"/>
            <a:ext cx="5212079" cy="457200"/>
          </a:xfrm>
          <a:prstGeom prst="rect">
            <a:avLst/>
          </a:prstGeom>
          <a:noFill/>
        </p:spPr>
        <p:txBody>
          <a:bodyPr wrap="square" anchor="t" lIns="25400" rIns="25400" tIns="25400" bIns="25400">
            <a:spAutoFit/>
          </a:bodyPr>
          <a:lstStyle/>
          <a:p>
            <a:pPr algn="l">
              <a:lnSpc>
                <a:spcPct val="115000"/>
              </a:lnSpc>
            </a:pPr>
            <a:r>
              <a:rPr sz="1150" b="1" i="0">
                <a:solidFill>
                  <a:srgbClr val="F29900"/>
                </a:solidFill>
                <a:latin typeface="微软雅黑"/>
                <a:ea typeface="微软雅黑"/>
              </a:rPr>
              <a:t>▶ </a:t>
            </a:r>
            <a:r>
              <a:rPr sz="1150" b="0" i="0">
                <a:solidFill>
                  <a:srgbClr val="262626"/>
                </a:solidFill>
                <a:latin typeface="微软雅黑"/>
                <a:ea typeface="微软雅黑"/>
              </a:rPr>
              <a:t>数字化由系统建设转向流程再造，向效率驱动转型</a:t>
            </a:r>
          </a:p>
        </p:txBody>
      </p:sp>
      <p:sp>
        <p:nvSpPr>
          <p:cNvPr id="24" name="TextBox 23"/>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5" name="TextBox 24"/>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5486400" cy="1371600"/>
          </a:xfrm>
          <a:prstGeom prst="rect">
            <a:avLst/>
          </a:prstGeom>
          <a:noFill/>
        </p:spPr>
        <p:txBody>
          <a:bodyPr wrap="square" anchor="t" lIns="25400" rIns="25400" tIns="25400" bIns="25400">
            <a:spAutoFit/>
          </a:bodyPr>
          <a:lstStyle/>
          <a:p>
            <a:pPr algn="l"/>
            <a:r>
              <a:rPr sz="9600" b="1" i="0">
                <a:solidFill>
                  <a:srgbClr val="E06A60"/>
                </a:solidFill>
                <a:latin typeface="Arial"/>
                <a:ea typeface="Arial"/>
              </a:rPr>
              <a:t>04</a:t>
            </a:r>
          </a:p>
        </p:txBody>
      </p:sp>
      <p:sp>
        <p:nvSpPr>
          <p:cNvPr id="5" name="Rectangle 4"/>
          <p:cNvSpPr/>
          <p:nvPr/>
        </p:nvSpPr>
        <p:spPr>
          <a:xfrm>
            <a:off x="868680" y="2788920"/>
            <a:ext cx="73152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71800"/>
            <a:ext cx="10058400" cy="1188720"/>
          </a:xfrm>
          <a:prstGeom prst="rect">
            <a:avLst/>
          </a:prstGeom>
          <a:noFill/>
        </p:spPr>
        <p:txBody>
          <a:bodyPr wrap="square" anchor="t" lIns="25400" rIns="25400" tIns="25400" bIns="25400">
            <a:spAutoFit/>
          </a:bodyPr>
          <a:lstStyle/>
          <a:p>
            <a:pPr algn="l"/>
            <a:r>
              <a:rPr sz="4400" b="1" i="0">
                <a:solidFill>
                  <a:srgbClr val="FFFFFF"/>
                </a:solidFill>
                <a:latin typeface="微软雅黑"/>
                <a:ea typeface="微软雅黑"/>
              </a:rPr>
              <a:t>战略地图（BSC 四维度）</a:t>
            </a:r>
          </a:p>
        </p:txBody>
      </p:sp>
      <p:sp>
        <p:nvSpPr>
          <p:cNvPr id="7" name="TextBox 6"/>
          <p:cNvSpPr txBox="1"/>
          <p:nvPr/>
        </p:nvSpPr>
        <p:spPr>
          <a:xfrm>
            <a:off x="868680" y="4023360"/>
            <a:ext cx="10058400" cy="548640"/>
          </a:xfrm>
          <a:prstGeom prst="rect">
            <a:avLst/>
          </a:prstGeom>
          <a:noFill/>
        </p:spPr>
        <p:txBody>
          <a:bodyPr wrap="square" anchor="t" lIns="25400" rIns="25400" tIns="25400" bIns="25400">
            <a:spAutoFit/>
          </a:bodyPr>
          <a:lstStyle/>
          <a:p>
            <a:pPr algn="l"/>
            <a:r>
              <a:rPr sz="1600" b="0" i="0">
                <a:solidFill>
                  <a:srgbClr val="F0C8C2"/>
                </a:solidFill>
                <a:latin typeface="Arial"/>
                <a:ea typeface="Arial"/>
              </a:rPr>
              <a:t>Strategy Map</a:t>
            </a:r>
          </a:p>
        </p:txBody>
      </p:sp>
      <p:sp>
        <p:nvSpPr>
          <p:cNvPr id="8" name="TextBox 7"/>
          <p:cNvSpPr txBox="1"/>
          <p:nvPr/>
        </p:nvSpPr>
        <p:spPr>
          <a:xfrm>
            <a:off x="868680" y="4709160"/>
            <a:ext cx="10058400" cy="548640"/>
          </a:xfrm>
          <a:prstGeom prst="rect">
            <a:avLst/>
          </a:prstGeom>
          <a:noFill/>
        </p:spPr>
        <p:txBody>
          <a:bodyPr wrap="square" anchor="t" lIns="25400" rIns="25400" tIns="25400" bIns="25400">
            <a:spAutoFit/>
          </a:bodyPr>
          <a:lstStyle/>
          <a:p>
            <a:pPr algn="l"/>
            <a:r>
              <a:rPr sz="1500" b="0" i="0">
                <a:solidFill>
                  <a:srgbClr val="F7E3DF"/>
                </a:solidFill>
                <a:latin typeface="微软雅黑"/>
                <a:ea typeface="微软雅黑"/>
              </a:rPr>
              <a:t>财务 · 客户 · 内部流程 · 学习与成长 —— 因果驱动闭环</a:t>
            </a:r>
          </a:p>
        </p:txBody>
      </p:sp>
      <p:sp>
        <p:nvSpPr>
          <p:cNvPr id="9" name="TextBox 8"/>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10" name="TextBox 9"/>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赵一鸣零食 BSC 战略地图</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04</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43000"/>
            <a:ext cx="2331720" cy="120700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143000"/>
            <a:ext cx="2148839" cy="1207008"/>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财务维度</a:t>
            </a:r>
          </a:p>
          <a:p>
            <a:pPr algn="ctr">
              <a:lnSpc>
                <a:spcPct val="110000"/>
              </a:lnSpc>
              <a:spcBef>
                <a:spcPts val="400"/>
              </a:spcBef>
            </a:pPr>
            <a:r>
              <a:rPr sz="1000" b="0" i="0">
                <a:solidFill>
                  <a:srgbClr val="FFF0EC"/>
                </a:solidFill>
                <a:latin typeface="微软雅黑"/>
                <a:ea typeface="微软雅黑"/>
              </a:rPr>
              <a:t>扩大营收规模、优化利润结构、提升整体盈利能力</a:t>
            </a:r>
          </a:p>
        </p:txBody>
      </p:sp>
      <p:sp>
        <p:nvSpPr>
          <p:cNvPr id="10" name="Rectangle 9"/>
          <p:cNvSpPr/>
          <p:nvPr/>
        </p:nvSpPr>
        <p:spPr>
          <a:xfrm>
            <a:off x="2944368" y="1252728"/>
            <a:ext cx="2096262" cy="987552"/>
          </a:xfrm>
          <a:prstGeom prst="rect">
            <a:avLst/>
          </a:prstGeom>
          <a:solidFill>
            <a:srgbClr val="FFFFFF"/>
          </a:solidFill>
          <a:ln w="15875">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125272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单店月均供货收入→18万元</a:t>
            </a:r>
          </a:p>
        </p:txBody>
      </p:sp>
      <p:sp>
        <p:nvSpPr>
          <p:cNvPr id="12" name="Rectangle 11"/>
          <p:cNvSpPr/>
          <p:nvPr/>
        </p:nvSpPr>
        <p:spPr>
          <a:xfrm>
            <a:off x="5150358" y="1252728"/>
            <a:ext cx="2096262" cy="987552"/>
          </a:xfrm>
          <a:prstGeom prst="rect">
            <a:avLst/>
          </a:prstGeom>
          <a:solidFill>
            <a:srgbClr val="FFFFFF"/>
          </a:solidFill>
          <a:ln w="15875">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5222" y="125272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物流成本→&lt;1.5%</a:t>
            </a:r>
          </a:p>
        </p:txBody>
      </p:sp>
      <p:sp>
        <p:nvSpPr>
          <p:cNvPr id="14" name="Rectangle 13"/>
          <p:cNvSpPr/>
          <p:nvPr/>
        </p:nvSpPr>
        <p:spPr>
          <a:xfrm>
            <a:off x="7356348" y="1252728"/>
            <a:ext cx="2096262" cy="987552"/>
          </a:xfrm>
          <a:prstGeom prst="rect">
            <a:avLst/>
          </a:prstGeom>
          <a:solidFill>
            <a:srgbClr val="FFFFFF"/>
          </a:solidFill>
          <a:ln w="15875">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11212" y="125272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源头直采占比≥95%</a:t>
            </a:r>
          </a:p>
        </p:txBody>
      </p:sp>
      <p:sp>
        <p:nvSpPr>
          <p:cNvPr id="16" name="Rectangle 15"/>
          <p:cNvSpPr/>
          <p:nvPr/>
        </p:nvSpPr>
        <p:spPr>
          <a:xfrm>
            <a:off x="9562338" y="1252728"/>
            <a:ext cx="2096262" cy="987552"/>
          </a:xfrm>
          <a:prstGeom prst="rect">
            <a:avLst/>
          </a:prstGeom>
          <a:solidFill>
            <a:srgbClr val="FFFFFF"/>
          </a:solidFill>
          <a:ln w="15875">
            <a:solidFill>
              <a:srgbClr val="C0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17202" y="125272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线上营收占比 5%→15%</a:t>
            </a:r>
          </a:p>
        </p:txBody>
      </p:sp>
      <p:sp>
        <p:nvSpPr>
          <p:cNvPr id="18" name="Rectangle 17"/>
          <p:cNvSpPr/>
          <p:nvPr/>
        </p:nvSpPr>
        <p:spPr>
          <a:xfrm>
            <a:off x="502920" y="2423160"/>
            <a:ext cx="2331720" cy="1207008"/>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423160"/>
            <a:ext cx="2148839" cy="1207008"/>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客户维度</a:t>
            </a:r>
          </a:p>
          <a:p>
            <a:pPr algn="ctr">
              <a:lnSpc>
                <a:spcPct val="110000"/>
              </a:lnSpc>
              <a:spcBef>
                <a:spcPts val="400"/>
              </a:spcBef>
            </a:pPr>
            <a:r>
              <a:rPr sz="1000" b="0" i="0">
                <a:solidFill>
                  <a:srgbClr val="FFF0EC"/>
                </a:solidFill>
                <a:latin typeface="微软雅黑"/>
                <a:ea typeface="微软雅黑"/>
              </a:rPr>
              <a:t>稳固客群、拓展市场、提升口碑与复购</a:t>
            </a:r>
          </a:p>
        </p:txBody>
      </p:sp>
      <p:sp>
        <p:nvSpPr>
          <p:cNvPr id="20" name="Rectangle 19"/>
          <p:cNvSpPr/>
          <p:nvPr/>
        </p:nvSpPr>
        <p:spPr>
          <a:xfrm>
            <a:off x="2944368" y="2532888"/>
            <a:ext cx="2096262" cy="987552"/>
          </a:xfrm>
          <a:prstGeom prst="rect">
            <a:avLst/>
          </a:prstGeom>
          <a:solidFill>
            <a:srgbClr val="FFFFFF"/>
          </a:solidFill>
          <a:ln w="15875">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99232" y="253288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优化品牌形象</a:t>
            </a:r>
          </a:p>
        </p:txBody>
      </p:sp>
      <p:sp>
        <p:nvSpPr>
          <p:cNvPr id="22" name="Rectangle 21"/>
          <p:cNvSpPr/>
          <p:nvPr/>
        </p:nvSpPr>
        <p:spPr>
          <a:xfrm>
            <a:off x="5150358" y="2532888"/>
            <a:ext cx="2096262" cy="987552"/>
          </a:xfrm>
          <a:prstGeom prst="rect">
            <a:avLst/>
          </a:prstGeom>
          <a:solidFill>
            <a:srgbClr val="FFFFFF"/>
          </a:solidFill>
          <a:ln w="15875">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5222" y="253288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降低客诉率</a:t>
            </a:r>
          </a:p>
        </p:txBody>
      </p:sp>
      <p:sp>
        <p:nvSpPr>
          <p:cNvPr id="24" name="Rectangle 23"/>
          <p:cNvSpPr/>
          <p:nvPr/>
        </p:nvSpPr>
        <p:spPr>
          <a:xfrm>
            <a:off x="7356348" y="2532888"/>
            <a:ext cx="2096262" cy="987552"/>
          </a:xfrm>
          <a:prstGeom prst="rect">
            <a:avLst/>
          </a:prstGeom>
          <a:solidFill>
            <a:srgbClr val="FFFFFF"/>
          </a:solidFill>
          <a:ln w="15875">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11212" y="253288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会员消费占比→70%</a:t>
            </a:r>
          </a:p>
        </p:txBody>
      </p:sp>
      <p:sp>
        <p:nvSpPr>
          <p:cNvPr id="26" name="Rectangle 25"/>
          <p:cNvSpPr/>
          <p:nvPr/>
        </p:nvSpPr>
        <p:spPr>
          <a:xfrm>
            <a:off x="9562338" y="2532888"/>
            <a:ext cx="2096262" cy="987552"/>
          </a:xfrm>
          <a:prstGeom prst="rect">
            <a:avLst/>
          </a:prstGeom>
          <a:solidFill>
            <a:srgbClr val="FFFFFF"/>
          </a:solidFill>
          <a:ln w="15875">
            <a:solidFill>
              <a:srgbClr val="E37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7202" y="253288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北方门店占比→35%</a:t>
            </a:r>
          </a:p>
        </p:txBody>
      </p:sp>
      <p:sp>
        <p:nvSpPr>
          <p:cNvPr id="28" name="Rectangle 27"/>
          <p:cNvSpPr/>
          <p:nvPr/>
        </p:nvSpPr>
        <p:spPr>
          <a:xfrm>
            <a:off x="502920" y="3703320"/>
            <a:ext cx="2331720" cy="1207008"/>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703320"/>
            <a:ext cx="2148839" cy="1207008"/>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内部流程维度</a:t>
            </a:r>
          </a:p>
          <a:p>
            <a:pPr algn="ctr">
              <a:lnSpc>
                <a:spcPct val="110000"/>
              </a:lnSpc>
              <a:spcBef>
                <a:spcPts val="400"/>
              </a:spcBef>
            </a:pPr>
            <a:r>
              <a:rPr sz="1000" b="0" i="0">
                <a:solidFill>
                  <a:srgbClr val="FFF0EC"/>
                </a:solidFill>
                <a:latin typeface="微软雅黑"/>
                <a:ea typeface="微软雅黑"/>
              </a:rPr>
              <a:t>完善供应链、品控、门店管理，提升运营效率</a:t>
            </a:r>
          </a:p>
        </p:txBody>
      </p:sp>
      <p:sp>
        <p:nvSpPr>
          <p:cNvPr id="30" name="Rectangle 29"/>
          <p:cNvSpPr/>
          <p:nvPr/>
        </p:nvSpPr>
        <p:spPr>
          <a:xfrm>
            <a:off x="2944368" y="3813048"/>
            <a:ext cx="2096262" cy="987552"/>
          </a:xfrm>
          <a:prstGeom prst="rect">
            <a:avLst/>
          </a:prstGeom>
          <a:solidFill>
            <a:srgbClr val="FFFFFF"/>
          </a:solidFill>
          <a:ln w="15875">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99232" y="381304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搭建区域仓储配送中心</a:t>
            </a:r>
          </a:p>
        </p:txBody>
      </p:sp>
      <p:sp>
        <p:nvSpPr>
          <p:cNvPr id="32" name="Rectangle 31"/>
          <p:cNvSpPr/>
          <p:nvPr/>
        </p:nvSpPr>
        <p:spPr>
          <a:xfrm>
            <a:off x="5150358" y="3813048"/>
            <a:ext cx="2096262" cy="987552"/>
          </a:xfrm>
          <a:prstGeom prst="rect">
            <a:avLst/>
          </a:prstGeom>
          <a:solidFill>
            <a:srgbClr val="FFFFFF"/>
          </a:solidFill>
          <a:ln w="15875">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05222" y="381304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商品动销率→88%</a:t>
            </a:r>
          </a:p>
        </p:txBody>
      </p:sp>
      <p:sp>
        <p:nvSpPr>
          <p:cNvPr id="34" name="Rectangle 33"/>
          <p:cNvSpPr/>
          <p:nvPr/>
        </p:nvSpPr>
        <p:spPr>
          <a:xfrm>
            <a:off x="7356348" y="3813048"/>
            <a:ext cx="2096262" cy="987552"/>
          </a:xfrm>
          <a:prstGeom prst="rect">
            <a:avLst/>
          </a:prstGeom>
          <a:solidFill>
            <a:srgbClr val="FFFFFF"/>
          </a:solidFill>
          <a:ln w="15875">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11212" y="381304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自有品牌占比→30%</a:t>
            </a:r>
          </a:p>
        </p:txBody>
      </p:sp>
      <p:sp>
        <p:nvSpPr>
          <p:cNvPr id="36" name="Rectangle 35"/>
          <p:cNvSpPr/>
          <p:nvPr/>
        </p:nvSpPr>
        <p:spPr>
          <a:xfrm>
            <a:off x="9562338" y="3813048"/>
            <a:ext cx="2096262" cy="987552"/>
          </a:xfrm>
          <a:prstGeom prst="rect">
            <a:avLst/>
          </a:prstGeom>
          <a:solidFill>
            <a:srgbClr val="FFFFFF"/>
          </a:solidFill>
          <a:ln w="15875">
            <a:solidFill>
              <a:srgbClr val="2E8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17202" y="381304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加盟管理标准化</a:t>
            </a:r>
          </a:p>
        </p:txBody>
      </p:sp>
      <p:sp>
        <p:nvSpPr>
          <p:cNvPr id="38" name="Rectangle 37"/>
          <p:cNvSpPr/>
          <p:nvPr/>
        </p:nvSpPr>
        <p:spPr>
          <a:xfrm>
            <a:off x="502920" y="4983480"/>
            <a:ext cx="2331720" cy="1207008"/>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4983480"/>
            <a:ext cx="2148839" cy="1207008"/>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学习与成长维度</a:t>
            </a:r>
          </a:p>
          <a:p>
            <a:pPr algn="ctr">
              <a:lnSpc>
                <a:spcPct val="110000"/>
              </a:lnSpc>
              <a:spcBef>
                <a:spcPts val="400"/>
              </a:spcBef>
            </a:pPr>
            <a:r>
              <a:rPr sz="1000" b="0" i="0">
                <a:solidFill>
                  <a:srgbClr val="FFF0EC"/>
                </a:solidFill>
                <a:latin typeface="微软雅黑"/>
                <a:ea typeface="微软雅黑"/>
              </a:rPr>
              <a:t>强化数字化、人才、组织能力，为长期发展打底</a:t>
            </a:r>
          </a:p>
        </p:txBody>
      </p:sp>
      <p:sp>
        <p:nvSpPr>
          <p:cNvPr id="40" name="Rectangle 39"/>
          <p:cNvSpPr/>
          <p:nvPr/>
        </p:nvSpPr>
        <p:spPr>
          <a:xfrm>
            <a:off x="2944368" y="5093208"/>
            <a:ext cx="2096262" cy="987552"/>
          </a:xfrm>
          <a:prstGeom prst="rect">
            <a:avLst/>
          </a:prstGeom>
          <a:solidFill>
            <a:srgbClr val="FFFFFF"/>
          </a:solidFill>
          <a:ln w="15875">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99232" y="509320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搭建一体化数字系统</a:t>
            </a:r>
          </a:p>
        </p:txBody>
      </p:sp>
      <p:sp>
        <p:nvSpPr>
          <p:cNvPr id="42" name="Rectangle 41"/>
          <p:cNvSpPr/>
          <p:nvPr/>
        </p:nvSpPr>
        <p:spPr>
          <a:xfrm>
            <a:off x="5150358" y="5093208"/>
            <a:ext cx="2096262" cy="987552"/>
          </a:xfrm>
          <a:prstGeom prst="rect">
            <a:avLst/>
          </a:prstGeom>
          <a:solidFill>
            <a:srgbClr val="FFFFFF"/>
          </a:solidFill>
          <a:ln w="15875">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05222" y="509320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员工/加盟商培训</a:t>
            </a:r>
          </a:p>
        </p:txBody>
      </p:sp>
      <p:sp>
        <p:nvSpPr>
          <p:cNvPr id="44" name="Rectangle 43"/>
          <p:cNvSpPr/>
          <p:nvPr/>
        </p:nvSpPr>
        <p:spPr>
          <a:xfrm>
            <a:off x="7356348" y="5093208"/>
            <a:ext cx="2096262" cy="987552"/>
          </a:xfrm>
          <a:prstGeom prst="rect">
            <a:avLst/>
          </a:prstGeom>
          <a:solidFill>
            <a:srgbClr val="FFFFFF"/>
          </a:solidFill>
          <a:ln w="15875">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11212" y="509320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库存准确率→99%</a:t>
            </a:r>
          </a:p>
        </p:txBody>
      </p:sp>
      <p:sp>
        <p:nvSpPr>
          <p:cNvPr id="46" name="Rectangle 45"/>
          <p:cNvSpPr/>
          <p:nvPr/>
        </p:nvSpPr>
        <p:spPr>
          <a:xfrm>
            <a:off x="9562338" y="5093208"/>
            <a:ext cx="2096262" cy="987552"/>
          </a:xfrm>
          <a:prstGeom prst="rect">
            <a:avLst/>
          </a:prstGeom>
          <a:solidFill>
            <a:srgbClr val="FFFFFF"/>
          </a:solidFill>
          <a:ln w="15875">
            <a:solidFill>
              <a:srgbClr val="2C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17202" y="5093208"/>
            <a:ext cx="1986534" cy="987552"/>
          </a:xfrm>
          <a:prstGeom prst="rect">
            <a:avLst/>
          </a:prstGeom>
          <a:noFill/>
        </p:spPr>
        <p:txBody>
          <a:bodyPr wrap="square" anchor="ctr" lIns="25400" rIns="25400" tIns="25400" bIns="25400">
            <a:spAutoFit/>
          </a:bodyPr>
          <a:lstStyle/>
          <a:p>
            <a:pPr algn="ctr">
              <a:lnSpc>
                <a:spcPct val="110000"/>
              </a:lnSpc>
            </a:pPr>
            <a:r>
              <a:rPr sz="1150" b="0" i="0">
                <a:solidFill>
                  <a:srgbClr val="262626"/>
                </a:solidFill>
                <a:latin typeface="微软雅黑"/>
                <a:ea typeface="微软雅黑"/>
              </a:rPr>
              <a:t>优化组织架构适配全国扩张</a:t>
            </a:r>
          </a:p>
        </p:txBody>
      </p:sp>
      <p:sp>
        <p:nvSpPr>
          <p:cNvPr id="48" name="Up Arrow 47"/>
          <p:cNvSpPr/>
          <p:nvPr/>
        </p:nvSpPr>
        <p:spPr>
          <a:xfrm>
            <a:off x="11686032" y="1143000"/>
            <a:ext cx="384048" cy="5047488"/>
          </a:xfrm>
          <a:prstGeom prst="upArrow">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微软雅黑"/>
                <a:ea typeface="微软雅黑"/>
              </a:rPr>
              <a:t>因
果
驱
动</a:t>
            </a:r>
          </a:p>
        </p:txBody>
      </p:sp>
      <p:sp>
        <p:nvSpPr>
          <p:cNvPr id="49" name="TextBox 48"/>
          <p:cNvSpPr txBox="1"/>
          <p:nvPr/>
        </p:nvSpPr>
        <p:spPr>
          <a:xfrm>
            <a:off x="502920" y="6172200"/>
            <a:ext cx="11155680" cy="365760"/>
          </a:xfrm>
          <a:prstGeom prst="rect">
            <a:avLst/>
          </a:prstGeom>
          <a:noFill/>
        </p:spPr>
        <p:txBody>
          <a:bodyPr wrap="square" anchor="t" lIns="25400" rIns="25400" tIns="25400" bIns="25400">
            <a:spAutoFit/>
          </a:bodyPr>
          <a:lstStyle/>
          <a:p>
            <a:pPr algn="ctr"/>
            <a:r>
              <a:rPr sz="1200" b="1" i="0">
                <a:solidFill>
                  <a:srgbClr val="666666"/>
                </a:solidFill>
                <a:latin typeface="微软雅黑"/>
                <a:ea typeface="微软雅黑"/>
              </a:rPr>
              <a:t>驱动逻辑：学习成长 → 内部流程 → 客户 → 财务，底层能力支撑上层目标，形成战略闭环。</a:t>
            </a:r>
          </a:p>
        </p:txBody>
      </p:sp>
      <p:sp>
        <p:nvSpPr>
          <p:cNvPr id="50" name="TextBox 49"/>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51" name="TextBox 50"/>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战略地图 · 财务维度</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04</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11155680" cy="6858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88720"/>
            <a:ext cx="10607040" cy="685800"/>
          </a:xfrm>
          <a:prstGeom prst="rect">
            <a:avLst/>
          </a:prstGeom>
          <a:noFill/>
        </p:spPr>
        <p:txBody>
          <a:bodyPr wrap="square" anchor="ctr" lIns="25400" rIns="25400" tIns="25400" bIns="25400">
            <a:spAutoFit/>
          </a:bodyPr>
          <a:lstStyle/>
          <a:p>
            <a:pPr algn="l"/>
            <a:r>
              <a:rPr sz="1400" b="1" i="0">
                <a:solidFill>
                  <a:srgbClr val="FFECE6"/>
                </a:solidFill>
                <a:latin typeface="微软雅黑"/>
                <a:ea typeface="微软雅黑"/>
              </a:rPr>
              <a:t>战略主题：</a:t>
            </a:r>
            <a:r>
              <a:rPr sz="1500" b="1" i="0">
                <a:solidFill>
                  <a:srgbClr val="FFFFFF"/>
                </a:solidFill>
                <a:latin typeface="微软雅黑"/>
                <a:ea typeface="微软雅黑"/>
              </a:rPr>
              <a:t>扩大营收规模、优化利润结构、提升整体盈利能力</a:t>
            </a:r>
          </a:p>
        </p:txBody>
      </p:sp>
      <p:sp>
        <p:nvSpPr>
          <p:cNvPr id="10" name="Rectangle 9"/>
          <p:cNvSpPr/>
          <p:nvPr/>
        </p:nvSpPr>
        <p:spPr>
          <a:xfrm>
            <a:off x="502920" y="2057400"/>
            <a:ext cx="11155680" cy="45720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057400"/>
            <a:ext cx="21945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战略目标</a:t>
            </a:r>
          </a:p>
        </p:txBody>
      </p:sp>
      <p:sp>
        <p:nvSpPr>
          <p:cNvPr id="12" name="TextBox 11"/>
          <p:cNvSpPr txBox="1"/>
          <p:nvPr/>
        </p:nvSpPr>
        <p:spPr>
          <a:xfrm>
            <a:off x="2971800" y="205740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关键指标 (KPI)</a:t>
            </a:r>
          </a:p>
        </p:txBody>
      </p:sp>
      <p:sp>
        <p:nvSpPr>
          <p:cNvPr id="13" name="TextBox 12"/>
          <p:cNvSpPr txBox="1"/>
          <p:nvPr/>
        </p:nvSpPr>
        <p:spPr>
          <a:xfrm>
            <a:off x="5715000" y="2057400"/>
            <a:ext cx="228600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目标值 / 现状</a:t>
            </a:r>
          </a:p>
        </p:txBody>
      </p:sp>
      <p:sp>
        <p:nvSpPr>
          <p:cNvPr id="14" name="TextBox 13"/>
          <p:cNvSpPr txBox="1"/>
          <p:nvPr/>
        </p:nvSpPr>
        <p:spPr>
          <a:xfrm>
            <a:off x="8183880" y="2057400"/>
            <a:ext cx="3383279"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支撑举措</a:t>
            </a:r>
          </a:p>
        </p:txBody>
      </p:sp>
      <p:sp>
        <p:nvSpPr>
          <p:cNvPr id="15" name="Rectangle 14"/>
          <p:cNvSpPr/>
          <p:nvPr/>
        </p:nvSpPr>
        <p:spPr>
          <a:xfrm>
            <a:off x="502920" y="2514600"/>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14600"/>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C01A22"/>
                </a:solidFill>
                <a:latin typeface="微软雅黑"/>
                <a:ea typeface="微软雅黑"/>
              </a:rPr>
              <a:t>营收规模增长</a:t>
            </a:r>
          </a:p>
        </p:txBody>
      </p:sp>
      <p:sp>
        <p:nvSpPr>
          <p:cNvPr id="17" name="TextBox 16"/>
          <p:cNvSpPr txBox="1"/>
          <p:nvPr/>
        </p:nvSpPr>
        <p:spPr>
          <a:xfrm>
            <a:off x="2990088" y="2514600"/>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总营收 / 单店月供货收入</a:t>
            </a:r>
          </a:p>
        </p:txBody>
      </p:sp>
      <p:sp>
        <p:nvSpPr>
          <p:cNvPr id="18" name="TextBox 17"/>
          <p:cNvSpPr txBox="1"/>
          <p:nvPr/>
        </p:nvSpPr>
        <p:spPr>
          <a:xfrm>
            <a:off x="5733288" y="2514600"/>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250亿(2027) / 18万元</a:t>
            </a:r>
          </a:p>
        </p:txBody>
      </p:sp>
      <p:sp>
        <p:nvSpPr>
          <p:cNvPr id="19" name="TextBox 18"/>
          <p:cNvSpPr txBox="1"/>
          <p:nvPr/>
        </p:nvSpPr>
        <p:spPr>
          <a:xfrm>
            <a:off x="8202168" y="2514600"/>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20% CAGR；规模化扩张 + 单店提效</a:t>
            </a:r>
          </a:p>
        </p:txBody>
      </p:sp>
      <p:sp>
        <p:nvSpPr>
          <p:cNvPr id="20" name="Rectangle 19"/>
          <p:cNvSpPr/>
          <p:nvPr/>
        </p:nvSpPr>
        <p:spPr>
          <a:xfrm>
            <a:off x="502920" y="3300984"/>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300984"/>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C01A22"/>
                </a:solidFill>
                <a:latin typeface="微软雅黑"/>
                <a:ea typeface="微软雅黑"/>
              </a:rPr>
              <a:t>供应链成本优化</a:t>
            </a:r>
          </a:p>
        </p:txBody>
      </p:sp>
      <p:sp>
        <p:nvSpPr>
          <p:cNvPr id="22" name="TextBox 21"/>
          <p:cNvSpPr txBox="1"/>
          <p:nvPr/>
        </p:nvSpPr>
        <p:spPr>
          <a:xfrm>
            <a:off x="2990088" y="3300984"/>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源头直采占比</a:t>
            </a:r>
          </a:p>
        </p:txBody>
      </p:sp>
      <p:sp>
        <p:nvSpPr>
          <p:cNvPr id="23" name="TextBox 22"/>
          <p:cNvSpPr txBox="1"/>
          <p:nvPr/>
        </p:nvSpPr>
        <p:spPr>
          <a:xfrm>
            <a:off x="5733288" y="3300984"/>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≥95%（现 92.3%）</a:t>
            </a:r>
          </a:p>
        </p:txBody>
      </p:sp>
      <p:sp>
        <p:nvSpPr>
          <p:cNvPr id="24" name="TextBox 23"/>
          <p:cNvSpPr txBox="1"/>
          <p:nvPr/>
        </p:nvSpPr>
        <p:spPr>
          <a:xfrm>
            <a:off x="8202168" y="3300984"/>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完全去经销商化，砍中间溢价</a:t>
            </a:r>
          </a:p>
        </p:txBody>
      </p:sp>
      <p:sp>
        <p:nvSpPr>
          <p:cNvPr id="25" name="Rectangle 24"/>
          <p:cNvSpPr/>
          <p:nvPr/>
        </p:nvSpPr>
        <p:spPr>
          <a:xfrm>
            <a:off x="502920" y="4087368"/>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087368"/>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C01A22"/>
                </a:solidFill>
                <a:latin typeface="微软雅黑"/>
                <a:ea typeface="微软雅黑"/>
              </a:rPr>
              <a:t>物流费用管控</a:t>
            </a:r>
          </a:p>
        </p:txBody>
      </p:sp>
      <p:sp>
        <p:nvSpPr>
          <p:cNvPr id="27" name="TextBox 26"/>
          <p:cNvSpPr txBox="1"/>
          <p:nvPr/>
        </p:nvSpPr>
        <p:spPr>
          <a:xfrm>
            <a:off x="2990088" y="4087368"/>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物流成本占收入比</a:t>
            </a:r>
          </a:p>
        </p:txBody>
      </p:sp>
      <p:sp>
        <p:nvSpPr>
          <p:cNvPr id="28" name="TextBox 27"/>
          <p:cNvSpPr txBox="1"/>
          <p:nvPr/>
        </p:nvSpPr>
        <p:spPr>
          <a:xfrm>
            <a:off x="5733288" y="4087368"/>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&lt;1.5%（现 1.7%）</a:t>
            </a:r>
          </a:p>
        </p:txBody>
      </p:sp>
      <p:sp>
        <p:nvSpPr>
          <p:cNvPr id="29" name="TextBox 28"/>
          <p:cNvSpPr txBox="1"/>
          <p:nvPr/>
        </p:nvSpPr>
        <p:spPr>
          <a:xfrm>
            <a:off x="8202168" y="4087368"/>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56 仓配中心 + 数字化网格配送</a:t>
            </a:r>
          </a:p>
        </p:txBody>
      </p:sp>
      <p:sp>
        <p:nvSpPr>
          <p:cNvPr id="30" name="Rectangle 29"/>
          <p:cNvSpPr/>
          <p:nvPr/>
        </p:nvSpPr>
        <p:spPr>
          <a:xfrm>
            <a:off x="502920" y="4873752"/>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4873752"/>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C01A22"/>
                </a:solidFill>
                <a:latin typeface="微软雅黑"/>
                <a:ea typeface="微软雅黑"/>
              </a:rPr>
              <a:t>渠道结构升级</a:t>
            </a:r>
          </a:p>
        </p:txBody>
      </p:sp>
      <p:sp>
        <p:nvSpPr>
          <p:cNvPr id="32" name="TextBox 31"/>
          <p:cNvSpPr txBox="1"/>
          <p:nvPr/>
        </p:nvSpPr>
        <p:spPr>
          <a:xfrm>
            <a:off x="2990088" y="4873752"/>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线上(即时零售)营收占比</a:t>
            </a:r>
          </a:p>
        </p:txBody>
      </p:sp>
      <p:sp>
        <p:nvSpPr>
          <p:cNvPr id="33" name="TextBox 32"/>
          <p:cNvSpPr txBox="1"/>
          <p:nvPr/>
        </p:nvSpPr>
        <p:spPr>
          <a:xfrm>
            <a:off x="5733288" y="4873752"/>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5%→15%</a:t>
            </a:r>
          </a:p>
        </p:txBody>
      </p:sp>
      <p:sp>
        <p:nvSpPr>
          <p:cNvPr id="34" name="TextBox 33"/>
          <p:cNvSpPr txBox="1"/>
          <p:nvPr/>
        </p:nvSpPr>
        <p:spPr>
          <a:xfrm>
            <a:off x="8202168" y="4873752"/>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门店变前置仓，接入美团/饿了么</a:t>
            </a:r>
          </a:p>
        </p:txBody>
      </p:sp>
      <p:sp>
        <p:nvSpPr>
          <p:cNvPr id="35" name="Rectangle 34"/>
          <p:cNvSpPr/>
          <p:nvPr/>
        </p:nvSpPr>
        <p:spPr>
          <a:xfrm>
            <a:off x="502920" y="5751576"/>
            <a:ext cx="11155680" cy="64008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751576"/>
            <a:ext cx="91440" cy="6400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751576"/>
            <a:ext cx="10789920" cy="640080"/>
          </a:xfrm>
          <a:prstGeom prst="rect">
            <a:avLst/>
          </a:prstGeom>
          <a:noFill/>
        </p:spPr>
        <p:txBody>
          <a:bodyPr wrap="square" anchor="ctr" lIns="25400" rIns="25400" tIns="25400" bIns="25400">
            <a:spAutoFit/>
          </a:bodyPr>
          <a:lstStyle/>
          <a:p>
            <a:pPr algn="l">
              <a:lnSpc>
                <a:spcPct val="120000"/>
              </a:lnSpc>
            </a:pPr>
            <a:r>
              <a:rPr sz="1200" b="1" i="0">
                <a:solidFill>
                  <a:srgbClr val="C01A22"/>
                </a:solidFill>
                <a:latin typeface="微软雅黑"/>
                <a:ea typeface="微软雅黑"/>
              </a:rPr>
              <a:t>小结：</a:t>
            </a:r>
            <a:r>
              <a:rPr sz="1200" b="0" i="0">
                <a:solidFill>
                  <a:srgbClr val="262626"/>
                </a:solidFill>
                <a:latin typeface="微软雅黑"/>
                <a:ea typeface="微软雅黑"/>
              </a:rPr>
              <a:t>财务目标以「营收+毛利」双增长为核心；直采与物流成本已具领先优势，毛利提升关键在自有品牌放量。</a:t>
            </a:r>
          </a:p>
        </p:txBody>
      </p:sp>
      <p:sp>
        <p:nvSpPr>
          <p:cNvPr id="38" name="TextBox 37"/>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9" name="TextBox 38"/>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战略地图 · 客户维度</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04</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11155680" cy="68580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88720"/>
            <a:ext cx="10607040" cy="685800"/>
          </a:xfrm>
          <a:prstGeom prst="rect">
            <a:avLst/>
          </a:prstGeom>
          <a:noFill/>
        </p:spPr>
        <p:txBody>
          <a:bodyPr wrap="square" anchor="ctr" lIns="25400" rIns="25400" tIns="25400" bIns="25400">
            <a:spAutoFit/>
          </a:bodyPr>
          <a:lstStyle/>
          <a:p>
            <a:pPr algn="l"/>
            <a:r>
              <a:rPr sz="1400" b="1" i="0">
                <a:solidFill>
                  <a:srgbClr val="FFECE6"/>
                </a:solidFill>
                <a:latin typeface="微软雅黑"/>
                <a:ea typeface="微软雅黑"/>
              </a:rPr>
              <a:t>战略主题：</a:t>
            </a:r>
            <a:r>
              <a:rPr sz="1500" b="1" i="0">
                <a:solidFill>
                  <a:srgbClr val="FFFFFF"/>
                </a:solidFill>
                <a:latin typeface="微软雅黑"/>
                <a:ea typeface="微软雅黑"/>
              </a:rPr>
              <a:t>稳固客群、拓展市场、提升用户口碑与复购</a:t>
            </a:r>
          </a:p>
        </p:txBody>
      </p:sp>
      <p:sp>
        <p:nvSpPr>
          <p:cNvPr id="10" name="Rectangle 9"/>
          <p:cNvSpPr/>
          <p:nvPr/>
        </p:nvSpPr>
        <p:spPr>
          <a:xfrm>
            <a:off x="502920" y="2057400"/>
            <a:ext cx="11155680" cy="45720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057400"/>
            <a:ext cx="21945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战略目标</a:t>
            </a:r>
          </a:p>
        </p:txBody>
      </p:sp>
      <p:sp>
        <p:nvSpPr>
          <p:cNvPr id="12" name="TextBox 11"/>
          <p:cNvSpPr txBox="1"/>
          <p:nvPr/>
        </p:nvSpPr>
        <p:spPr>
          <a:xfrm>
            <a:off x="2971800" y="205740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关键指标 (KPI)</a:t>
            </a:r>
          </a:p>
        </p:txBody>
      </p:sp>
      <p:sp>
        <p:nvSpPr>
          <p:cNvPr id="13" name="TextBox 12"/>
          <p:cNvSpPr txBox="1"/>
          <p:nvPr/>
        </p:nvSpPr>
        <p:spPr>
          <a:xfrm>
            <a:off x="5715000" y="2057400"/>
            <a:ext cx="228600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目标值 / 现状</a:t>
            </a:r>
          </a:p>
        </p:txBody>
      </p:sp>
      <p:sp>
        <p:nvSpPr>
          <p:cNvPr id="14" name="TextBox 13"/>
          <p:cNvSpPr txBox="1"/>
          <p:nvPr/>
        </p:nvSpPr>
        <p:spPr>
          <a:xfrm>
            <a:off x="8183880" y="2057400"/>
            <a:ext cx="3383279"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支撑举措</a:t>
            </a:r>
          </a:p>
        </p:txBody>
      </p:sp>
      <p:sp>
        <p:nvSpPr>
          <p:cNvPr id="15" name="Rectangle 14"/>
          <p:cNvSpPr/>
          <p:nvPr/>
        </p:nvSpPr>
        <p:spPr>
          <a:xfrm>
            <a:off x="502920" y="2514600"/>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14600"/>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E37E1B"/>
                </a:solidFill>
                <a:latin typeface="微软雅黑"/>
                <a:ea typeface="微软雅黑"/>
              </a:rPr>
              <a:t>提升品牌口碑</a:t>
            </a:r>
          </a:p>
        </p:txBody>
      </p:sp>
      <p:sp>
        <p:nvSpPr>
          <p:cNvPr id="17" name="TextBox 16"/>
          <p:cNvSpPr txBox="1"/>
          <p:nvPr/>
        </p:nvSpPr>
        <p:spPr>
          <a:xfrm>
            <a:off x="2990088" y="2514600"/>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品牌形象 / 客诉率</a:t>
            </a:r>
          </a:p>
        </p:txBody>
      </p:sp>
      <p:sp>
        <p:nvSpPr>
          <p:cNvPr id="18" name="TextBox 17"/>
          <p:cNvSpPr txBox="1"/>
          <p:nvPr/>
        </p:nvSpPr>
        <p:spPr>
          <a:xfrm>
            <a:off x="5733288" y="2514600"/>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优化形象、客诉率下降</a:t>
            </a:r>
          </a:p>
        </p:txBody>
      </p:sp>
      <p:sp>
        <p:nvSpPr>
          <p:cNvPr id="19" name="TextBox 18"/>
          <p:cNvSpPr txBox="1"/>
          <p:nvPr/>
        </p:nvSpPr>
        <p:spPr>
          <a:xfrm>
            <a:off x="8202168" y="2514600"/>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统一 IP 营销 + 服务标准化</a:t>
            </a:r>
          </a:p>
        </p:txBody>
      </p:sp>
      <p:sp>
        <p:nvSpPr>
          <p:cNvPr id="20" name="Rectangle 19"/>
          <p:cNvSpPr/>
          <p:nvPr/>
        </p:nvSpPr>
        <p:spPr>
          <a:xfrm>
            <a:off x="502920" y="3300984"/>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300984"/>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E37E1B"/>
                </a:solidFill>
                <a:latin typeface="微软雅黑"/>
                <a:ea typeface="微软雅黑"/>
              </a:rPr>
              <a:t>深挖用户价值</a:t>
            </a:r>
          </a:p>
        </p:txBody>
      </p:sp>
      <p:sp>
        <p:nvSpPr>
          <p:cNvPr id="22" name="TextBox 21"/>
          <p:cNvSpPr txBox="1"/>
          <p:nvPr/>
        </p:nvSpPr>
        <p:spPr>
          <a:xfrm>
            <a:off x="2990088" y="3300984"/>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会员消费占比</a:t>
            </a:r>
          </a:p>
        </p:txBody>
      </p:sp>
      <p:sp>
        <p:nvSpPr>
          <p:cNvPr id="23" name="TextBox 22"/>
          <p:cNvSpPr txBox="1"/>
          <p:nvPr/>
        </p:nvSpPr>
        <p:spPr>
          <a:xfrm>
            <a:off x="5733288" y="3300984"/>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→70%（复购率已达 75%）</a:t>
            </a:r>
          </a:p>
        </p:txBody>
      </p:sp>
      <p:sp>
        <p:nvSpPr>
          <p:cNvPr id="24" name="TextBox 23"/>
          <p:cNvSpPr txBox="1"/>
          <p:nvPr/>
        </p:nvSpPr>
        <p:spPr>
          <a:xfrm>
            <a:off x="8202168" y="3300984"/>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会员分层权益 + 精准营销</a:t>
            </a:r>
          </a:p>
        </p:txBody>
      </p:sp>
      <p:sp>
        <p:nvSpPr>
          <p:cNvPr id="25" name="Rectangle 24"/>
          <p:cNvSpPr/>
          <p:nvPr/>
        </p:nvSpPr>
        <p:spPr>
          <a:xfrm>
            <a:off x="502920" y="4087368"/>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087368"/>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E37E1B"/>
                </a:solidFill>
                <a:latin typeface="微软雅黑"/>
                <a:ea typeface="微软雅黑"/>
              </a:rPr>
              <a:t>拓展区域市场</a:t>
            </a:r>
          </a:p>
        </p:txBody>
      </p:sp>
      <p:sp>
        <p:nvSpPr>
          <p:cNvPr id="27" name="TextBox 26"/>
          <p:cNvSpPr txBox="1"/>
          <p:nvPr/>
        </p:nvSpPr>
        <p:spPr>
          <a:xfrm>
            <a:off x="2990088" y="4087368"/>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北方门店占比</a:t>
            </a:r>
          </a:p>
        </p:txBody>
      </p:sp>
      <p:sp>
        <p:nvSpPr>
          <p:cNvPr id="28" name="TextBox 27"/>
          <p:cNvSpPr txBox="1"/>
          <p:nvPr/>
        </p:nvSpPr>
        <p:spPr>
          <a:xfrm>
            <a:off x="5733288" y="4087368"/>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→35%（现约 15–18%）</a:t>
            </a:r>
          </a:p>
        </p:txBody>
      </p:sp>
      <p:sp>
        <p:nvSpPr>
          <p:cNvPr id="29" name="TextBox 28"/>
          <p:cNvSpPr txBox="1"/>
          <p:nvPr/>
        </p:nvSpPr>
        <p:spPr>
          <a:xfrm>
            <a:off x="8202168" y="4087368"/>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10 亿专项资金深耕华北/西北</a:t>
            </a:r>
          </a:p>
        </p:txBody>
      </p:sp>
      <p:sp>
        <p:nvSpPr>
          <p:cNvPr id="30" name="Rectangle 29"/>
          <p:cNvSpPr/>
          <p:nvPr/>
        </p:nvSpPr>
        <p:spPr>
          <a:xfrm>
            <a:off x="502920" y="4873752"/>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4873752"/>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E37E1B"/>
                </a:solidFill>
                <a:latin typeface="微软雅黑"/>
                <a:ea typeface="微软雅黑"/>
              </a:rPr>
              <a:t>扩大客群基数</a:t>
            </a:r>
          </a:p>
        </p:txBody>
      </p:sp>
      <p:sp>
        <p:nvSpPr>
          <p:cNvPr id="32" name="TextBox 31"/>
          <p:cNvSpPr txBox="1"/>
          <p:nvPr/>
        </p:nvSpPr>
        <p:spPr>
          <a:xfrm>
            <a:off x="2990088" y="4873752"/>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门店数量</a:t>
            </a:r>
          </a:p>
        </p:txBody>
      </p:sp>
      <p:sp>
        <p:nvSpPr>
          <p:cNvPr id="33" name="TextBox 32"/>
          <p:cNvSpPr txBox="1"/>
          <p:nvPr/>
        </p:nvSpPr>
        <p:spPr>
          <a:xfrm>
            <a:off x="5733288" y="4873752"/>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北方 3000+ 家</a:t>
            </a:r>
          </a:p>
        </p:txBody>
      </p:sp>
      <p:sp>
        <p:nvSpPr>
          <p:cNvPr id="34" name="TextBox 33"/>
          <p:cNvSpPr txBox="1"/>
          <p:nvPr/>
        </p:nvSpPr>
        <p:spPr>
          <a:xfrm>
            <a:off x="8202168" y="4873752"/>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优先安徽/河北/山东，辐射山陕</a:t>
            </a:r>
          </a:p>
        </p:txBody>
      </p:sp>
      <p:sp>
        <p:nvSpPr>
          <p:cNvPr id="35" name="Rectangle 34"/>
          <p:cNvSpPr/>
          <p:nvPr/>
        </p:nvSpPr>
        <p:spPr>
          <a:xfrm>
            <a:off x="502920" y="5751576"/>
            <a:ext cx="11155680" cy="64008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751576"/>
            <a:ext cx="91440" cy="6400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751576"/>
            <a:ext cx="10789920" cy="640080"/>
          </a:xfrm>
          <a:prstGeom prst="rect">
            <a:avLst/>
          </a:prstGeom>
          <a:noFill/>
        </p:spPr>
        <p:txBody>
          <a:bodyPr wrap="square" anchor="ctr" lIns="25400" rIns="25400" tIns="25400" bIns="25400">
            <a:spAutoFit/>
          </a:bodyPr>
          <a:lstStyle/>
          <a:p>
            <a:pPr algn="l">
              <a:lnSpc>
                <a:spcPct val="120000"/>
              </a:lnSpc>
            </a:pPr>
            <a:r>
              <a:rPr sz="1200" b="1" i="0">
                <a:solidFill>
                  <a:srgbClr val="C01A22"/>
                </a:solidFill>
                <a:latin typeface="微软雅黑"/>
                <a:ea typeface="微软雅黑"/>
              </a:rPr>
              <a:t>小结：</a:t>
            </a:r>
            <a:r>
              <a:rPr sz="1200" b="0" i="0">
                <a:solidFill>
                  <a:srgbClr val="262626"/>
                </a:solidFill>
                <a:latin typeface="微软雅黑"/>
                <a:ea typeface="微软雅黑"/>
              </a:rPr>
              <a:t>复购率已超额达成（75%&gt;50%），重心转向「从复购到高价值消费」；北方市场为最大增量空间。</a:t>
            </a:r>
          </a:p>
        </p:txBody>
      </p:sp>
      <p:sp>
        <p:nvSpPr>
          <p:cNvPr id="38" name="TextBox 37"/>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9" name="TextBox 38"/>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战略地图 · 内部流程维度</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04</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11155680" cy="68580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88720"/>
            <a:ext cx="10607040" cy="685800"/>
          </a:xfrm>
          <a:prstGeom prst="rect">
            <a:avLst/>
          </a:prstGeom>
          <a:noFill/>
        </p:spPr>
        <p:txBody>
          <a:bodyPr wrap="square" anchor="ctr" lIns="25400" rIns="25400" tIns="25400" bIns="25400">
            <a:spAutoFit/>
          </a:bodyPr>
          <a:lstStyle/>
          <a:p>
            <a:pPr algn="l"/>
            <a:r>
              <a:rPr sz="1400" b="1" i="0">
                <a:solidFill>
                  <a:srgbClr val="FFECE6"/>
                </a:solidFill>
                <a:latin typeface="微软雅黑"/>
                <a:ea typeface="微软雅黑"/>
              </a:rPr>
              <a:t>战略主题：</a:t>
            </a:r>
            <a:r>
              <a:rPr sz="1500" b="1" i="0">
                <a:solidFill>
                  <a:srgbClr val="FFFFFF"/>
                </a:solidFill>
                <a:latin typeface="微软雅黑"/>
                <a:ea typeface="微软雅黑"/>
              </a:rPr>
              <a:t>完善供应链、品控、门店管理，提升运营效率</a:t>
            </a:r>
          </a:p>
        </p:txBody>
      </p:sp>
      <p:sp>
        <p:nvSpPr>
          <p:cNvPr id="10" name="Rectangle 9"/>
          <p:cNvSpPr/>
          <p:nvPr/>
        </p:nvSpPr>
        <p:spPr>
          <a:xfrm>
            <a:off x="502920" y="2057400"/>
            <a:ext cx="11155680" cy="45720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057400"/>
            <a:ext cx="21945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战略目标</a:t>
            </a:r>
          </a:p>
        </p:txBody>
      </p:sp>
      <p:sp>
        <p:nvSpPr>
          <p:cNvPr id="12" name="TextBox 11"/>
          <p:cNvSpPr txBox="1"/>
          <p:nvPr/>
        </p:nvSpPr>
        <p:spPr>
          <a:xfrm>
            <a:off x="2971800" y="205740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关键指标 (KPI)</a:t>
            </a:r>
          </a:p>
        </p:txBody>
      </p:sp>
      <p:sp>
        <p:nvSpPr>
          <p:cNvPr id="13" name="TextBox 12"/>
          <p:cNvSpPr txBox="1"/>
          <p:nvPr/>
        </p:nvSpPr>
        <p:spPr>
          <a:xfrm>
            <a:off x="5715000" y="2057400"/>
            <a:ext cx="228600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目标值 / 现状</a:t>
            </a:r>
          </a:p>
        </p:txBody>
      </p:sp>
      <p:sp>
        <p:nvSpPr>
          <p:cNvPr id="14" name="TextBox 13"/>
          <p:cNvSpPr txBox="1"/>
          <p:nvPr/>
        </p:nvSpPr>
        <p:spPr>
          <a:xfrm>
            <a:off x="8183880" y="2057400"/>
            <a:ext cx="3383279"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支撑举措</a:t>
            </a:r>
          </a:p>
        </p:txBody>
      </p:sp>
      <p:sp>
        <p:nvSpPr>
          <p:cNvPr id="15" name="Rectangle 14"/>
          <p:cNvSpPr/>
          <p:nvPr/>
        </p:nvSpPr>
        <p:spPr>
          <a:xfrm>
            <a:off x="502920" y="2514600"/>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14600"/>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E8B76"/>
                </a:solidFill>
                <a:latin typeface="微软雅黑"/>
                <a:ea typeface="微软雅黑"/>
              </a:rPr>
              <a:t>供应链网络建设</a:t>
            </a:r>
          </a:p>
        </p:txBody>
      </p:sp>
      <p:sp>
        <p:nvSpPr>
          <p:cNvPr id="17" name="TextBox 16"/>
          <p:cNvSpPr txBox="1"/>
          <p:nvPr/>
        </p:nvSpPr>
        <p:spPr>
          <a:xfrm>
            <a:off x="2990088" y="2514600"/>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区域仓配中心数量</a:t>
            </a:r>
          </a:p>
        </p:txBody>
      </p:sp>
      <p:sp>
        <p:nvSpPr>
          <p:cNvPr id="18" name="TextBox 17"/>
          <p:cNvSpPr txBox="1"/>
          <p:nvPr/>
        </p:nvSpPr>
        <p:spPr>
          <a:xfrm>
            <a:off x="5733288" y="2514600"/>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已建 56 个，持续加密</a:t>
            </a:r>
          </a:p>
        </p:txBody>
      </p:sp>
      <p:sp>
        <p:nvSpPr>
          <p:cNvPr id="19" name="TextBox 18"/>
          <p:cNvSpPr txBox="1"/>
          <p:nvPr/>
        </p:nvSpPr>
        <p:spPr>
          <a:xfrm>
            <a:off x="8202168" y="2514600"/>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网格化配送，300km/24h 达</a:t>
            </a:r>
          </a:p>
        </p:txBody>
      </p:sp>
      <p:sp>
        <p:nvSpPr>
          <p:cNvPr id="20" name="Rectangle 19"/>
          <p:cNvSpPr/>
          <p:nvPr/>
        </p:nvSpPr>
        <p:spPr>
          <a:xfrm>
            <a:off x="502920" y="3300984"/>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300984"/>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E8B76"/>
                </a:solidFill>
                <a:latin typeface="微软雅黑"/>
                <a:ea typeface="微软雅黑"/>
              </a:rPr>
              <a:t>商品周转效率</a:t>
            </a:r>
          </a:p>
        </p:txBody>
      </p:sp>
      <p:sp>
        <p:nvSpPr>
          <p:cNvPr id="22" name="TextBox 21"/>
          <p:cNvSpPr txBox="1"/>
          <p:nvPr/>
        </p:nvSpPr>
        <p:spPr>
          <a:xfrm>
            <a:off x="2990088" y="3300984"/>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商品动销率</a:t>
            </a:r>
          </a:p>
        </p:txBody>
      </p:sp>
      <p:sp>
        <p:nvSpPr>
          <p:cNvPr id="23" name="TextBox 22"/>
          <p:cNvSpPr txBox="1"/>
          <p:nvPr/>
        </p:nvSpPr>
        <p:spPr>
          <a:xfrm>
            <a:off x="5733288" y="3300984"/>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→88%（现约 75%）</a:t>
            </a:r>
          </a:p>
        </p:txBody>
      </p:sp>
      <p:sp>
        <p:nvSpPr>
          <p:cNvPr id="24" name="TextBox 23"/>
          <p:cNvSpPr txBox="1"/>
          <p:nvPr/>
        </p:nvSpPr>
        <p:spPr>
          <a:xfrm>
            <a:off x="8202168" y="3300984"/>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数字化选品 + 全链路品效优化</a:t>
            </a:r>
          </a:p>
        </p:txBody>
      </p:sp>
      <p:sp>
        <p:nvSpPr>
          <p:cNvPr id="25" name="Rectangle 24"/>
          <p:cNvSpPr/>
          <p:nvPr/>
        </p:nvSpPr>
        <p:spPr>
          <a:xfrm>
            <a:off x="502920" y="4087368"/>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087368"/>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E8B76"/>
                </a:solidFill>
                <a:latin typeface="微软雅黑"/>
                <a:ea typeface="微软雅黑"/>
              </a:rPr>
              <a:t>产品力升级</a:t>
            </a:r>
          </a:p>
        </p:txBody>
      </p:sp>
      <p:sp>
        <p:nvSpPr>
          <p:cNvPr id="27" name="TextBox 26"/>
          <p:cNvSpPr txBox="1"/>
          <p:nvPr/>
        </p:nvSpPr>
        <p:spPr>
          <a:xfrm>
            <a:off x="2990088" y="4087368"/>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自有品牌占比</a:t>
            </a:r>
          </a:p>
        </p:txBody>
      </p:sp>
      <p:sp>
        <p:nvSpPr>
          <p:cNvPr id="28" name="TextBox 27"/>
          <p:cNvSpPr txBox="1"/>
          <p:nvPr/>
        </p:nvSpPr>
        <p:spPr>
          <a:xfrm>
            <a:off x="5733288" y="4087368"/>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→30%（现约 12%）</a:t>
            </a:r>
          </a:p>
        </p:txBody>
      </p:sp>
      <p:sp>
        <p:nvSpPr>
          <p:cNvPr id="29" name="TextBox 28"/>
          <p:cNvSpPr txBox="1"/>
          <p:nvPr/>
        </p:nvSpPr>
        <p:spPr>
          <a:xfrm>
            <a:off x="8202168" y="4087368"/>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联合定制 + 打造 10 个亿元大单品</a:t>
            </a:r>
          </a:p>
        </p:txBody>
      </p:sp>
      <p:sp>
        <p:nvSpPr>
          <p:cNvPr id="30" name="Rectangle 29"/>
          <p:cNvSpPr/>
          <p:nvPr/>
        </p:nvSpPr>
        <p:spPr>
          <a:xfrm>
            <a:off x="502920" y="4873752"/>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4873752"/>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E8B76"/>
                </a:solidFill>
                <a:latin typeface="微软雅黑"/>
                <a:ea typeface="微软雅黑"/>
              </a:rPr>
              <a:t>门店运营标准化</a:t>
            </a:r>
          </a:p>
        </p:txBody>
      </p:sp>
      <p:sp>
        <p:nvSpPr>
          <p:cNvPr id="32" name="TextBox 31"/>
          <p:cNvSpPr txBox="1"/>
          <p:nvPr/>
        </p:nvSpPr>
        <p:spPr>
          <a:xfrm>
            <a:off x="2990088" y="4873752"/>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加盟管理标准化率</a:t>
            </a:r>
          </a:p>
        </p:txBody>
      </p:sp>
      <p:sp>
        <p:nvSpPr>
          <p:cNvPr id="33" name="TextBox 32"/>
          <p:cNvSpPr txBox="1"/>
          <p:nvPr/>
        </p:nvSpPr>
        <p:spPr>
          <a:xfrm>
            <a:off x="5733288" y="4873752"/>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标准化全覆盖</a:t>
            </a:r>
          </a:p>
        </p:txBody>
      </p:sp>
      <p:sp>
        <p:nvSpPr>
          <p:cNvPr id="34" name="TextBox 33"/>
          <p:cNvSpPr txBox="1"/>
          <p:nvPr/>
        </p:nvSpPr>
        <p:spPr>
          <a:xfrm>
            <a:off x="8202168" y="4873752"/>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WMS/TMS/ERP 一体化管控</a:t>
            </a:r>
          </a:p>
        </p:txBody>
      </p:sp>
      <p:sp>
        <p:nvSpPr>
          <p:cNvPr id="35" name="Rectangle 34"/>
          <p:cNvSpPr/>
          <p:nvPr/>
        </p:nvSpPr>
        <p:spPr>
          <a:xfrm>
            <a:off x="502920" y="5751576"/>
            <a:ext cx="11155680" cy="64008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751576"/>
            <a:ext cx="91440" cy="6400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751576"/>
            <a:ext cx="10789920" cy="640080"/>
          </a:xfrm>
          <a:prstGeom prst="rect">
            <a:avLst/>
          </a:prstGeom>
          <a:noFill/>
        </p:spPr>
        <p:txBody>
          <a:bodyPr wrap="square" anchor="ctr" lIns="25400" rIns="25400" tIns="25400" bIns="25400">
            <a:spAutoFit/>
          </a:bodyPr>
          <a:lstStyle/>
          <a:p>
            <a:pPr algn="l">
              <a:lnSpc>
                <a:spcPct val="120000"/>
              </a:lnSpc>
            </a:pPr>
            <a:r>
              <a:rPr sz="1200" b="1" i="0">
                <a:solidFill>
                  <a:srgbClr val="C01A22"/>
                </a:solidFill>
                <a:latin typeface="微软雅黑"/>
                <a:ea typeface="微软雅黑"/>
              </a:rPr>
              <a:t>小结：</a:t>
            </a:r>
            <a:r>
              <a:rPr sz="1200" b="0" i="0">
                <a:solidFill>
                  <a:srgbClr val="262626"/>
                </a:solidFill>
                <a:latin typeface="微软雅黑"/>
                <a:ea typeface="微软雅黑"/>
              </a:rPr>
              <a:t>动销率与自有品牌是利润与差异化关键；需从「结果导向」转向「能力导向」（选品周期、库存周转）。</a:t>
            </a:r>
          </a:p>
        </p:txBody>
      </p:sp>
      <p:sp>
        <p:nvSpPr>
          <p:cNvPr id="38" name="TextBox 37"/>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9" name="TextBox 38"/>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战略地图 · 学习与成长维度</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04</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11155680" cy="6858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88720"/>
            <a:ext cx="10607040" cy="685800"/>
          </a:xfrm>
          <a:prstGeom prst="rect">
            <a:avLst/>
          </a:prstGeom>
          <a:noFill/>
        </p:spPr>
        <p:txBody>
          <a:bodyPr wrap="square" anchor="ctr" lIns="25400" rIns="25400" tIns="25400" bIns="25400">
            <a:spAutoFit/>
          </a:bodyPr>
          <a:lstStyle/>
          <a:p>
            <a:pPr algn="l"/>
            <a:r>
              <a:rPr sz="1400" b="1" i="0">
                <a:solidFill>
                  <a:srgbClr val="FFECE6"/>
                </a:solidFill>
                <a:latin typeface="微软雅黑"/>
                <a:ea typeface="微软雅黑"/>
              </a:rPr>
              <a:t>战略主题：</a:t>
            </a:r>
            <a:r>
              <a:rPr sz="1500" b="1" i="0">
                <a:solidFill>
                  <a:srgbClr val="FFFFFF"/>
                </a:solidFill>
                <a:latin typeface="微软雅黑"/>
                <a:ea typeface="微软雅黑"/>
              </a:rPr>
              <a:t>强化数字化、人才、组织能力，为长期发展打底</a:t>
            </a:r>
          </a:p>
        </p:txBody>
      </p:sp>
      <p:sp>
        <p:nvSpPr>
          <p:cNvPr id="10" name="Rectangle 9"/>
          <p:cNvSpPr/>
          <p:nvPr/>
        </p:nvSpPr>
        <p:spPr>
          <a:xfrm>
            <a:off x="502920" y="2057400"/>
            <a:ext cx="11155680" cy="45720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057400"/>
            <a:ext cx="21945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战略目标</a:t>
            </a:r>
          </a:p>
        </p:txBody>
      </p:sp>
      <p:sp>
        <p:nvSpPr>
          <p:cNvPr id="12" name="TextBox 11"/>
          <p:cNvSpPr txBox="1"/>
          <p:nvPr/>
        </p:nvSpPr>
        <p:spPr>
          <a:xfrm>
            <a:off x="2971800" y="205740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关键指标 (KPI)</a:t>
            </a:r>
          </a:p>
        </p:txBody>
      </p:sp>
      <p:sp>
        <p:nvSpPr>
          <p:cNvPr id="13" name="TextBox 12"/>
          <p:cNvSpPr txBox="1"/>
          <p:nvPr/>
        </p:nvSpPr>
        <p:spPr>
          <a:xfrm>
            <a:off x="5715000" y="2057400"/>
            <a:ext cx="228600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目标值 / 现状</a:t>
            </a:r>
          </a:p>
        </p:txBody>
      </p:sp>
      <p:sp>
        <p:nvSpPr>
          <p:cNvPr id="14" name="TextBox 13"/>
          <p:cNvSpPr txBox="1"/>
          <p:nvPr/>
        </p:nvSpPr>
        <p:spPr>
          <a:xfrm>
            <a:off x="8183880" y="2057400"/>
            <a:ext cx="3383279"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支撑举措</a:t>
            </a:r>
          </a:p>
        </p:txBody>
      </p:sp>
      <p:sp>
        <p:nvSpPr>
          <p:cNvPr id="15" name="Rectangle 14"/>
          <p:cNvSpPr/>
          <p:nvPr/>
        </p:nvSpPr>
        <p:spPr>
          <a:xfrm>
            <a:off x="502920" y="2514600"/>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514600"/>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C5F8A"/>
                </a:solidFill>
                <a:latin typeface="微软雅黑"/>
                <a:ea typeface="微软雅黑"/>
              </a:rPr>
              <a:t>数字化底座建设</a:t>
            </a:r>
          </a:p>
        </p:txBody>
      </p:sp>
      <p:sp>
        <p:nvSpPr>
          <p:cNvPr id="17" name="TextBox 16"/>
          <p:cNvSpPr txBox="1"/>
          <p:nvPr/>
        </p:nvSpPr>
        <p:spPr>
          <a:xfrm>
            <a:off x="2990088" y="2514600"/>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数字化投入 / 系统一体化</a:t>
            </a:r>
          </a:p>
        </p:txBody>
      </p:sp>
      <p:sp>
        <p:nvSpPr>
          <p:cNvPr id="18" name="TextBox 17"/>
          <p:cNvSpPr txBox="1"/>
          <p:nvPr/>
        </p:nvSpPr>
        <p:spPr>
          <a:xfrm>
            <a:off x="5733288" y="2514600"/>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累计 5 亿+；2026 一体化</a:t>
            </a:r>
          </a:p>
        </p:txBody>
      </p:sp>
      <p:sp>
        <p:nvSpPr>
          <p:cNvPr id="19" name="TextBox 18"/>
          <p:cNvSpPr txBox="1"/>
          <p:nvPr/>
        </p:nvSpPr>
        <p:spPr>
          <a:xfrm>
            <a:off x="8202168" y="2514600"/>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WMS/TMS/ERP 打通全链路数据</a:t>
            </a:r>
          </a:p>
        </p:txBody>
      </p:sp>
      <p:sp>
        <p:nvSpPr>
          <p:cNvPr id="20" name="Rectangle 19"/>
          <p:cNvSpPr/>
          <p:nvPr/>
        </p:nvSpPr>
        <p:spPr>
          <a:xfrm>
            <a:off x="502920" y="3300984"/>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300984"/>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C5F8A"/>
                </a:solidFill>
                <a:latin typeface="微软雅黑"/>
                <a:ea typeface="微软雅黑"/>
              </a:rPr>
              <a:t>库存精准管理</a:t>
            </a:r>
          </a:p>
        </p:txBody>
      </p:sp>
      <p:sp>
        <p:nvSpPr>
          <p:cNvPr id="22" name="TextBox 21"/>
          <p:cNvSpPr txBox="1"/>
          <p:nvPr/>
        </p:nvSpPr>
        <p:spPr>
          <a:xfrm>
            <a:off x="2990088" y="3300984"/>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库存准确率</a:t>
            </a:r>
          </a:p>
        </p:txBody>
      </p:sp>
      <p:sp>
        <p:nvSpPr>
          <p:cNvPr id="23" name="TextBox 22"/>
          <p:cNvSpPr txBox="1"/>
          <p:nvPr/>
        </p:nvSpPr>
        <p:spPr>
          <a:xfrm>
            <a:off x="5733288" y="3300984"/>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→99%（目标 99.8%）</a:t>
            </a:r>
          </a:p>
        </p:txBody>
      </p:sp>
      <p:sp>
        <p:nvSpPr>
          <p:cNvPr id="24" name="TextBox 23"/>
          <p:cNvSpPr txBox="1"/>
          <p:nvPr/>
        </p:nvSpPr>
        <p:spPr>
          <a:xfrm>
            <a:off x="8202168" y="3300984"/>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智能补货 + 数据协同闭环</a:t>
            </a:r>
          </a:p>
        </p:txBody>
      </p:sp>
      <p:sp>
        <p:nvSpPr>
          <p:cNvPr id="25" name="Rectangle 24"/>
          <p:cNvSpPr/>
          <p:nvPr/>
        </p:nvSpPr>
        <p:spPr>
          <a:xfrm>
            <a:off x="502920" y="4087368"/>
            <a:ext cx="11155680" cy="786384"/>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087368"/>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C5F8A"/>
                </a:solidFill>
                <a:latin typeface="微软雅黑"/>
                <a:ea typeface="微软雅黑"/>
              </a:rPr>
              <a:t>加盟商赋能</a:t>
            </a:r>
          </a:p>
        </p:txBody>
      </p:sp>
      <p:sp>
        <p:nvSpPr>
          <p:cNvPr id="27" name="TextBox 26"/>
          <p:cNvSpPr txBox="1"/>
          <p:nvPr/>
        </p:nvSpPr>
        <p:spPr>
          <a:xfrm>
            <a:off x="2990088" y="4087368"/>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培训覆盖率 / 新店存活率</a:t>
            </a:r>
          </a:p>
        </p:txBody>
      </p:sp>
      <p:sp>
        <p:nvSpPr>
          <p:cNvPr id="28" name="TextBox 27"/>
          <p:cNvSpPr txBox="1"/>
          <p:nvPr/>
        </p:nvSpPr>
        <p:spPr>
          <a:xfrm>
            <a:off x="5733288" y="4087368"/>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覆盖 100% / 存活率 95%+</a:t>
            </a:r>
          </a:p>
        </p:txBody>
      </p:sp>
      <p:sp>
        <p:nvSpPr>
          <p:cNvPr id="29" name="TextBox 28"/>
          <p:cNvSpPr txBox="1"/>
          <p:nvPr/>
        </p:nvSpPr>
        <p:spPr>
          <a:xfrm>
            <a:off x="8202168" y="4087368"/>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标准化课程 + 实战演练</a:t>
            </a:r>
          </a:p>
        </p:txBody>
      </p:sp>
      <p:sp>
        <p:nvSpPr>
          <p:cNvPr id="30" name="Rectangle 29"/>
          <p:cNvSpPr/>
          <p:nvPr/>
        </p:nvSpPr>
        <p:spPr>
          <a:xfrm>
            <a:off x="502920" y="4873752"/>
            <a:ext cx="11155680" cy="786384"/>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4873752"/>
            <a:ext cx="2157984" cy="786384"/>
          </a:xfrm>
          <a:prstGeom prst="rect">
            <a:avLst/>
          </a:prstGeom>
          <a:noFill/>
        </p:spPr>
        <p:txBody>
          <a:bodyPr wrap="square" anchor="ctr" lIns="25400" rIns="25400" tIns="25400" bIns="25400">
            <a:spAutoFit/>
          </a:bodyPr>
          <a:lstStyle/>
          <a:p>
            <a:pPr algn="l">
              <a:lnSpc>
                <a:spcPct val="112000"/>
              </a:lnSpc>
            </a:pPr>
            <a:r>
              <a:rPr sz="1150" b="1" i="0">
                <a:solidFill>
                  <a:srgbClr val="2C5F8A"/>
                </a:solidFill>
                <a:latin typeface="微软雅黑"/>
                <a:ea typeface="微软雅黑"/>
              </a:rPr>
              <a:t>组织能力适配</a:t>
            </a:r>
          </a:p>
        </p:txBody>
      </p:sp>
      <p:sp>
        <p:nvSpPr>
          <p:cNvPr id="32" name="TextBox 31"/>
          <p:cNvSpPr txBox="1"/>
          <p:nvPr/>
        </p:nvSpPr>
        <p:spPr>
          <a:xfrm>
            <a:off x="2990088" y="4873752"/>
            <a:ext cx="252374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组织架构 / 人才梯队</a:t>
            </a:r>
          </a:p>
        </p:txBody>
      </p:sp>
      <p:sp>
        <p:nvSpPr>
          <p:cNvPr id="33" name="TextBox 32"/>
          <p:cNvSpPr txBox="1"/>
          <p:nvPr/>
        </p:nvSpPr>
        <p:spPr>
          <a:xfrm>
            <a:off x="5733288" y="4873752"/>
            <a:ext cx="224942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适配全国扩张</a:t>
            </a:r>
          </a:p>
        </p:txBody>
      </p:sp>
      <p:sp>
        <p:nvSpPr>
          <p:cNvPr id="34" name="TextBox 33"/>
          <p:cNvSpPr txBox="1"/>
          <p:nvPr/>
        </p:nvSpPr>
        <p:spPr>
          <a:xfrm>
            <a:off x="8202168" y="4873752"/>
            <a:ext cx="3346704" cy="786384"/>
          </a:xfrm>
          <a:prstGeom prst="rect">
            <a:avLst/>
          </a:prstGeom>
          <a:noFill/>
        </p:spPr>
        <p:txBody>
          <a:bodyPr wrap="square" anchor="ctr" lIns="25400" rIns="25400" tIns="25400" bIns="25400">
            <a:spAutoFit/>
          </a:bodyPr>
          <a:lstStyle/>
          <a:p>
            <a:pPr algn="l">
              <a:lnSpc>
                <a:spcPct val="112000"/>
              </a:lnSpc>
            </a:pPr>
            <a:r>
              <a:rPr sz="1150" b="0" i="0">
                <a:solidFill>
                  <a:srgbClr val="262626"/>
                </a:solidFill>
                <a:latin typeface="微软雅黑"/>
                <a:ea typeface="微软雅黑"/>
              </a:rPr>
              <a:t>数据分析/算法/业务复合人才</a:t>
            </a:r>
          </a:p>
        </p:txBody>
      </p:sp>
      <p:sp>
        <p:nvSpPr>
          <p:cNvPr id="35" name="Rectangle 34"/>
          <p:cNvSpPr/>
          <p:nvPr/>
        </p:nvSpPr>
        <p:spPr>
          <a:xfrm>
            <a:off x="502920" y="5751576"/>
            <a:ext cx="11155680" cy="64008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751576"/>
            <a:ext cx="91440" cy="64008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751576"/>
            <a:ext cx="10789920" cy="640080"/>
          </a:xfrm>
          <a:prstGeom prst="rect">
            <a:avLst/>
          </a:prstGeom>
          <a:noFill/>
        </p:spPr>
        <p:txBody>
          <a:bodyPr wrap="square" anchor="ctr" lIns="25400" rIns="25400" tIns="25400" bIns="25400">
            <a:spAutoFit/>
          </a:bodyPr>
          <a:lstStyle/>
          <a:p>
            <a:pPr algn="l">
              <a:lnSpc>
                <a:spcPct val="120000"/>
              </a:lnSpc>
            </a:pPr>
            <a:r>
              <a:rPr sz="1200" b="1" i="0">
                <a:solidFill>
                  <a:srgbClr val="C01A22"/>
                </a:solidFill>
                <a:latin typeface="微软雅黑"/>
                <a:ea typeface="微软雅黑"/>
              </a:rPr>
              <a:t>小结：</a:t>
            </a:r>
            <a:r>
              <a:rPr sz="1200" b="0" i="0">
                <a:solidFill>
                  <a:srgbClr val="262626"/>
                </a:solidFill>
                <a:latin typeface="微软雅黑"/>
                <a:ea typeface="微软雅黑"/>
              </a:rPr>
              <a:t>组织能力建设需匹配业务扩张速度；当前数字化偏「系统建设」，应深化为「流程再造」与「组织转型」。</a:t>
            </a:r>
          </a:p>
        </p:txBody>
      </p:sp>
      <p:sp>
        <p:nvSpPr>
          <p:cNvPr id="38" name="TextBox 37"/>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9" name="TextBox 38"/>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5486400" cy="1371600"/>
          </a:xfrm>
          <a:prstGeom prst="rect">
            <a:avLst/>
          </a:prstGeom>
          <a:noFill/>
        </p:spPr>
        <p:txBody>
          <a:bodyPr wrap="square" anchor="t" lIns="25400" rIns="25400" tIns="25400" bIns="25400">
            <a:spAutoFit/>
          </a:bodyPr>
          <a:lstStyle/>
          <a:p>
            <a:pPr algn="l"/>
            <a:r>
              <a:rPr sz="9600" b="1" i="0">
                <a:solidFill>
                  <a:srgbClr val="E06A60"/>
                </a:solidFill>
                <a:latin typeface="Arial"/>
                <a:ea typeface="Arial"/>
              </a:rPr>
              <a:t>05</a:t>
            </a:r>
          </a:p>
        </p:txBody>
      </p:sp>
      <p:sp>
        <p:nvSpPr>
          <p:cNvPr id="5" name="Rectangle 4"/>
          <p:cNvSpPr/>
          <p:nvPr/>
        </p:nvSpPr>
        <p:spPr>
          <a:xfrm>
            <a:off x="868680" y="2788920"/>
            <a:ext cx="731520" cy="635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71800"/>
            <a:ext cx="10058400" cy="1188720"/>
          </a:xfrm>
          <a:prstGeom prst="rect">
            <a:avLst/>
          </a:prstGeom>
          <a:noFill/>
        </p:spPr>
        <p:txBody>
          <a:bodyPr wrap="square" anchor="t" lIns="25400" rIns="25400" tIns="25400" bIns="25400">
            <a:spAutoFit/>
          </a:bodyPr>
          <a:lstStyle/>
          <a:p>
            <a:pPr algn="l"/>
            <a:r>
              <a:rPr sz="4400" b="1" i="0">
                <a:solidFill>
                  <a:srgbClr val="FFFFFF"/>
                </a:solidFill>
                <a:latin typeface="微软雅黑"/>
                <a:ea typeface="微软雅黑"/>
              </a:rPr>
              <a:t>分析与讨论</a:t>
            </a:r>
          </a:p>
        </p:txBody>
      </p:sp>
      <p:sp>
        <p:nvSpPr>
          <p:cNvPr id="7" name="TextBox 6"/>
          <p:cNvSpPr txBox="1"/>
          <p:nvPr/>
        </p:nvSpPr>
        <p:spPr>
          <a:xfrm>
            <a:off x="868680" y="4023360"/>
            <a:ext cx="10058400" cy="548640"/>
          </a:xfrm>
          <a:prstGeom prst="rect">
            <a:avLst/>
          </a:prstGeom>
          <a:noFill/>
        </p:spPr>
        <p:txBody>
          <a:bodyPr wrap="square" anchor="t" lIns="25400" rIns="25400" tIns="25400" bIns="25400">
            <a:spAutoFit/>
          </a:bodyPr>
          <a:lstStyle/>
          <a:p>
            <a:pPr algn="l"/>
            <a:r>
              <a:rPr sz="1600" b="0" i="0">
                <a:solidFill>
                  <a:srgbClr val="F0C8C2"/>
                </a:solidFill>
                <a:latin typeface="Arial"/>
                <a:ea typeface="Arial"/>
              </a:rPr>
              <a:t>Evaluation &amp; Discussion</a:t>
            </a:r>
          </a:p>
        </p:txBody>
      </p:sp>
      <p:sp>
        <p:nvSpPr>
          <p:cNvPr id="8" name="TextBox 7"/>
          <p:cNvSpPr txBox="1"/>
          <p:nvPr/>
        </p:nvSpPr>
        <p:spPr>
          <a:xfrm>
            <a:off x="868680" y="4709160"/>
            <a:ext cx="10058400" cy="548640"/>
          </a:xfrm>
          <a:prstGeom prst="rect">
            <a:avLst/>
          </a:prstGeom>
          <a:noFill/>
        </p:spPr>
        <p:txBody>
          <a:bodyPr wrap="square" anchor="t" lIns="25400" rIns="25400" tIns="25400" bIns="25400">
            <a:spAutoFit/>
          </a:bodyPr>
          <a:lstStyle/>
          <a:p>
            <a:pPr algn="l"/>
            <a:r>
              <a:rPr sz="1500" b="0" i="0">
                <a:solidFill>
                  <a:srgbClr val="F7E3DF"/>
                </a:solidFill>
                <a:latin typeface="微软雅黑"/>
                <a:ea typeface="微软雅黑"/>
              </a:rPr>
              <a:t>战略执行评价 · 偏差原因分析 · 数据口径修正 · 结论启示</a:t>
            </a:r>
          </a:p>
        </p:txBody>
      </p:sp>
      <p:sp>
        <p:nvSpPr>
          <p:cNvPr id="9" name="TextBox 8"/>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10" name="TextBox 9"/>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战略执行评价：目标达成对照</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05</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1115568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34440"/>
            <a:ext cx="1371600" cy="457200"/>
          </a:xfrm>
          <a:prstGeom prst="rect">
            <a:avLst/>
          </a:prstGeom>
          <a:noFill/>
        </p:spPr>
        <p:txBody>
          <a:bodyPr wrap="square" anchor="ctr" lIns="25400" rIns="25400" tIns="25400" bIns="25400">
            <a:spAutoFit/>
          </a:bodyPr>
          <a:lstStyle/>
          <a:p>
            <a:pPr algn="ctr"/>
            <a:r>
              <a:rPr sz="1300" b="1" i="0">
                <a:solidFill>
                  <a:srgbClr val="FFFFFF"/>
                </a:solidFill>
                <a:latin typeface="微软雅黑"/>
                <a:ea typeface="微软雅黑"/>
              </a:rPr>
              <a:t>维度</a:t>
            </a:r>
          </a:p>
        </p:txBody>
      </p:sp>
      <p:sp>
        <p:nvSpPr>
          <p:cNvPr id="10" name="TextBox 9"/>
          <p:cNvSpPr txBox="1"/>
          <p:nvPr/>
        </p:nvSpPr>
        <p:spPr>
          <a:xfrm>
            <a:off x="2148840" y="1234440"/>
            <a:ext cx="2834639"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关键指标</a:t>
            </a:r>
          </a:p>
        </p:txBody>
      </p:sp>
      <p:sp>
        <p:nvSpPr>
          <p:cNvPr id="11" name="TextBox 10"/>
          <p:cNvSpPr txBox="1"/>
          <p:nvPr/>
        </p:nvSpPr>
        <p:spPr>
          <a:xfrm>
            <a:off x="5166359" y="1234440"/>
            <a:ext cx="1645920" cy="457200"/>
          </a:xfrm>
          <a:prstGeom prst="rect">
            <a:avLst/>
          </a:prstGeom>
          <a:noFill/>
        </p:spPr>
        <p:txBody>
          <a:bodyPr wrap="square" anchor="ctr" lIns="25400" rIns="25400" tIns="25400" bIns="25400">
            <a:spAutoFit/>
          </a:bodyPr>
          <a:lstStyle/>
          <a:p>
            <a:pPr algn="ctr"/>
            <a:r>
              <a:rPr sz="1300" b="1" i="0">
                <a:solidFill>
                  <a:srgbClr val="FFFFFF"/>
                </a:solidFill>
                <a:latin typeface="微软雅黑"/>
                <a:ea typeface="微软雅黑"/>
              </a:rPr>
              <a:t>目标值</a:t>
            </a:r>
          </a:p>
        </p:txBody>
      </p:sp>
      <p:sp>
        <p:nvSpPr>
          <p:cNvPr id="12" name="TextBox 11"/>
          <p:cNvSpPr txBox="1"/>
          <p:nvPr/>
        </p:nvSpPr>
        <p:spPr>
          <a:xfrm>
            <a:off x="6995159" y="1234440"/>
            <a:ext cx="1645920" cy="457200"/>
          </a:xfrm>
          <a:prstGeom prst="rect">
            <a:avLst/>
          </a:prstGeom>
          <a:noFill/>
        </p:spPr>
        <p:txBody>
          <a:bodyPr wrap="square" anchor="ctr" lIns="25400" rIns="25400" tIns="25400" bIns="25400">
            <a:spAutoFit/>
          </a:bodyPr>
          <a:lstStyle/>
          <a:p>
            <a:pPr algn="ctr"/>
            <a:r>
              <a:rPr sz="1300" b="1" i="0">
                <a:solidFill>
                  <a:srgbClr val="FFFFFF"/>
                </a:solidFill>
                <a:latin typeface="微软雅黑"/>
                <a:ea typeface="微软雅黑"/>
              </a:rPr>
              <a:t>现状(最新)</a:t>
            </a:r>
          </a:p>
        </p:txBody>
      </p:sp>
      <p:sp>
        <p:nvSpPr>
          <p:cNvPr id="13" name="TextBox 12"/>
          <p:cNvSpPr txBox="1"/>
          <p:nvPr/>
        </p:nvSpPr>
        <p:spPr>
          <a:xfrm>
            <a:off x="8823960" y="1234440"/>
            <a:ext cx="2743200" cy="457200"/>
          </a:xfrm>
          <a:prstGeom prst="rect">
            <a:avLst/>
          </a:prstGeom>
          <a:noFill/>
        </p:spPr>
        <p:txBody>
          <a:bodyPr wrap="square" anchor="ctr" lIns="25400" rIns="25400" tIns="25400" bIns="25400">
            <a:spAutoFit/>
          </a:bodyPr>
          <a:lstStyle/>
          <a:p>
            <a:pPr algn="ctr"/>
            <a:r>
              <a:rPr sz="1300" b="1" i="0">
                <a:solidFill>
                  <a:srgbClr val="FFFFFF"/>
                </a:solidFill>
                <a:latin typeface="微软雅黑"/>
                <a:ea typeface="微软雅黑"/>
              </a:rPr>
              <a:t>达成评价</a:t>
            </a:r>
          </a:p>
        </p:txBody>
      </p:sp>
      <p:sp>
        <p:nvSpPr>
          <p:cNvPr id="14" name="Rectangle 13"/>
          <p:cNvSpPr/>
          <p:nvPr/>
        </p:nvSpPr>
        <p:spPr>
          <a:xfrm>
            <a:off x="502920" y="1691640"/>
            <a:ext cx="11155680" cy="502920"/>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69164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财务</a:t>
            </a:r>
          </a:p>
        </p:txBody>
      </p:sp>
      <p:sp>
        <p:nvSpPr>
          <p:cNvPr id="16" name="TextBox 15"/>
          <p:cNvSpPr txBox="1"/>
          <p:nvPr/>
        </p:nvSpPr>
        <p:spPr>
          <a:xfrm>
            <a:off x="2148840" y="169164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源头直采占比</a:t>
            </a:r>
          </a:p>
        </p:txBody>
      </p:sp>
      <p:sp>
        <p:nvSpPr>
          <p:cNvPr id="17" name="TextBox 16"/>
          <p:cNvSpPr txBox="1"/>
          <p:nvPr/>
        </p:nvSpPr>
        <p:spPr>
          <a:xfrm>
            <a:off x="5166359" y="169164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≥95% / 90%</a:t>
            </a:r>
          </a:p>
        </p:txBody>
      </p:sp>
      <p:sp>
        <p:nvSpPr>
          <p:cNvPr id="18" name="TextBox 17"/>
          <p:cNvSpPr txBox="1"/>
          <p:nvPr/>
        </p:nvSpPr>
        <p:spPr>
          <a:xfrm>
            <a:off x="6995159" y="169164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92.3%</a:t>
            </a:r>
          </a:p>
        </p:txBody>
      </p:sp>
      <p:sp>
        <p:nvSpPr>
          <p:cNvPr id="19" name="Rectangle 18"/>
          <p:cNvSpPr/>
          <p:nvPr/>
        </p:nvSpPr>
        <p:spPr>
          <a:xfrm>
            <a:off x="8823960" y="1783080"/>
            <a:ext cx="1463040" cy="32004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1783080"/>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超额*</a:t>
            </a:r>
          </a:p>
        </p:txBody>
      </p:sp>
      <p:sp>
        <p:nvSpPr>
          <p:cNvPr id="21" name="Rectangle 20"/>
          <p:cNvSpPr/>
          <p:nvPr/>
        </p:nvSpPr>
        <p:spPr>
          <a:xfrm>
            <a:off x="502920" y="2194560"/>
            <a:ext cx="11155680" cy="502920"/>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19456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财务</a:t>
            </a:r>
          </a:p>
        </p:txBody>
      </p:sp>
      <p:sp>
        <p:nvSpPr>
          <p:cNvPr id="23" name="TextBox 22"/>
          <p:cNvSpPr txBox="1"/>
          <p:nvPr/>
        </p:nvSpPr>
        <p:spPr>
          <a:xfrm>
            <a:off x="2148840" y="219456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物流成本占比</a:t>
            </a:r>
          </a:p>
        </p:txBody>
      </p:sp>
      <p:sp>
        <p:nvSpPr>
          <p:cNvPr id="24" name="TextBox 23"/>
          <p:cNvSpPr txBox="1"/>
          <p:nvPr/>
        </p:nvSpPr>
        <p:spPr>
          <a:xfrm>
            <a:off x="5166359" y="219456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&lt;1.5%</a:t>
            </a:r>
          </a:p>
        </p:txBody>
      </p:sp>
      <p:sp>
        <p:nvSpPr>
          <p:cNvPr id="25" name="TextBox 24"/>
          <p:cNvSpPr txBox="1"/>
          <p:nvPr/>
        </p:nvSpPr>
        <p:spPr>
          <a:xfrm>
            <a:off x="6995159" y="219456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1.7%</a:t>
            </a:r>
          </a:p>
        </p:txBody>
      </p:sp>
      <p:sp>
        <p:nvSpPr>
          <p:cNvPr id="26" name="Rectangle 25"/>
          <p:cNvSpPr/>
          <p:nvPr/>
        </p:nvSpPr>
        <p:spPr>
          <a:xfrm>
            <a:off x="8823960" y="2286000"/>
            <a:ext cx="1463040" cy="32004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3960" y="2286000"/>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接近</a:t>
            </a:r>
          </a:p>
        </p:txBody>
      </p:sp>
      <p:sp>
        <p:nvSpPr>
          <p:cNvPr id="28" name="Rectangle 27"/>
          <p:cNvSpPr/>
          <p:nvPr/>
        </p:nvSpPr>
        <p:spPr>
          <a:xfrm>
            <a:off x="502920" y="2697480"/>
            <a:ext cx="11155680" cy="502920"/>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69748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财务</a:t>
            </a:r>
          </a:p>
        </p:txBody>
      </p:sp>
      <p:sp>
        <p:nvSpPr>
          <p:cNvPr id="30" name="TextBox 29"/>
          <p:cNvSpPr txBox="1"/>
          <p:nvPr/>
        </p:nvSpPr>
        <p:spPr>
          <a:xfrm>
            <a:off x="2148840" y="269748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毛利率(公司层面)</a:t>
            </a:r>
          </a:p>
        </p:txBody>
      </p:sp>
      <p:sp>
        <p:nvSpPr>
          <p:cNvPr id="31" name="TextBox 30"/>
          <p:cNvSpPr txBox="1"/>
          <p:nvPr/>
        </p:nvSpPr>
        <p:spPr>
          <a:xfrm>
            <a:off x="5166359" y="269748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32%</a:t>
            </a:r>
          </a:p>
        </p:txBody>
      </p:sp>
      <p:sp>
        <p:nvSpPr>
          <p:cNvPr id="32" name="TextBox 31"/>
          <p:cNvSpPr txBox="1"/>
          <p:nvPr/>
        </p:nvSpPr>
        <p:spPr>
          <a:xfrm>
            <a:off x="6995159" y="269748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7.6%</a:t>
            </a:r>
          </a:p>
        </p:txBody>
      </p:sp>
      <p:sp>
        <p:nvSpPr>
          <p:cNvPr id="33" name="Rectangle 32"/>
          <p:cNvSpPr/>
          <p:nvPr/>
        </p:nvSpPr>
        <p:spPr>
          <a:xfrm>
            <a:off x="8823960" y="2788920"/>
            <a:ext cx="1463040" cy="32004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23960" y="2788920"/>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差距大</a:t>
            </a:r>
          </a:p>
        </p:txBody>
      </p:sp>
      <p:sp>
        <p:nvSpPr>
          <p:cNvPr id="35" name="Rectangle 34"/>
          <p:cNvSpPr/>
          <p:nvPr/>
        </p:nvSpPr>
        <p:spPr>
          <a:xfrm>
            <a:off x="502920" y="3200400"/>
            <a:ext cx="11155680" cy="502920"/>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20040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客户</a:t>
            </a:r>
          </a:p>
        </p:txBody>
      </p:sp>
      <p:sp>
        <p:nvSpPr>
          <p:cNvPr id="37" name="TextBox 36"/>
          <p:cNvSpPr txBox="1"/>
          <p:nvPr/>
        </p:nvSpPr>
        <p:spPr>
          <a:xfrm>
            <a:off x="2148840" y="320040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会员复购率</a:t>
            </a:r>
          </a:p>
        </p:txBody>
      </p:sp>
      <p:sp>
        <p:nvSpPr>
          <p:cNvPr id="38" name="TextBox 37"/>
          <p:cNvSpPr txBox="1"/>
          <p:nvPr/>
        </p:nvSpPr>
        <p:spPr>
          <a:xfrm>
            <a:off x="5166359" y="320040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50%→提升</a:t>
            </a:r>
          </a:p>
        </p:txBody>
      </p:sp>
      <p:sp>
        <p:nvSpPr>
          <p:cNvPr id="39" name="TextBox 38"/>
          <p:cNvSpPr txBox="1"/>
          <p:nvPr/>
        </p:nvSpPr>
        <p:spPr>
          <a:xfrm>
            <a:off x="6995159" y="320040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75%</a:t>
            </a:r>
          </a:p>
        </p:txBody>
      </p:sp>
      <p:sp>
        <p:nvSpPr>
          <p:cNvPr id="40" name="Rectangle 39"/>
          <p:cNvSpPr/>
          <p:nvPr/>
        </p:nvSpPr>
        <p:spPr>
          <a:xfrm>
            <a:off x="8823960" y="3291840"/>
            <a:ext cx="1463040" cy="32004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23960" y="3291840"/>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超额达成</a:t>
            </a:r>
          </a:p>
        </p:txBody>
      </p:sp>
      <p:sp>
        <p:nvSpPr>
          <p:cNvPr id="42" name="Rectangle 41"/>
          <p:cNvSpPr/>
          <p:nvPr/>
        </p:nvSpPr>
        <p:spPr>
          <a:xfrm>
            <a:off x="502920" y="3703320"/>
            <a:ext cx="11155680" cy="502920"/>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70332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客户</a:t>
            </a:r>
          </a:p>
        </p:txBody>
      </p:sp>
      <p:sp>
        <p:nvSpPr>
          <p:cNvPr id="44" name="TextBox 43"/>
          <p:cNvSpPr txBox="1"/>
          <p:nvPr/>
        </p:nvSpPr>
        <p:spPr>
          <a:xfrm>
            <a:off x="2148840" y="370332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北方门店占比</a:t>
            </a:r>
          </a:p>
        </p:txBody>
      </p:sp>
      <p:sp>
        <p:nvSpPr>
          <p:cNvPr id="45" name="TextBox 44"/>
          <p:cNvSpPr txBox="1"/>
          <p:nvPr/>
        </p:nvSpPr>
        <p:spPr>
          <a:xfrm>
            <a:off x="5166359" y="370332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35%</a:t>
            </a:r>
          </a:p>
        </p:txBody>
      </p:sp>
      <p:sp>
        <p:nvSpPr>
          <p:cNvPr id="46" name="TextBox 45"/>
          <p:cNvSpPr txBox="1"/>
          <p:nvPr/>
        </p:nvSpPr>
        <p:spPr>
          <a:xfrm>
            <a:off x="6995159" y="370332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约15–18%</a:t>
            </a:r>
          </a:p>
        </p:txBody>
      </p:sp>
      <p:sp>
        <p:nvSpPr>
          <p:cNvPr id="47" name="Rectangle 46"/>
          <p:cNvSpPr/>
          <p:nvPr/>
        </p:nvSpPr>
        <p:spPr>
          <a:xfrm>
            <a:off x="8823960" y="3794759"/>
            <a:ext cx="1463040" cy="32004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23960" y="3794759"/>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推进中</a:t>
            </a:r>
          </a:p>
        </p:txBody>
      </p:sp>
      <p:sp>
        <p:nvSpPr>
          <p:cNvPr id="49" name="Rectangle 48"/>
          <p:cNvSpPr/>
          <p:nvPr/>
        </p:nvSpPr>
        <p:spPr>
          <a:xfrm>
            <a:off x="502920" y="4206240"/>
            <a:ext cx="11155680" cy="502920"/>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4206240"/>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内部流程</a:t>
            </a:r>
          </a:p>
        </p:txBody>
      </p:sp>
      <p:sp>
        <p:nvSpPr>
          <p:cNvPr id="51" name="TextBox 50"/>
          <p:cNvSpPr txBox="1"/>
          <p:nvPr/>
        </p:nvSpPr>
        <p:spPr>
          <a:xfrm>
            <a:off x="2148840" y="4206240"/>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商品动销率</a:t>
            </a:r>
          </a:p>
        </p:txBody>
      </p:sp>
      <p:sp>
        <p:nvSpPr>
          <p:cNvPr id="52" name="TextBox 51"/>
          <p:cNvSpPr txBox="1"/>
          <p:nvPr/>
        </p:nvSpPr>
        <p:spPr>
          <a:xfrm>
            <a:off x="5166359" y="420624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88%</a:t>
            </a:r>
          </a:p>
        </p:txBody>
      </p:sp>
      <p:sp>
        <p:nvSpPr>
          <p:cNvPr id="53" name="TextBox 52"/>
          <p:cNvSpPr txBox="1"/>
          <p:nvPr/>
        </p:nvSpPr>
        <p:spPr>
          <a:xfrm>
            <a:off x="6995159" y="4206240"/>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约75%</a:t>
            </a:r>
          </a:p>
        </p:txBody>
      </p:sp>
      <p:sp>
        <p:nvSpPr>
          <p:cNvPr id="54" name="Rectangle 53"/>
          <p:cNvSpPr/>
          <p:nvPr/>
        </p:nvSpPr>
        <p:spPr>
          <a:xfrm>
            <a:off x="8823960" y="4297679"/>
            <a:ext cx="1463040" cy="32004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23960" y="4297679"/>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推进中</a:t>
            </a:r>
          </a:p>
        </p:txBody>
      </p:sp>
      <p:sp>
        <p:nvSpPr>
          <p:cNvPr id="56" name="Rectangle 55"/>
          <p:cNvSpPr/>
          <p:nvPr/>
        </p:nvSpPr>
        <p:spPr>
          <a:xfrm>
            <a:off x="502920" y="4709159"/>
            <a:ext cx="11155680" cy="502920"/>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4709159"/>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内部流程</a:t>
            </a:r>
          </a:p>
        </p:txBody>
      </p:sp>
      <p:sp>
        <p:nvSpPr>
          <p:cNvPr id="58" name="TextBox 57"/>
          <p:cNvSpPr txBox="1"/>
          <p:nvPr/>
        </p:nvSpPr>
        <p:spPr>
          <a:xfrm>
            <a:off x="2148840" y="4709159"/>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自有品牌占比</a:t>
            </a:r>
          </a:p>
        </p:txBody>
      </p:sp>
      <p:sp>
        <p:nvSpPr>
          <p:cNvPr id="59" name="TextBox 58"/>
          <p:cNvSpPr txBox="1"/>
          <p:nvPr/>
        </p:nvSpPr>
        <p:spPr>
          <a:xfrm>
            <a:off x="5166359" y="4709159"/>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30%</a:t>
            </a:r>
          </a:p>
        </p:txBody>
      </p:sp>
      <p:sp>
        <p:nvSpPr>
          <p:cNvPr id="60" name="TextBox 59"/>
          <p:cNvSpPr txBox="1"/>
          <p:nvPr/>
        </p:nvSpPr>
        <p:spPr>
          <a:xfrm>
            <a:off x="6995159" y="4709159"/>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约12%(定制34%)</a:t>
            </a:r>
          </a:p>
        </p:txBody>
      </p:sp>
      <p:sp>
        <p:nvSpPr>
          <p:cNvPr id="61" name="Rectangle 60"/>
          <p:cNvSpPr/>
          <p:nvPr/>
        </p:nvSpPr>
        <p:spPr>
          <a:xfrm>
            <a:off x="8823960" y="4800599"/>
            <a:ext cx="1463040" cy="32004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3960" y="4800599"/>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差距较大</a:t>
            </a:r>
          </a:p>
        </p:txBody>
      </p:sp>
      <p:sp>
        <p:nvSpPr>
          <p:cNvPr id="63" name="Rectangle 62"/>
          <p:cNvSpPr/>
          <p:nvPr/>
        </p:nvSpPr>
        <p:spPr>
          <a:xfrm>
            <a:off x="502920" y="5212079"/>
            <a:ext cx="11155680" cy="502920"/>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94360" y="5212079"/>
            <a:ext cx="1371600" cy="502920"/>
          </a:xfrm>
          <a:prstGeom prst="rect">
            <a:avLst/>
          </a:prstGeom>
          <a:noFill/>
        </p:spPr>
        <p:txBody>
          <a:bodyPr wrap="square" anchor="ctr" lIns="25400" rIns="25400" tIns="25400" bIns="25400">
            <a:spAutoFit/>
          </a:bodyPr>
          <a:lstStyle/>
          <a:p>
            <a:pPr algn="ctr"/>
            <a:r>
              <a:rPr sz="1150" b="1" i="0">
                <a:solidFill>
                  <a:srgbClr val="262626"/>
                </a:solidFill>
                <a:latin typeface="微软雅黑"/>
                <a:ea typeface="微软雅黑"/>
              </a:rPr>
              <a:t>学习成长</a:t>
            </a:r>
          </a:p>
        </p:txBody>
      </p:sp>
      <p:sp>
        <p:nvSpPr>
          <p:cNvPr id="65" name="TextBox 64"/>
          <p:cNvSpPr txBox="1"/>
          <p:nvPr/>
        </p:nvSpPr>
        <p:spPr>
          <a:xfrm>
            <a:off x="2148840" y="5212079"/>
            <a:ext cx="2834639" cy="502920"/>
          </a:xfrm>
          <a:prstGeom prst="rect">
            <a:avLst/>
          </a:prstGeom>
          <a:noFill/>
        </p:spPr>
        <p:txBody>
          <a:bodyPr wrap="square" anchor="ctr" lIns="25400" rIns="25400" tIns="25400" bIns="25400">
            <a:spAutoFit/>
          </a:bodyPr>
          <a:lstStyle/>
          <a:p>
            <a:pPr algn="l"/>
            <a:r>
              <a:rPr sz="1150" b="0" i="0">
                <a:solidFill>
                  <a:srgbClr val="262626"/>
                </a:solidFill>
                <a:latin typeface="微软雅黑"/>
                <a:ea typeface="微软雅黑"/>
              </a:rPr>
              <a:t>库存准确率</a:t>
            </a:r>
          </a:p>
        </p:txBody>
      </p:sp>
      <p:sp>
        <p:nvSpPr>
          <p:cNvPr id="66" name="TextBox 65"/>
          <p:cNvSpPr txBox="1"/>
          <p:nvPr/>
        </p:nvSpPr>
        <p:spPr>
          <a:xfrm>
            <a:off x="5166359" y="5212079"/>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99%</a:t>
            </a:r>
          </a:p>
        </p:txBody>
      </p:sp>
      <p:sp>
        <p:nvSpPr>
          <p:cNvPr id="67" name="TextBox 66"/>
          <p:cNvSpPr txBox="1"/>
          <p:nvPr/>
        </p:nvSpPr>
        <p:spPr>
          <a:xfrm>
            <a:off x="6995159" y="5212079"/>
            <a:ext cx="1645920" cy="502920"/>
          </a:xfrm>
          <a:prstGeom prst="rect">
            <a:avLst/>
          </a:prstGeom>
          <a:noFill/>
        </p:spPr>
        <p:txBody>
          <a:bodyPr wrap="square" anchor="ctr" lIns="25400" rIns="25400" tIns="25400" bIns="25400">
            <a:spAutoFit/>
          </a:bodyPr>
          <a:lstStyle/>
          <a:p>
            <a:pPr algn="ctr"/>
            <a:r>
              <a:rPr sz="1150" b="0" i="0">
                <a:solidFill>
                  <a:srgbClr val="262626"/>
                </a:solidFill>
                <a:latin typeface="微软雅黑"/>
                <a:ea typeface="微软雅黑"/>
              </a:rPr>
              <a:t>目标99.8%</a:t>
            </a:r>
          </a:p>
        </p:txBody>
      </p:sp>
      <p:sp>
        <p:nvSpPr>
          <p:cNvPr id="68" name="Rectangle 67"/>
          <p:cNvSpPr/>
          <p:nvPr/>
        </p:nvSpPr>
        <p:spPr>
          <a:xfrm>
            <a:off x="8823960" y="5303519"/>
            <a:ext cx="1463040" cy="32004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23960" y="5303519"/>
            <a:ext cx="1463040" cy="320040"/>
          </a:xfrm>
          <a:prstGeom prst="rect">
            <a:avLst/>
          </a:prstGeom>
          <a:noFill/>
        </p:spPr>
        <p:txBody>
          <a:bodyPr wrap="square" anchor="ctr" lIns="25400" rIns="25400" tIns="25400" bIns="25400">
            <a:spAutoFit/>
          </a:bodyPr>
          <a:lstStyle/>
          <a:p>
            <a:pPr algn="ctr"/>
            <a:r>
              <a:rPr sz="1100" b="1" i="0">
                <a:solidFill>
                  <a:srgbClr val="FFFFFF"/>
                </a:solidFill>
                <a:latin typeface="微软雅黑"/>
                <a:ea typeface="微软雅黑"/>
              </a:rPr>
              <a:t>建设中</a:t>
            </a:r>
          </a:p>
        </p:txBody>
      </p:sp>
      <p:sp>
        <p:nvSpPr>
          <p:cNvPr id="70" name="TextBox 69"/>
          <p:cNvSpPr txBox="1"/>
          <p:nvPr/>
        </p:nvSpPr>
        <p:spPr>
          <a:xfrm>
            <a:off x="502920" y="5788151"/>
            <a:ext cx="11155680" cy="457200"/>
          </a:xfrm>
          <a:prstGeom prst="rect">
            <a:avLst/>
          </a:prstGeom>
          <a:noFill/>
        </p:spPr>
        <p:txBody>
          <a:bodyPr wrap="square" anchor="t" lIns="25400" rIns="25400" tIns="25400" bIns="25400">
            <a:spAutoFit/>
          </a:bodyPr>
          <a:lstStyle/>
          <a:p>
            <a:pPr algn="l">
              <a:lnSpc>
                <a:spcPct val="120000"/>
              </a:lnSpc>
            </a:pPr>
            <a:r>
              <a:rPr sz="1050" b="0" i="0">
                <a:solidFill>
                  <a:srgbClr val="666666"/>
                </a:solidFill>
                <a:latin typeface="微软雅黑"/>
                <a:ea typeface="微软雅黑"/>
              </a:rPr>
              <a:t>*注：直采占比、会员复购率已超额完成原定目标；毛利率、自有品牌占比、动销率等仍存在较大差距，部分源于目标设定偏激进（详见下页偏差原因分析）。</a:t>
            </a:r>
          </a:p>
        </p:txBody>
      </p:sp>
      <p:sp>
        <p:nvSpPr>
          <p:cNvPr id="71" name="TextBox 70"/>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72" name="TextBox 71"/>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偏差原因分析：四维度诊断</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05</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34440"/>
            <a:ext cx="548640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512064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财务维度  ｜  </a:t>
            </a:r>
            <a:r>
              <a:rPr sz="1300" b="1" i="0">
                <a:solidFill>
                  <a:srgbClr val="FFECE6"/>
                </a:solidFill>
                <a:latin typeface="微软雅黑"/>
                <a:ea typeface="微软雅黑"/>
              </a:rPr>
              <a:t>毛利率目标(32%)过高</a:t>
            </a:r>
          </a:p>
        </p:txBody>
      </p:sp>
      <p:sp>
        <p:nvSpPr>
          <p:cNvPr id="11" name="TextBox 10"/>
          <p:cNvSpPr txBox="1"/>
          <p:nvPr/>
        </p:nvSpPr>
        <p:spPr>
          <a:xfrm>
            <a:off x="731520" y="1801368"/>
            <a:ext cx="5029200" cy="1600200"/>
          </a:xfrm>
          <a:prstGeom prst="rect">
            <a:avLst/>
          </a:prstGeom>
          <a:noFill/>
        </p:spPr>
        <p:txBody>
          <a:bodyPr wrap="square" anchor="t" lIns="25400" rIns="25400" tIns="25400" bIns="25400">
            <a:spAutoFit/>
          </a:bodyPr>
          <a:lstStyle/>
          <a:p>
            <a:pPr algn="l">
              <a:lnSpc>
                <a:spcPct val="130000"/>
              </a:lnSpc>
            </a:pPr>
            <a:r>
              <a:rPr sz="1200" b="0" i="0">
                <a:solidFill>
                  <a:srgbClr val="262626"/>
                </a:solidFill>
                <a:latin typeface="微软雅黑"/>
                <a:ea typeface="微软雅黑"/>
              </a:rPr>
              <a:t>目标过度依赖行业对标（良品铺子26%、三只松鼠24%）而非自身能力与历史趋势；公司层面实际仅7.6%；物流成本目标未考虑全国扩张带来的边际压力。</a:t>
            </a:r>
          </a:p>
        </p:txBody>
      </p:sp>
      <p:sp>
        <p:nvSpPr>
          <p:cNvPr id="12" name="Rectangle 11"/>
          <p:cNvSpPr/>
          <p:nvPr/>
        </p:nvSpPr>
        <p:spPr>
          <a:xfrm>
            <a:off x="6199632" y="123444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234440"/>
            <a:ext cx="5486400" cy="45720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234440"/>
            <a:ext cx="512064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客户维度  ｜  </a:t>
            </a:r>
            <a:r>
              <a:rPr sz="1300" b="1" i="0">
                <a:solidFill>
                  <a:srgbClr val="FFECE6"/>
                </a:solidFill>
                <a:latin typeface="微软雅黑"/>
                <a:ea typeface="微软雅黑"/>
              </a:rPr>
              <a:t>缺乏客户分层管理</a:t>
            </a:r>
          </a:p>
        </p:txBody>
      </p:sp>
      <p:sp>
        <p:nvSpPr>
          <p:cNvPr id="15" name="TextBox 14"/>
          <p:cNvSpPr txBox="1"/>
          <p:nvPr/>
        </p:nvSpPr>
        <p:spPr>
          <a:xfrm>
            <a:off x="6428232" y="1801368"/>
            <a:ext cx="5029200" cy="1600200"/>
          </a:xfrm>
          <a:prstGeom prst="rect">
            <a:avLst/>
          </a:prstGeom>
          <a:noFill/>
        </p:spPr>
        <p:txBody>
          <a:bodyPr wrap="square" anchor="t" lIns="25400" rIns="25400" tIns="25400" bIns="25400">
            <a:spAutoFit/>
          </a:bodyPr>
          <a:lstStyle/>
          <a:p>
            <a:pPr algn="l">
              <a:lnSpc>
                <a:spcPct val="130000"/>
              </a:lnSpc>
            </a:pPr>
            <a:r>
              <a:rPr sz="1200" b="0" i="0">
                <a:solidFill>
                  <a:srgbClr val="262626"/>
                </a:solidFill>
                <a:latin typeface="微软雅黑"/>
                <a:ea typeface="微软雅黑"/>
              </a:rPr>
              <a:t>「复购→高价值消费」转化路径不清；KPI 偏后验结果（占比）缺过程指标（新客转化、客单价）；10 亿专项资金偏开店与品牌，未匹配客户洞察与区域产品定制。</a:t>
            </a:r>
          </a:p>
        </p:txBody>
      </p:sp>
      <p:sp>
        <p:nvSpPr>
          <p:cNvPr id="16" name="Rectangle 15"/>
          <p:cNvSpPr/>
          <p:nvPr/>
        </p:nvSpPr>
        <p:spPr>
          <a:xfrm>
            <a:off x="502920" y="361188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611880"/>
            <a:ext cx="5486400" cy="45720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611880"/>
            <a:ext cx="512064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内部流程  ｜  </a:t>
            </a:r>
            <a:r>
              <a:rPr sz="1300" b="1" i="0">
                <a:solidFill>
                  <a:srgbClr val="FFECE6"/>
                </a:solidFill>
                <a:latin typeface="微软雅黑"/>
                <a:ea typeface="微软雅黑"/>
              </a:rPr>
              <a:t>能力未拆解、数字化落地滞后</a:t>
            </a:r>
          </a:p>
        </p:txBody>
      </p:sp>
      <p:sp>
        <p:nvSpPr>
          <p:cNvPr id="19" name="TextBox 18"/>
          <p:cNvSpPr txBox="1"/>
          <p:nvPr/>
        </p:nvSpPr>
        <p:spPr>
          <a:xfrm>
            <a:off x="731520" y="4178808"/>
            <a:ext cx="5029200" cy="1600200"/>
          </a:xfrm>
          <a:prstGeom prst="rect">
            <a:avLst/>
          </a:prstGeom>
          <a:noFill/>
        </p:spPr>
        <p:txBody>
          <a:bodyPr wrap="square" anchor="t" lIns="25400" rIns="25400" tIns="25400" bIns="25400">
            <a:spAutoFit/>
          </a:bodyPr>
          <a:lstStyle/>
          <a:p>
            <a:pPr algn="l">
              <a:lnSpc>
                <a:spcPct val="130000"/>
              </a:lnSpc>
            </a:pPr>
            <a:r>
              <a:rPr sz="1200" b="0" i="0">
                <a:solidFill>
                  <a:srgbClr val="262626"/>
                </a:solidFill>
                <a:latin typeface="微软雅黑"/>
                <a:ea typeface="微软雅黑"/>
              </a:rPr>
              <a:t>动销率(88%)、自有品牌(30%)目标偏「结果导向」而非「能力导向」；自有品牌缺与供应链/研发/门店协同机制；数字化仍以功能模块为主，缺流程再造（智能补货、区域差异化选品未落地）。</a:t>
            </a:r>
          </a:p>
        </p:txBody>
      </p:sp>
      <p:sp>
        <p:nvSpPr>
          <p:cNvPr id="20" name="Rectangle 19"/>
          <p:cNvSpPr/>
          <p:nvPr/>
        </p:nvSpPr>
        <p:spPr>
          <a:xfrm>
            <a:off x="6199632" y="3611880"/>
            <a:ext cx="5486400" cy="224028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611880"/>
            <a:ext cx="5486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3611880"/>
            <a:ext cx="512064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学习成长  ｜  </a:t>
            </a:r>
            <a:r>
              <a:rPr sz="1300" b="1" i="0">
                <a:solidFill>
                  <a:srgbClr val="FFECE6"/>
                </a:solidFill>
                <a:latin typeface="微软雅黑"/>
                <a:ea typeface="微软雅黑"/>
              </a:rPr>
              <a:t>组织能力滞后于业务扩张</a:t>
            </a:r>
          </a:p>
        </p:txBody>
      </p:sp>
      <p:sp>
        <p:nvSpPr>
          <p:cNvPr id="23" name="TextBox 22"/>
          <p:cNvSpPr txBox="1"/>
          <p:nvPr/>
        </p:nvSpPr>
        <p:spPr>
          <a:xfrm>
            <a:off x="6428232" y="4178808"/>
            <a:ext cx="5029200" cy="1600200"/>
          </a:xfrm>
          <a:prstGeom prst="rect">
            <a:avLst/>
          </a:prstGeom>
          <a:noFill/>
        </p:spPr>
        <p:txBody>
          <a:bodyPr wrap="square" anchor="t" lIns="25400" rIns="25400" tIns="25400" bIns="25400">
            <a:spAutoFit/>
          </a:bodyPr>
          <a:lstStyle/>
          <a:p>
            <a:pPr algn="l">
              <a:lnSpc>
                <a:spcPct val="130000"/>
              </a:lnSpc>
            </a:pPr>
            <a:r>
              <a:rPr sz="1200" b="0" i="0">
                <a:solidFill>
                  <a:srgbClr val="262626"/>
                </a:solidFill>
                <a:latin typeface="微软雅黑"/>
                <a:ea typeface="微软雅黑"/>
              </a:rPr>
              <a:t>加盟商培训缺覆盖率、培训后绩效等关键指标；数字化投入偏系统建设而非组织转型；人才发展与战略目标映射模糊（如自有品牌开发能力对应岗位/技能未明确）。</a:t>
            </a:r>
          </a:p>
        </p:txBody>
      </p:sp>
      <p:sp>
        <p:nvSpPr>
          <p:cNvPr id="24" name="TextBox 23"/>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5" name="TextBox 24"/>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数据口径差异说明与修正建议</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05</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1115568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80160"/>
            <a:ext cx="21945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指标</a:t>
            </a:r>
          </a:p>
        </p:txBody>
      </p:sp>
      <p:sp>
        <p:nvSpPr>
          <p:cNvPr id="10" name="TextBox 9"/>
          <p:cNvSpPr txBox="1"/>
          <p:nvPr/>
        </p:nvSpPr>
        <p:spPr>
          <a:xfrm>
            <a:off x="2971800" y="128016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原文档数据</a:t>
            </a:r>
          </a:p>
        </p:txBody>
      </p:sp>
      <p:sp>
        <p:nvSpPr>
          <p:cNvPr id="11" name="TextBox 10"/>
          <p:cNvSpPr txBox="1"/>
          <p:nvPr/>
        </p:nvSpPr>
        <p:spPr>
          <a:xfrm>
            <a:off x="5715000" y="1280160"/>
            <a:ext cx="256032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实际/最新数据</a:t>
            </a:r>
          </a:p>
        </p:txBody>
      </p:sp>
      <p:sp>
        <p:nvSpPr>
          <p:cNvPr id="12" name="TextBox 11"/>
          <p:cNvSpPr txBox="1"/>
          <p:nvPr/>
        </p:nvSpPr>
        <p:spPr>
          <a:xfrm>
            <a:off x="8458200" y="1280160"/>
            <a:ext cx="3108960" cy="457200"/>
          </a:xfrm>
          <a:prstGeom prst="rect">
            <a:avLst/>
          </a:prstGeom>
          <a:noFill/>
        </p:spPr>
        <p:txBody>
          <a:bodyPr wrap="square" anchor="ctr" lIns="25400" rIns="25400" tIns="25400" bIns="25400">
            <a:spAutoFit/>
          </a:bodyPr>
          <a:lstStyle/>
          <a:p>
            <a:pPr algn="l"/>
            <a:r>
              <a:rPr sz="1300" b="1" i="0">
                <a:solidFill>
                  <a:srgbClr val="FFFFFF"/>
                </a:solidFill>
                <a:latin typeface="微软雅黑"/>
                <a:ea typeface="微软雅黑"/>
              </a:rPr>
              <a:t>修正建议</a:t>
            </a:r>
          </a:p>
        </p:txBody>
      </p:sp>
      <p:sp>
        <p:nvSpPr>
          <p:cNvPr id="13" name="Rectangle 12"/>
          <p:cNvSpPr/>
          <p:nvPr/>
        </p:nvSpPr>
        <p:spPr>
          <a:xfrm>
            <a:off x="502920" y="1737360"/>
            <a:ext cx="11155680" cy="841248"/>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1737360"/>
            <a:ext cx="2157984" cy="841248"/>
          </a:xfrm>
          <a:prstGeom prst="rect">
            <a:avLst/>
          </a:prstGeom>
          <a:noFill/>
        </p:spPr>
        <p:txBody>
          <a:bodyPr wrap="square" anchor="ctr" lIns="25400" rIns="25400" tIns="25400" bIns="25400">
            <a:spAutoFit/>
          </a:bodyPr>
          <a:lstStyle/>
          <a:p>
            <a:pPr algn="l">
              <a:lnSpc>
                <a:spcPct val="115000"/>
              </a:lnSpc>
            </a:pPr>
            <a:r>
              <a:rPr sz="1200" b="1" i="0">
                <a:solidFill>
                  <a:srgbClr val="C01A22"/>
                </a:solidFill>
                <a:latin typeface="微软雅黑"/>
                <a:ea typeface="微软雅黑"/>
              </a:rPr>
              <a:t>单店月均营收</a:t>
            </a:r>
          </a:p>
        </p:txBody>
      </p:sp>
      <p:sp>
        <p:nvSpPr>
          <p:cNvPr id="15" name="TextBox 14"/>
          <p:cNvSpPr txBox="1"/>
          <p:nvPr/>
        </p:nvSpPr>
        <p:spPr>
          <a:xfrm>
            <a:off x="2990088" y="1737360"/>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12万元(供货口径)</a:t>
            </a:r>
          </a:p>
        </p:txBody>
      </p:sp>
      <p:sp>
        <p:nvSpPr>
          <p:cNvPr id="16" name="TextBox 15"/>
          <p:cNvSpPr txBox="1"/>
          <p:nvPr/>
        </p:nvSpPr>
        <p:spPr>
          <a:xfrm>
            <a:off x="5733288" y="1737360"/>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25–30万元(门店GMV)</a:t>
            </a:r>
          </a:p>
        </p:txBody>
      </p:sp>
      <p:sp>
        <p:nvSpPr>
          <p:cNvPr id="17" name="TextBox 16"/>
          <p:cNvSpPr txBox="1"/>
          <p:nvPr/>
        </p:nvSpPr>
        <p:spPr>
          <a:xfrm>
            <a:off x="8476488" y="1737360"/>
            <a:ext cx="307238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明确区分「公司供货收入」与「门店 GMV」两口径</a:t>
            </a:r>
          </a:p>
        </p:txBody>
      </p:sp>
      <p:sp>
        <p:nvSpPr>
          <p:cNvPr id="18" name="Rectangle 17"/>
          <p:cNvSpPr/>
          <p:nvPr/>
        </p:nvSpPr>
        <p:spPr>
          <a:xfrm>
            <a:off x="502920" y="2578608"/>
            <a:ext cx="11155680" cy="841248"/>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2578608"/>
            <a:ext cx="2157984" cy="841248"/>
          </a:xfrm>
          <a:prstGeom prst="rect">
            <a:avLst/>
          </a:prstGeom>
          <a:noFill/>
        </p:spPr>
        <p:txBody>
          <a:bodyPr wrap="square" anchor="ctr" lIns="25400" rIns="25400" tIns="25400" bIns="25400">
            <a:spAutoFit/>
          </a:bodyPr>
          <a:lstStyle/>
          <a:p>
            <a:pPr algn="l">
              <a:lnSpc>
                <a:spcPct val="115000"/>
              </a:lnSpc>
            </a:pPr>
            <a:r>
              <a:rPr sz="1200" b="1" i="0">
                <a:solidFill>
                  <a:srgbClr val="C01A22"/>
                </a:solidFill>
                <a:latin typeface="微软雅黑"/>
                <a:ea typeface="微软雅黑"/>
              </a:rPr>
              <a:t>毛利率核算</a:t>
            </a:r>
          </a:p>
        </p:txBody>
      </p:sp>
      <p:sp>
        <p:nvSpPr>
          <p:cNvPr id="20" name="TextBox 19"/>
          <p:cNvSpPr txBox="1"/>
          <p:nvPr/>
        </p:nvSpPr>
        <p:spPr>
          <a:xfrm>
            <a:off x="2990088" y="2578608"/>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28%(行业/自有品牌)</a:t>
            </a:r>
          </a:p>
        </p:txBody>
      </p:sp>
      <p:sp>
        <p:nvSpPr>
          <p:cNvPr id="21" name="TextBox 20"/>
          <p:cNvSpPr txBox="1"/>
          <p:nvPr/>
        </p:nvSpPr>
        <p:spPr>
          <a:xfrm>
            <a:off x="5733288" y="2578608"/>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公司7.6% / 加盟商18–20%</a:t>
            </a:r>
          </a:p>
        </p:txBody>
      </p:sp>
      <p:sp>
        <p:nvSpPr>
          <p:cNvPr id="22" name="TextBox 21"/>
          <p:cNvSpPr txBox="1"/>
          <p:nvPr/>
        </p:nvSpPr>
        <p:spPr>
          <a:xfrm>
            <a:off x="8476488" y="2578608"/>
            <a:ext cx="307238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分层披露公司层面与加盟商层面毛利率</a:t>
            </a:r>
          </a:p>
        </p:txBody>
      </p:sp>
      <p:sp>
        <p:nvSpPr>
          <p:cNvPr id="23" name="Rectangle 22"/>
          <p:cNvSpPr/>
          <p:nvPr/>
        </p:nvSpPr>
        <p:spPr>
          <a:xfrm>
            <a:off x="502920" y="3419856"/>
            <a:ext cx="11155680" cy="841248"/>
          </a:xfrm>
          <a:prstGeom prst="rect">
            <a:avLst/>
          </a:prstGeom>
          <a:solidFill>
            <a:srgbClr val="FFFFFF"/>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3419856"/>
            <a:ext cx="2157984" cy="841248"/>
          </a:xfrm>
          <a:prstGeom prst="rect">
            <a:avLst/>
          </a:prstGeom>
          <a:noFill/>
        </p:spPr>
        <p:txBody>
          <a:bodyPr wrap="square" anchor="ctr" lIns="25400" rIns="25400" tIns="25400" bIns="25400">
            <a:spAutoFit/>
          </a:bodyPr>
          <a:lstStyle/>
          <a:p>
            <a:pPr algn="l">
              <a:lnSpc>
                <a:spcPct val="115000"/>
              </a:lnSpc>
            </a:pPr>
            <a:r>
              <a:rPr sz="1200" b="1" i="0">
                <a:solidFill>
                  <a:srgbClr val="C01A22"/>
                </a:solidFill>
                <a:latin typeface="微软雅黑"/>
                <a:ea typeface="微软雅黑"/>
              </a:rPr>
              <a:t>会员年复购率</a:t>
            </a:r>
          </a:p>
        </p:txBody>
      </p:sp>
      <p:sp>
        <p:nvSpPr>
          <p:cNvPr id="25" name="TextBox 24"/>
          <p:cNvSpPr txBox="1"/>
          <p:nvPr/>
        </p:nvSpPr>
        <p:spPr>
          <a:xfrm>
            <a:off x="2990088" y="3419856"/>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30%(2023单品牌)</a:t>
            </a:r>
          </a:p>
        </p:txBody>
      </p:sp>
      <p:sp>
        <p:nvSpPr>
          <p:cNvPr id="26" name="TextBox 25"/>
          <p:cNvSpPr txBox="1"/>
          <p:nvPr/>
        </p:nvSpPr>
        <p:spPr>
          <a:xfrm>
            <a:off x="5733288" y="3419856"/>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75%(2024集团合并后)</a:t>
            </a:r>
          </a:p>
        </p:txBody>
      </p:sp>
      <p:sp>
        <p:nvSpPr>
          <p:cNvPr id="27" name="TextBox 26"/>
          <p:cNvSpPr txBox="1"/>
          <p:nvPr/>
        </p:nvSpPr>
        <p:spPr>
          <a:xfrm>
            <a:off x="8476488" y="3419856"/>
            <a:ext cx="307238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更新为合并后最新 75%，体现会员整合优势</a:t>
            </a:r>
          </a:p>
        </p:txBody>
      </p:sp>
      <p:sp>
        <p:nvSpPr>
          <p:cNvPr id="28" name="Rectangle 27"/>
          <p:cNvSpPr/>
          <p:nvPr/>
        </p:nvSpPr>
        <p:spPr>
          <a:xfrm>
            <a:off x="502920" y="4261104"/>
            <a:ext cx="11155680" cy="841248"/>
          </a:xfrm>
          <a:prstGeom prst="rect">
            <a:avLst/>
          </a:prstGeom>
          <a:solidFill>
            <a:srgbClr val="FCF4F1"/>
          </a:solidFill>
          <a:ln w="635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261104"/>
            <a:ext cx="2157984" cy="841248"/>
          </a:xfrm>
          <a:prstGeom prst="rect">
            <a:avLst/>
          </a:prstGeom>
          <a:noFill/>
        </p:spPr>
        <p:txBody>
          <a:bodyPr wrap="square" anchor="ctr" lIns="25400" rIns="25400" tIns="25400" bIns="25400">
            <a:spAutoFit/>
          </a:bodyPr>
          <a:lstStyle/>
          <a:p>
            <a:pPr algn="l">
              <a:lnSpc>
                <a:spcPct val="115000"/>
              </a:lnSpc>
            </a:pPr>
            <a:r>
              <a:rPr sz="1200" b="1" i="0">
                <a:solidFill>
                  <a:srgbClr val="C01A22"/>
                </a:solidFill>
                <a:latin typeface="微软雅黑"/>
                <a:ea typeface="微软雅黑"/>
              </a:rPr>
              <a:t>供应链直采占比</a:t>
            </a:r>
          </a:p>
        </p:txBody>
      </p:sp>
      <p:sp>
        <p:nvSpPr>
          <p:cNvPr id="30" name="TextBox 29"/>
          <p:cNvSpPr txBox="1"/>
          <p:nvPr/>
        </p:nvSpPr>
        <p:spPr>
          <a:xfrm>
            <a:off x="2990088" y="4261104"/>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80%(2023历史)</a:t>
            </a:r>
          </a:p>
        </p:txBody>
      </p:sp>
      <p:sp>
        <p:nvSpPr>
          <p:cNvPr id="31" name="TextBox 30"/>
          <p:cNvSpPr txBox="1"/>
          <p:nvPr/>
        </p:nvSpPr>
        <p:spPr>
          <a:xfrm>
            <a:off x="5733288" y="4261104"/>
            <a:ext cx="252374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92.3%(2025最新)</a:t>
            </a:r>
          </a:p>
        </p:txBody>
      </p:sp>
      <p:sp>
        <p:nvSpPr>
          <p:cNvPr id="32" name="TextBox 31"/>
          <p:cNvSpPr txBox="1"/>
          <p:nvPr/>
        </p:nvSpPr>
        <p:spPr>
          <a:xfrm>
            <a:off x="8476488" y="4261104"/>
            <a:ext cx="3072384" cy="841248"/>
          </a:xfrm>
          <a:prstGeom prst="rect">
            <a:avLst/>
          </a:prstGeom>
          <a:noFill/>
        </p:spPr>
        <p:txBody>
          <a:bodyPr wrap="square" anchor="ctr" lIns="25400" rIns="25400" tIns="25400" bIns="25400">
            <a:spAutoFit/>
          </a:bodyPr>
          <a:lstStyle/>
          <a:p>
            <a:pPr algn="l">
              <a:lnSpc>
                <a:spcPct val="115000"/>
              </a:lnSpc>
            </a:pPr>
            <a:r>
              <a:rPr sz="1200" b="0" i="0">
                <a:solidFill>
                  <a:srgbClr val="262626"/>
                </a:solidFill>
                <a:latin typeface="微软雅黑"/>
                <a:ea typeface="微软雅黑"/>
              </a:rPr>
              <a:t>采用最新 92.3%，突出供应链效率持续优化</a:t>
            </a:r>
          </a:p>
        </p:txBody>
      </p:sp>
      <p:sp>
        <p:nvSpPr>
          <p:cNvPr id="33" name="Rectangle 32"/>
          <p:cNvSpPr/>
          <p:nvPr/>
        </p:nvSpPr>
        <p:spPr>
          <a:xfrm>
            <a:off x="502920" y="5212080"/>
            <a:ext cx="11155680" cy="731520"/>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212080"/>
            <a:ext cx="91440" cy="73152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212080"/>
            <a:ext cx="10789920" cy="731520"/>
          </a:xfrm>
          <a:prstGeom prst="rect">
            <a:avLst/>
          </a:prstGeom>
          <a:noFill/>
        </p:spPr>
        <p:txBody>
          <a:bodyPr wrap="square" anchor="ctr" lIns="25400" rIns="25400" tIns="25400" bIns="25400">
            <a:spAutoFit/>
          </a:bodyPr>
          <a:lstStyle/>
          <a:p>
            <a:pPr algn="l">
              <a:lnSpc>
                <a:spcPct val="125000"/>
              </a:lnSpc>
            </a:pPr>
            <a:r>
              <a:rPr sz="1200" b="1" i="0">
                <a:solidFill>
                  <a:srgbClr val="C01A22"/>
                </a:solidFill>
                <a:latin typeface="微软雅黑"/>
                <a:ea typeface="微软雅黑"/>
              </a:rPr>
              <a:t>核心数据来源：</a:t>
            </a:r>
            <a:r>
              <a:rPr sz="1150" b="0" i="0">
                <a:solidFill>
                  <a:srgbClr val="262626"/>
                </a:solidFill>
                <a:latin typeface="微软雅黑"/>
                <a:ea typeface="微软雅黑"/>
              </a:rPr>
              <a:t>鸣鸣很忙集团 2024 招股书及年报、赵一鸣官网、GeoQ 智图行业蓝皮书、美团闪购行业白皮书。关键口径：单店营收区分供货收入/GMV；毛利率分公司层/加盟商层/自有品牌；会员数据按集团合并口径。</a:t>
            </a:r>
          </a:p>
        </p:txBody>
      </p:sp>
      <p:sp>
        <p:nvSpPr>
          <p:cNvPr id="36" name="TextBox 35"/>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7" name="TextBox 36"/>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结论与启示</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05</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11155680" cy="1078992"/>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80160"/>
            <a:ext cx="2103120" cy="1078992"/>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80160"/>
            <a:ext cx="2011680" cy="1078992"/>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战略成效</a:t>
            </a:r>
          </a:p>
        </p:txBody>
      </p:sp>
      <p:sp>
        <p:nvSpPr>
          <p:cNvPr id="11" name="TextBox 10"/>
          <p:cNvSpPr txBox="1"/>
          <p:nvPr/>
        </p:nvSpPr>
        <p:spPr>
          <a:xfrm>
            <a:off x="2788920" y="1371600"/>
            <a:ext cx="8732520" cy="914400"/>
          </a:xfrm>
          <a:prstGeom prst="rect">
            <a:avLst/>
          </a:prstGeom>
          <a:noFill/>
        </p:spPr>
        <p:txBody>
          <a:bodyPr wrap="square" anchor="ctr" lIns="25400" rIns="25400" tIns="25400" bIns="25400">
            <a:spAutoFit/>
          </a:bodyPr>
          <a:lstStyle/>
          <a:p>
            <a:pPr algn="l">
              <a:lnSpc>
                <a:spcPct val="130000"/>
              </a:lnSpc>
            </a:pPr>
            <a:r>
              <a:rPr sz="1300" b="0" i="0">
                <a:solidFill>
                  <a:srgbClr val="262626"/>
                </a:solidFill>
                <a:latin typeface="微软雅黑"/>
                <a:ea typeface="微软雅黑"/>
              </a:rPr>
              <a:t>并入集团后，赵一鸣借供应链、资本与数字化赋能，从区域强势品牌跃升为全国头部，收入规模超越「零食很忙」，成本领先战略成效显著。</a:t>
            </a:r>
          </a:p>
        </p:txBody>
      </p:sp>
      <p:sp>
        <p:nvSpPr>
          <p:cNvPr id="12" name="Rectangle 11"/>
          <p:cNvSpPr/>
          <p:nvPr/>
        </p:nvSpPr>
        <p:spPr>
          <a:xfrm>
            <a:off x="502920" y="2487168"/>
            <a:ext cx="11155680" cy="1078992"/>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487168"/>
            <a:ext cx="2103120" cy="1078992"/>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87168"/>
            <a:ext cx="2011680" cy="1078992"/>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执行短板</a:t>
            </a:r>
          </a:p>
        </p:txBody>
      </p:sp>
      <p:sp>
        <p:nvSpPr>
          <p:cNvPr id="15" name="TextBox 14"/>
          <p:cNvSpPr txBox="1"/>
          <p:nvPr/>
        </p:nvSpPr>
        <p:spPr>
          <a:xfrm>
            <a:off x="2788920" y="2578608"/>
            <a:ext cx="8732520" cy="914400"/>
          </a:xfrm>
          <a:prstGeom prst="rect">
            <a:avLst/>
          </a:prstGeom>
          <a:noFill/>
        </p:spPr>
        <p:txBody>
          <a:bodyPr wrap="square" anchor="ctr" lIns="25400" rIns="25400" tIns="25400" bIns="25400">
            <a:spAutoFit/>
          </a:bodyPr>
          <a:lstStyle/>
          <a:p>
            <a:pPr algn="l">
              <a:lnSpc>
                <a:spcPct val="130000"/>
              </a:lnSpc>
            </a:pPr>
            <a:r>
              <a:rPr sz="1300" b="0" i="0">
                <a:solidFill>
                  <a:srgbClr val="262626"/>
                </a:solidFill>
                <a:latin typeface="微软雅黑"/>
                <a:ea typeface="微软雅黑"/>
              </a:rPr>
              <a:t>毛利率、自有品牌占比、动销率等目标与现状差距较大；KPI 偏「结果导向」、缺过程性与能力性指标，目标设定偏向行业对标而非自身能力。</a:t>
            </a:r>
          </a:p>
        </p:txBody>
      </p:sp>
      <p:sp>
        <p:nvSpPr>
          <p:cNvPr id="16" name="Rectangle 15"/>
          <p:cNvSpPr/>
          <p:nvPr/>
        </p:nvSpPr>
        <p:spPr>
          <a:xfrm>
            <a:off x="502920" y="3694176"/>
            <a:ext cx="11155680" cy="1078992"/>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694176"/>
            <a:ext cx="2103120" cy="107899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94176"/>
            <a:ext cx="2011680" cy="1078992"/>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BSC 启示</a:t>
            </a:r>
          </a:p>
        </p:txBody>
      </p:sp>
      <p:sp>
        <p:nvSpPr>
          <p:cNvPr id="19" name="TextBox 18"/>
          <p:cNvSpPr txBox="1"/>
          <p:nvPr/>
        </p:nvSpPr>
        <p:spPr>
          <a:xfrm>
            <a:off x="2788920" y="3785615"/>
            <a:ext cx="8732520" cy="914400"/>
          </a:xfrm>
          <a:prstGeom prst="rect">
            <a:avLst/>
          </a:prstGeom>
          <a:noFill/>
        </p:spPr>
        <p:txBody>
          <a:bodyPr wrap="square" anchor="ctr" lIns="25400" rIns="25400" tIns="25400" bIns="25400">
            <a:spAutoFit/>
          </a:bodyPr>
          <a:lstStyle/>
          <a:p>
            <a:pPr algn="l">
              <a:lnSpc>
                <a:spcPct val="130000"/>
              </a:lnSpc>
            </a:pPr>
            <a:r>
              <a:rPr sz="1300" b="0" i="0">
                <a:solidFill>
                  <a:srgbClr val="262626"/>
                </a:solidFill>
                <a:latin typeface="微软雅黑"/>
                <a:ea typeface="微软雅黑"/>
              </a:rPr>
              <a:t>战略地图需强化四维度因果传导：以「学习成长(数字化/人才)→内部流程(选品/周转)→客户(分层/客单价)→财务(毛利/营收)」的能力链条支撑目标，避免「一刀切」。</a:t>
            </a:r>
          </a:p>
        </p:txBody>
      </p:sp>
      <p:sp>
        <p:nvSpPr>
          <p:cNvPr id="20" name="Rectangle 19"/>
          <p:cNvSpPr/>
          <p:nvPr/>
        </p:nvSpPr>
        <p:spPr>
          <a:xfrm>
            <a:off x="502920" y="4901184"/>
            <a:ext cx="11155680" cy="1078992"/>
          </a:xfrm>
          <a:prstGeom prst="rect">
            <a:avLst/>
          </a:prstGeom>
          <a:solidFill>
            <a:srgbClr val="F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901184"/>
            <a:ext cx="2103120" cy="1078992"/>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01184"/>
            <a:ext cx="2011680" cy="1078992"/>
          </a:xfrm>
          <a:prstGeom prst="rect">
            <a:avLst/>
          </a:prstGeom>
          <a:noFill/>
        </p:spPr>
        <p:txBody>
          <a:bodyPr wrap="square" anchor="ctr" lIns="25400" rIns="25400" tIns="25400" bIns="25400">
            <a:spAutoFit/>
          </a:bodyPr>
          <a:lstStyle/>
          <a:p>
            <a:pPr algn="ctr"/>
            <a:r>
              <a:rPr sz="1800" b="1" i="0">
                <a:solidFill>
                  <a:srgbClr val="FFFFFF"/>
                </a:solidFill>
                <a:latin typeface="微软雅黑"/>
                <a:ea typeface="微软雅黑"/>
              </a:rPr>
              <a:t>发展建议</a:t>
            </a:r>
          </a:p>
        </p:txBody>
      </p:sp>
      <p:sp>
        <p:nvSpPr>
          <p:cNvPr id="23" name="TextBox 22"/>
          <p:cNvSpPr txBox="1"/>
          <p:nvPr/>
        </p:nvSpPr>
        <p:spPr>
          <a:xfrm>
            <a:off x="2788920" y="4992624"/>
            <a:ext cx="8732520" cy="914400"/>
          </a:xfrm>
          <a:prstGeom prst="rect">
            <a:avLst/>
          </a:prstGeom>
          <a:noFill/>
        </p:spPr>
        <p:txBody>
          <a:bodyPr wrap="square" anchor="ctr" lIns="25400" rIns="25400" tIns="25400" bIns="25400">
            <a:spAutoFit/>
          </a:bodyPr>
          <a:lstStyle/>
          <a:p>
            <a:pPr algn="l">
              <a:lnSpc>
                <a:spcPct val="130000"/>
              </a:lnSpc>
            </a:pPr>
            <a:r>
              <a:rPr sz="1300" b="0" i="0">
                <a:solidFill>
                  <a:srgbClr val="262626"/>
                </a:solidFill>
                <a:latin typeface="微软雅黑"/>
                <a:ea typeface="微软雅黑"/>
              </a:rPr>
              <a:t>①目标分层、设过程指标；②自有品牌建协同开发机制；③客户分区域精细运营；④数字化由「系统建设」转向「流程再造+组织转型」；⑤平衡双品牌区域竞合。</a:t>
            </a:r>
          </a:p>
        </p:txBody>
      </p:sp>
      <p:sp>
        <p:nvSpPr>
          <p:cNvPr id="24" name="TextBox 23"/>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25" name="TextBox 24"/>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28016" cy="384048"/>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56032"/>
            <a:ext cx="8686800" cy="548640"/>
          </a:xfrm>
          <a:prstGeom prst="rect">
            <a:avLst/>
          </a:prstGeom>
          <a:noFill/>
        </p:spPr>
        <p:txBody>
          <a:bodyPr wrap="square" anchor="ctr" lIns="25400" rIns="25400" tIns="25400" bIns="25400">
            <a:spAutoFit/>
          </a:bodyPr>
          <a:lstStyle/>
          <a:p>
            <a:pPr algn="l"/>
            <a:r>
              <a:rPr sz="2500" b="1" i="0">
                <a:solidFill>
                  <a:srgbClr val="262626"/>
                </a:solidFill>
                <a:latin typeface="微软雅黑"/>
                <a:ea typeface="微软雅黑"/>
              </a:rPr>
              <a:t>实践借鉴：对零食量贩/连锁加盟行业的启示</a:t>
            </a:r>
          </a:p>
        </p:txBody>
      </p:sp>
      <p:sp>
        <p:nvSpPr>
          <p:cNvPr id="6" name="TextBox 5"/>
          <p:cNvSpPr txBox="1"/>
          <p:nvPr/>
        </p:nvSpPr>
        <p:spPr>
          <a:xfrm>
            <a:off x="10607040" y="182880"/>
            <a:ext cx="1280160" cy="640080"/>
          </a:xfrm>
          <a:prstGeom prst="rect">
            <a:avLst/>
          </a:prstGeom>
          <a:noFill/>
        </p:spPr>
        <p:txBody>
          <a:bodyPr wrap="square" anchor="ctr" lIns="25400" rIns="25400" tIns="25400" bIns="25400">
            <a:spAutoFit/>
          </a:bodyPr>
          <a:lstStyle/>
          <a:p>
            <a:pPr algn="r"/>
            <a:r>
              <a:rPr sz="3000" b="1" i="0">
                <a:solidFill>
                  <a:srgbClr val="EAD9D4"/>
                </a:solidFill>
                <a:latin typeface="Arial"/>
                <a:ea typeface="Arial"/>
              </a:rPr>
              <a:t>05</a:t>
            </a:r>
          </a:p>
        </p:txBody>
      </p:sp>
      <p:sp>
        <p:nvSpPr>
          <p:cNvPr id="7" name="Rectangle 6"/>
          <p:cNvSpPr/>
          <p:nvPr/>
        </p:nvSpPr>
        <p:spPr>
          <a:xfrm>
            <a:off x="502920" y="868680"/>
            <a:ext cx="11155680" cy="25400"/>
          </a:xfrm>
          <a:prstGeom prst="rect">
            <a:avLst/>
          </a:prstGeom>
          <a:solidFill>
            <a:srgbClr val="DD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15568"/>
            <a:ext cx="11155680" cy="457200"/>
          </a:xfrm>
          <a:prstGeom prst="rect">
            <a:avLst/>
          </a:prstGeom>
          <a:noFill/>
        </p:spPr>
        <p:txBody>
          <a:bodyPr wrap="square" anchor="t" lIns="25400" rIns="25400" tIns="25400" bIns="25400">
            <a:spAutoFit/>
          </a:bodyPr>
          <a:lstStyle/>
          <a:p>
            <a:pPr algn="l">
              <a:lnSpc>
                <a:spcPct val="125000"/>
              </a:lnSpc>
            </a:pPr>
            <a:r>
              <a:rPr sz="1300" b="0" i="0">
                <a:solidFill>
                  <a:srgbClr val="262626"/>
                </a:solidFill>
                <a:latin typeface="微软雅黑"/>
                <a:ea typeface="微软雅黑"/>
              </a:rPr>
              <a:t>跳出个案，赵一鸣的成长路径对量贩零食及连锁加盟企业具有可复制的普适借鉴价值。</a:t>
            </a:r>
          </a:p>
        </p:txBody>
      </p:sp>
      <p:sp>
        <p:nvSpPr>
          <p:cNvPr id="9" name="Rectangle 8"/>
          <p:cNvSpPr/>
          <p:nvPr/>
        </p:nvSpPr>
        <p:spPr>
          <a:xfrm>
            <a:off x="502920" y="1783080"/>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3657600" cy="457200"/>
          </a:xfrm>
          <a:prstGeom prst="rect">
            <a:avLst/>
          </a:prstGeom>
          <a:solidFill>
            <a:srgbClr val="2E8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83080"/>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供应链即护城河</a:t>
            </a:r>
          </a:p>
        </p:txBody>
      </p:sp>
      <p:sp>
        <p:nvSpPr>
          <p:cNvPr id="12" name="TextBox 11"/>
          <p:cNvSpPr txBox="1"/>
          <p:nvPr/>
        </p:nvSpPr>
        <p:spPr>
          <a:xfrm>
            <a:off x="685800" y="2331720"/>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2E8B76"/>
                </a:solidFill>
                <a:latin typeface="微软雅黑"/>
                <a:ea typeface="微软雅黑"/>
              </a:rPr>
              <a:t>源头直采、去经销商化是低价模式的根基。</a:t>
            </a:r>
          </a:p>
          <a:p>
            <a:pPr algn="l">
              <a:lnSpc>
                <a:spcPct val="122000"/>
              </a:lnSpc>
            </a:pPr>
            <a:r>
              <a:rPr sz="1150" b="0" i="0">
                <a:solidFill>
                  <a:srgbClr val="262626"/>
                </a:solidFill>
                <a:latin typeface="微软雅黑"/>
                <a:ea typeface="微软雅黑"/>
              </a:rPr>
              <a:t>成本领先企业应把供应链整合(直采、定制、仓配网络)作为核心能力，而非单纯压价。</a:t>
            </a:r>
          </a:p>
        </p:txBody>
      </p:sp>
      <p:sp>
        <p:nvSpPr>
          <p:cNvPr id="13" name="Rectangle 12"/>
          <p:cNvSpPr/>
          <p:nvPr/>
        </p:nvSpPr>
        <p:spPr>
          <a:xfrm>
            <a:off x="4251959" y="1783080"/>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59" y="1783080"/>
            <a:ext cx="36576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783080"/>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规模 × 数字化</a:t>
            </a:r>
          </a:p>
        </p:txBody>
      </p:sp>
      <p:sp>
        <p:nvSpPr>
          <p:cNvPr id="16" name="TextBox 15"/>
          <p:cNvSpPr txBox="1"/>
          <p:nvPr/>
        </p:nvSpPr>
        <p:spPr>
          <a:xfrm>
            <a:off x="4434840" y="2331720"/>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2C5F8A"/>
                </a:solidFill>
                <a:latin typeface="微软雅黑"/>
                <a:ea typeface="微软雅黑"/>
              </a:rPr>
              <a:t>用数字化(WMS/TMS/ERP、智能选品)放大规模优势。</a:t>
            </a:r>
          </a:p>
          <a:p>
            <a:pPr algn="l">
              <a:lnSpc>
                <a:spcPct val="122000"/>
              </a:lnSpc>
            </a:pPr>
            <a:r>
              <a:rPr sz="1150" b="0" i="0">
                <a:solidFill>
                  <a:srgbClr val="262626"/>
                </a:solidFill>
                <a:latin typeface="微软雅黑"/>
                <a:ea typeface="微软雅黑"/>
              </a:rPr>
              <a:t>连锁扩张须以数字化中台支撑，实现库存、选品、补货精细化，避免规模不经济。</a:t>
            </a:r>
          </a:p>
        </p:txBody>
      </p:sp>
      <p:sp>
        <p:nvSpPr>
          <p:cNvPr id="17" name="Rectangle 16"/>
          <p:cNvSpPr/>
          <p:nvPr/>
        </p:nvSpPr>
        <p:spPr>
          <a:xfrm>
            <a:off x="8001000" y="1783080"/>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783080"/>
            <a:ext cx="3657600" cy="457200"/>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783080"/>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加盟商共赢</a:t>
            </a:r>
          </a:p>
        </p:txBody>
      </p:sp>
      <p:sp>
        <p:nvSpPr>
          <p:cNvPr id="20" name="TextBox 19"/>
          <p:cNvSpPr txBox="1"/>
          <p:nvPr/>
        </p:nvSpPr>
        <p:spPr>
          <a:xfrm>
            <a:off x="8183879" y="2331720"/>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F29900"/>
                </a:solidFill>
                <a:latin typeface="微软雅黑"/>
                <a:ea typeface="微软雅黑"/>
              </a:rPr>
              <a:t>「帮加盟商赚钱」是加盟网络可持续的前提。</a:t>
            </a:r>
          </a:p>
          <a:p>
            <a:pPr algn="l">
              <a:lnSpc>
                <a:spcPct val="122000"/>
              </a:lnSpc>
            </a:pPr>
            <a:r>
              <a:rPr sz="1150" b="0" i="0">
                <a:solidFill>
                  <a:srgbClr val="262626"/>
                </a:solidFill>
                <a:latin typeface="微软雅黑"/>
                <a:ea typeface="微软雅黑"/>
              </a:rPr>
              <a:t>标准化培训 + 单店盈利模型 + 食安管控，是加盟连锁稳定与口碑的关键。</a:t>
            </a:r>
          </a:p>
        </p:txBody>
      </p:sp>
      <p:sp>
        <p:nvSpPr>
          <p:cNvPr id="21" name="Rectangle 20"/>
          <p:cNvSpPr/>
          <p:nvPr/>
        </p:nvSpPr>
        <p:spPr>
          <a:xfrm>
            <a:off x="502920" y="4096512"/>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096512"/>
            <a:ext cx="3657600" cy="457200"/>
          </a:xfrm>
          <a:prstGeom prst="rect">
            <a:avLst/>
          </a:prstGeom>
          <a:solidFill>
            <a:srgbClr val="E37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96512"/>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区域错位竞争</a:t>
            </a:r>
          </a:p>
        </p:txBody>
      </p:sp>
      <p:sp>
        <p:nvSpPr>
          <p:cNvPr id="24" name="TextBox 23"/>
          <p:cNvSpPr txBox="1"/>
          <p:nvPr/>
        </p:nvSpPr>
        <p:spPr>
          <a:xfrm>
            <a:off x="685800" y="4645152"/>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E37E1B"/>
                </a:solidFill>
                <a:latin typeface="微软雅黑"/>
                <a:ea typeface="微软雅黑"/>
              </a:rPr>
              <a:t>双品牌南北/东西错位，减少内耗。</a:t>
            </a:r>
          </a:p>
          <a:p>
            <a:pPr algn="l">
              <a:lnSpc>
                <a:spcPct val="122000"/>
              </a:lnSpc>
            </a:pPr>
            <a:r>
              <a:rPr sz="1150" b="0" i="0">
                <a:solidFill>
                  <a:srgbClr val="262626"/>
                </a:solidFill>
                <a:latin typeface="微软雅黑"/>
                <a:ea typeface="微软雅黑"/>
              </a:rPr>
              <a:t>在红海赛道，差异化定位与区域聚焦比正面价格战更能构筑壁垒。</a:t>
            </a:r>
          </a:p>
        </p:txBody>
      </p:sp>
      <p:sp>
        <p:nvSpPr>
          <p:cNvPr id="25" name="Rectangle 24"/>
          <p:cNvSpPr/>
          <p:nvPr/>
        </p:nvSpPr>
        <p:spPr>
          <a:xfrm>
            <a:off x="4251959" y="4096512"/>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59" y="4096512"/>
            <a:ext cx="365760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4096512"/>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BSC 落地战略</a:t>
            </a:r>
          </a:p>
        </p:txBody>
      </p:sp>
      <p:sp>
        <p:nvSpPr>
          <p:cNvPr id="28" name="TextBox 27"/>
          <p:cNvSpPr txBox="1"/>
          <p:nvPr/>
        </p:nvSpPr>
        <p:spPr>
          <a:xfrm>
            <a:off x="4434840" y="4645152"/>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C01A22"/>
                </a:solidFill>
                <a:latin typeface="微软雅黑"/>
                <a:ea typeface="微软雅黑"/>
              </a:rPr>
              <a:t>用平衡计分卡把战略转化为可衡量、可追踪的目标。</a:t>
            </a:r>
          </a:p>
          <a:p>
            <a:pPr algn="l">
              <a:lnSpc>
                <a:spcPct val="122000"/>
              </a:lnSpc>
            </a:pPr>
            <a:r>
              <a:rPr sz="1150" b="0" i="0">
                <a:solidFill>
                  <a:srgbClr val="262626"/>
                </a:solidFill>
                <a:latin typeface="微软雅黑"/>
                <a:ea typeface="微软雅黑"/>
              </a:rPr>
              <a:t>目标应分层、设过程指标，强化「能力→流程→客户→财务」因果传导，闭环管理。</a:t>
            </a:r>
          </a:p>
        </p:txBody>
      </p:sp>
      <p:sp>
        <p:nvSpPr>
          <p:cNvPr id="29" name="Rectangle 28"/>
          <p:cNvSpPr/>
          <p:nvPr/>
        </p:nvSpPr>
        <p:spPr>
          <a:xfrm>
            <a:off x="8001000" y="4096512"/>
            <a:ext cx="3657600" cy="2148840"/>
          </a:xfrm>
          <a:prstGeom prst="rect">
            <a:avLst/>
          </a:prstGeom>
          <a:solidFill>
            <a:srgbClr val="FFFFFF"/>
          </a:solidFill>
          <a:ln w="12700">
            <a:solidFill>
              <a:srgbClr val="DDD5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01000" y="4096512"/>
            <a:ext cx="3657600" cy="4572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0" y="4096512"/>
            <a:ext cx="3383280" cy="457200"/>
          </a:xfrm>
          <a:prstGeom prst="rect">
            <a:avLst/>
          </a:prstGeom>
          <a:noFill/>
        </p:spPr>
        <p:txBody>
          <a:bodyPr wrap="square" anchor="ctr" lIns="25400" rIns="25400" tIns="25400" bIns="25400">
            <a:spAutoFit/>
          </a:bodyPr>
          <a:lstStyle/>
          <a:p>
            <a:pPr algn="l"/>
            <a:r>
              <a:rPr sz="1400" b="1" i="0">
                <a:solidFill>
                  <a:srgbClr val="FFFFFF"/>
                </a:solidFill>
                <a:latin typeface="微软雅黑"/>
                <a:ea typeface="微软雅黑"/>
              </a:rPr>
              <a:t>第二增长曲线</a:t>
            </a:r>
          </a:p>
        </p:txBody>
      </p:sp>
      <p:sp>
        <p:nvSpPr>
          <p:cNvPr id="32" name="TextBox 31"/>
          <p:cNvSpPr txBox="1"/>
          <p:nvPr/>
        </p:nvSpPr>
        <p:spPr>
          <a:xfrm>
            <a:off x="8183879" y="4645152"/>
            <a:ext cx="3291840" cy="1508760"/>
          </a:xfrm>
          <a:prstGeom prst="rect">
            <a:avLst/>
          </a:prstGeom>
          <a:noFill/>
        </p:spPr>
        <p:txBody>
          <a:bodyPr wrap="square" anchor="t" lIns="25400" rIns="25400" tIns="25400" bIns="25400">
            <a:spAutoFit/>
          </a:bodyPr>
          <a:lstStyle/>
          <a:p>
            <a:pPr algn="l">
              <a:lnSpc>
                <a:spcPct val="115000"/>
              </a:lnSpc>
              <a:spcAft>
                <a:spcPts val="600"/>
              </a:spcAft>
            </a:pPr>
            <a:r>
              <a:rPr sz="1200" b="1" i="0">
                <a:solidFill>
                  <a:srgbClr val="C01A22"/>
                </a:solidFill>
                <a:latin typeface="微软雅黑"/>
                <a:ea typeface="微软雅黑"/>
              </a:rPr>
              <a:t>在巩固核心的同时布局健康化/功能化新业态。</a:t>
            </a:r>
          </a:p>
          <a:p>
            <a:pPr algn="l">
              <a:lnSpc>
                <a:spcPct val="122000"/>
              </a:lnSpc>
            </a:pPr>
            <a:r>
              <a:rPr sz="1150" b="0" i="0">
                <a:solidFill>
                  <a:srgbClr val="262626"/>
                </a:solidFill>
                <a:latin typeface="微软雅黑"/>
                <a:ea typeface="微软雅黑"/>
              </a:rPr>
              <a:t>成熟期企业需提前培育创新业态(如新鲜零食)，对冲主业增速放缓风险。</a:t>
            </a:r>
          </a:p>
        </p:txBody>
      </p:sp>
      <p:sp>
        <p:nvSpPr>
          <p:cNvPr id="33" name="TextBox 32"/>
          <p:cNvSpPr txBox="1"/>
          <p:nvPr/>
        </p:nvSpPr>
        <p:spPr>
          <a:xfrm>
            <a:off x="502920" y="6446520"/>
            <a:ext cx="7315200" cy="320040"/>
          </a:xfrm>
          <a:prstGeom prst="rect">
            <a:avLst/>
          </a:prstGeom>
          <a:noFill/>
        </p:spPr>
        <p:txBody>
          <a:bodyPr wrap="square" anchor="t" lIns="25400" rIns="25400" tIns="25400" bIns="25400">
            <a:spAutoFit/>
          </a:bodyPr>
          <a:lstStyle/>
          <a:p>
            <a:pPr algn="l"/>
            <a:r>
              <a:rPr sz="900" b="0" i="0">
                <a:solidFill>
                  <a:srgbClr val="666666"/>
                </a:solidFill>
                <a:latin typeface="微软雅黑"/>
                <a:ea typeface="微软雅黑"/>
              </a:rPr>
              <a:t>案例分析 · 赵一鸣零食战略地图与平衡计分卡</a:t>
            </a:r>
          </a:p>
        </p:txBody>
      </p:sp>
      <p:sp>
        <p:nvSpPr>
          <p:cNvPr id="34" name="TextBox 33"/>
          <p:cNvSpPr txBox="1"/>
          <p:nvPr/>
        </p:nvSpPr>
        <p:spPr>
          <a:xfrm>
            <a:off x="10515600" y="6446520"/>
            <a:ext cx="1188720" cy="320040"/>
          </a:xfrm>
          <a:prstGeom prst="rect">
            <a:avLst/>
          </a:prstGeom>
          <a:noFill/>
        </p:spPr>
        <p:txBody>
          <a:bodyPr wrap="square" anchor="t" lIns="25400" rIns="25400" tIns="25400" bIns="25400">
            <a:spAutoFit/>
          </a:bodyPr>
          <a:lstStyle/>
          <a:p>
            <a:pPr algn="r"/>
            <a:r>
              <a:rPr sz="900" b="0" i="0">
                <a:solidFill>
                  <a:srgbClr val="666666"/>
                </a:solidFill>
                <a:latin typeface="微软雅黑"/>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1554480"/>
          </a:xfrm>
          <a:prstGeom prst="rect">
            <a:avLst/>
          </a:prstGeom>
          <a:solidFill>
            <a:srgbClr val="8C1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331720"/>
            <a:ext cx="12191695" cy="1097280"/>
          </a:xfrm>
          <a:prstGeom prst="rect">
            <a:avLst/>
          </a:prstGeom>
          <a:noFill/>
        </p:spPr>
        <p:txBody>
          <a:bodyPr wrap="square" anchor="t" lIns="25400" rIns="25400" tIns="25400" bIns="25400">
            <a:spAutoFit/>
          </a:bodyPr>
          <a:lstStyle/>
          <a:p>
            <a:pPr algn="ctr"/>
            <a:r>
              <a:rPr sz="5400" b="1" i="0">
                <a:solidFill>
                  <a:srgbClr val="FFFFFF"/>
                </a:solidFill>
                <a:latin typeface="微软雅黑"/>
                <a:ea typeface="微软雅黑"/>
              </a:rPr>
              <a:t>感 谢 聆 听</a:t>
            </a:r>
          </a:p>
        </p:txBody>
      </p:sp>
      <p:sp>
        <p:nvSpPr>
          <p:cNvPr id="5" name="TextBox 4"/>
          <p:cNvSpPr txBox="1"/>
          <p:nvPr/>
        </p:nvSpPr>
        <p:spPr>
          <a:xfrm>
            <a:off x="0" y="3520440"/>
            <a:ext cx="12191695" cy="548640"/>
          </a:xfrm>
          <a:prstGeom prst="rect">
            <a:avLst/>
          </a:prstGeom>
          <a:noFill/>
        </p:spPr>
        <p:txBody>
          <a:bodyPr wrap="square" anchor="t" lIns="25400" rIns="25400" tIns="25400" bIns="25400">
            <a:spAutoFit/>
          </a:bodyPr>
          <a:lstStyle/>
          <a:p>
            <a:pPr algn="ctr"/>
            <a:r>
              <a:rPr sz="1800" b="0" i="0">
                <a:solidFill>
                  <a:srgbClr val="F3CFC9"/>
                </a:solidFill>
                <a:latin typeface="Arial"/>
                <a:ea typeface="Arial"/>
              </a:rPr>
              <a:t>THANKS  ·  欢迎点评与讨论</a:t>
            </a:r>
          </a:p>
        </p:txBody>
      </p:sp>
      <p:sp>
        <p:nvSpPr>
          <p:cNvPr id="6" name="TextBox 5"/>
          <p:cNvSpPr txBox="1"/>
          <p:nvPr/>
        </p:nvSpPr>
        <p:spPr>
          <a:xfrm>
            <a:off x="0" y="4572000"/>
            <a:ext cx="12191695" cy="457200"/>
          </a:xfrm>
          <a:prstGeom prst="rect">
            <a:avLst/>
          </a:prstGeom>
          <a:noFill/>
        </p:spPr>
        <p:txBody>
          <a:bodyPr wrap="square" anchor="t" lIns="25400" rIns="25400" tIns="25400" bIns="25400">
            <a:spAutoFit/>
          </a:bodyPr>
          <a:lstStyle/>
          <a:p>
            <a:pPr algn="ctr"/>
            <a:r>
              <a:rPr sz="1400" b="0" i="0">
                <a:solidFill>
                  <a:srgbClr val="F7E3DF"/>
                </a:solidFill>
                <a:latin typeface="微软雅黑"/>
                <a:ea typeface="微软雅黑"/>
              </a:rPr>
              <a:t>深入洞察战略蓝图，共绘零食行业新未来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