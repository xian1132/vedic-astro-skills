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8C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6350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800" b="0" i="0">
                <a:solidFill>
                  <a:srgbClr val="F3CFC9"/>
                </a:solidFill>
                <a:latin typeface="微软雅黑"/>
                <a:ea typeface="微软雅黑"/>
              </a:rPr>
              <a:t>管理会计 / 战略管理 · 案例分析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607040" cy="1645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微软雅黑"/>
                <a:ea typeface="微软雅黑"/>
              </a:rPr>
              <a:t>赵一鸣零食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46120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微软雅黑"/>
                <a:ea typeface="微软雅黑"/>
              </a:rPr>
              <a:t>战略地图与战略执行分析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3CFC9"/>
                </a:solidFill>
                <a:latin typeface="微软雅黑"/>
                <a:ea typeface="微软雅黑"/>
              </a:rPr>
              <a:t>——基于平衡计分卡（BSC）的四维度视角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83480"/>
            <a:ext cx="1060704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00" b="0" i="0">
                <a:solidFill>
                  <a:srgbClr val="F0C8C2"/>
                </a:solidFill>
                <a:latin typeface="微软雅黑"/>
                <a:ea typeface="微软雅黑"/>
              </a:rPr>
              <a:t>汇报小组：</a:t>
            </a:r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第 X 组（5 人）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F0C8C2"/>
                </a:solidFill>
                <a:latin typeface="微软雅黑"/>
                <a:ea typeface="微软雅黑"/>
              </a:rPr>
              <a:t>分析框架：</a:t>
            </a:r>
            <a:r>
              <a:rPr sz="1400" b="0" i="0">
                <a:solidFill>
                  <a:srgbClr val="FFFFFF"/>
                </a:solidFill>
                <a:latin typeface="微软雅黑"/>
                <a:ea typeface="微软雅黑"/>
              </a:rPr>
              <a:t>PEST · 波特五力 · SWOT · 战略地图 · BSC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822960" cy="6350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310896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200" b="1" i="0">
                <a:solidFill>
                  <a:srgbClr val="F0C8C2"/>
                </a:solidFill>
                <a:latin typeface="Arial"/>
                <a:ea typeface="Arial"/>
              </a:rPr>
              <a:t>CONTENTS</a:t>
            </a:r>
          </a:p>
          <a:p>
            <a:pPr algn="l">
              <a:spcBef>
                <a:spcPts val="600"/>
              </a:spcBef>
            </a:pPr>
            <a:r>
              <a:rPr sz="4000" b="1" i="0">
                <a:solidFill>
                  <a:srgbClr val="FFFFFF"/>
                </a:solidFill>
                <a:latin typeface="微软雅黑"/>
                <a:ea typeface="微软雅黑"/>
              </a:rPr>
              <a:t>目  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960120"/>
            <a:ext cx="91440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3400" b="1" i="0">
                <a:solidFill>
                  <a:srgbClr val="C01A22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960120"/>
            <a:ext cx="621792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100" b="1" i="0">
                <a:solidFill>
                  <a:srgbClr val="262626"/>
                </a:solidFill>
                <a:latin typeface="微软雅黑"/>
                <a:ea typeface="微软雅黑"/>
              </a:rPr>
              <a:t>案例介绍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666666"/>
                </a:solidFill>
                <a:latin typeface="微软雅黑"/>
                <a:ea typeface="微软雅黑"/>
              </a:rPr>
              <a:t>企业背景 · 发展历程 · 商业模式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892808"/>
            <a:ext cx="7040880" cy="127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011680"/>
            <a:ext cx="91440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3400" b="1" i="0">
                <a:solidFill>
                  <a:srgbClr val="C01A22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011680"/>
            <a:ext cx="621792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100" b="1" i="0">
                <a:solidFill>
                  <a:srgbClr val="262626"/>
                </a:solidFill>
                <a:latin typeface="微软雅黑"/>
                <a:ea typeface="微软雅黑"/>
              </a:rPr>
              <a:t>竞争战略分析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666666"/>
                </a:solidFill>
                <a:latin typeface="微软雅黑"/>
                <a:ea typeface="微软雅黑"/>
              </a:rPr>
              <a:t>PEST · 波特五力模型 · SWOT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944368"/>
            <a:ext cx="7040880" cy="127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063240"/>
            <a:ext cx="91440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3400" b="1" i="0">
                <a:solidFill>
                  <a:srgbClr val="C01A22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063240"/>
            <a:ext cx="621792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100" b="1" i="0">
                <a:solidFill>
                  <a:srgbClr val="262626"/>
                </a:solidFill>
                <a:latin typeface="微软雅黑"/>
                <a:ea typeface="微软雅黑"/>
              </a:rPr>
              <a:t>战略类型与战略推导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666666"/>
                </a:solidFill>
                <a:latin typeface="微软雅黑"/>
                <a:ea typeface="微软雅黑"/>
              </a:rPr>
              <a:t>总体战略 · 三大战略主轴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3995928"/>
            <a:ext cx="7040880" cy="127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114800"/>
            <a:ext cx="91440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3400" b="1" i="0">
                <a:solidFill>
                  <a:srgbClr val="C01A22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114800"/>
            <a:ext cx="621792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100" b="1" i="0">
                <a:solidFill>
                  <a:srgbClr val="262626"/>
                </a:solidFill>
                <a:latin typeface="微软雅黑"/>
                <a:ea typeface="微软雅黑"/>
              </a:rPr>
              <a:t>战略地图（BSC 四维度）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666666"/>
                </a:solidFill>
                <a:latin typeface="微软雅黑"/>
                <a:ea typeface="微软雅黑"/>
              </a:rPr>
              <a:t>财务 · 客户 · 内部流程 · 学习成长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5047488"/>
            <a:ext cx="7040880" cy="127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5166360"/>
            <a:ext cx="91440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3400" b="1" i="0">
                <a:solidFill>
                  <a:srgbClr val="C01A22"/>
                </a:solidFill>
                <a:latin typeface="Arial"/>
                <a:ea typeface="Arial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5166360"/>
            <a:ext cx="621792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100" b="1" i="0">
                <a:solidFill>
                  <a:srgbClr val="262626"/>
                </a:solidFill>
                <a:latin typeface="微软雅黑"/>
                <a:ea typeface="微软雅黑"/>
              </a:rPr>
              <a:t>分析与讨论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666666"/>
                </a:solidFill>
                <a:latin typeface="微软雅黑"/>
                <a:ea typeface="微软雅黑"/>
              </a:rPr>
              <a:t>战略执行评价 · 偏差原因分析 · 启示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6099048"/>
            <a:ext cx="7040880" cy="127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8C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4864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600" b="1" i="0">
                <a:solidFill>
                  <a:srgbClr val="E06A60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788920"/>
            <a:ext cx="731520" cy="6350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058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</a:rPr>
              <a:t>案例介绍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233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0" i="0">
                <a:solidFill>
                  <a:srgbClr val="F0C8C2"/>
                </a:solidFill>
                <a:latin typeface="Arial"/>
                <a:ea typeface="Arial"/>
              </a:rPr>
              <a:t>Company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7091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0" i="0">
                <a:solidFill>
                  <a:srgbClr val="F7E3DF"/>
                </a:solidFill>
                <a:latin typeface="微软雅黑"/>
                <a:ea typeface="微软雅黑"/>
              </a:rPr>
              <a:t>企业背景 · 创始人故事 · 股权结构 · 商业模式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38404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6032"/>
            <a:ext cx="8686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500" b="1" i="0">
                <a:solidFill>
                  <a:srgbClr val="262626"/>
                </a:solidFill>
                <a:latin typeface="微软雅黑"/>
                <a:ea typeface="微软雅黑"/>
              </a:rPr>
              <a:t>企业简介：从宜春炒货店到全国零食量贩龙头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82880"/>
            <a:ext cx="12801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 i="0">
                <a:solidFill>
                  <a:srgbClr val="EAD9D4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68680"/>
            <a:ext cx="11155680" cy="254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5852160" cy="3657600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34440"/>
            <a:ext cx="91440" cy="365760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17320"/>
            <a:ext cx="5394960" cy="3383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C01A22"/>
                </a:solidFill>
                <a:latin typeface="微软雅黑"/>
                <a:ea typeface="微软雅黑"/>
              </a:rPr>
              <a:t>品牌定位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诞生于江西宜春的量贩零食连锁品牌，以「不玩套路真便宜，超值超省超好吃」为核心价值主张。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C01A22"/>
                </a:solidFill>
                <a:latin typeface="微软雅黑"/>
                <a:ea typeface="微软雅黑"/>
              </a:rPr>
              <a:t>规模现状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精选 2000+ 种特色零食，月月上新 100+ 新品；全国门店数量已突破 5000 家，是炙手可热的量贩零食头部品牌。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C01A22"/>
                </a:solidFill>
                <a:latin typeface="微软雅黑"/>
                <a:ea typeface="微软雅黑"/>
              </a:rPr>
              <a:t>集团归属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现为「鸣鸣很忙集团」核心品牌（与「零食很忙」并列），集团 2024 年营收 163.28 亿元，2025 年已推进上市，赵一鸣为集团第一大收入贡献品牌（约 58.4%）。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1234440"/>
            <a:ext cx="5074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0" y="1234440"/>
            <a:ext cx="91440" cy="109728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1344168"/>
            <a:ext cx="4754880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29900"/>
                </a:solidFill>
                <a:latin typeface="微软雅黑"/>
                <a:ea typeface="微软雅黑"/>
              </a:rPr>
              <a:t>企业使命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帮消费者省钱 · 帮加盟商赚钱 · 帮员工更值钱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514600"/>
            <a:ext cx="5074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2514600"/>
            <a:ext cx="91440" cy="1097280"/>
          </a:xfrm>
          <a:prstGeom prst="rect">
            <a:avLst/>
          </a:prstGeom>
          <a:solidFill>
            <a:srgbClr val="2E8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2624328"/>
            <a:ext cx="4754880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E8B76"/>
                </a:solidFill>
                <a:latin typeface="微软雅黑"/>
                <a:ea typeface="微软雅黑"/>
              </a:rPr>
              <a:t>企业价值观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分享一鸣 · 信任共鸣 · 感恩和鸣 · 创造争鸣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794760"/>
            <a:ext cx="5074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794760"/>
            <a:ext cx="91440" cy="10972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3904488"/>
            <a:ext cx="4754880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C5F8A"/>
                </a:solidFill>
                <a:latin typeface="微软雅黑"/>
                <a:ea typeface="微软雅黑"/>
              </a:rPr>
              <a:t>目标客群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三四线及下沉市场家庭、年轻群体；主打社区便民消费场景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38404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6032"/>
            <a:ext cx="8686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500" b="1" i="0">
                <a:solidFill>
                  <a:srgbClr val="262626"/>
                </a:solidFill>
                <a:latin typeface="微软雅黑"/>
                <a:ea typeface="微软雅黑"/>
              </a:rPr>
              <a:t>创始人故事与发展历程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82880"/>
            <a:ext cx="12801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 i="0">
                <a:solidFill>
                  <a:srgbClr val="EAD9D4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68680"/>
            <a:ext cx="11155680" cy="254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115568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C01A22"/>
                </a:solidFill>
                <a:latin typeface="微软雅黑"/>
                <a:ea typeface="微软雅黑"/>
              </a:rPr>
              <a:t>创始人赵定（1989年生，江西宜春人）：</a:t>
            </a: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</a:rPr>
              <a:t>高中辍学赴沪追逐摄影梦，两度受挫后回乡深耕零食。以儿子「赵一鸣」命名品牌，寓意像对待儿子一样经营品牌；以蜜雪冰城为榜样开启「狂飙」扩张，成为量贩零食圈黑马。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160520"/>
            <a:ext cx="10424160" cy="3810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56232" y="4096511"/>
            <a:ext cx="201168" cy="201168"/>
          </a:xfrm>
          <a:prstGeom prst="ellipse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46120"/>
            <a:ext cx="1901952" cy="6400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ctr"/>
            <a:r>
              <a:rPr sz="2200" b="1" i="0">
                <a:solidFill>
                  <a:srgbClr val="C01A22"/>
                </a:solidFill>
                <a:latin typeface="Arial"/>
                <a:ea typeface="Arial"/>
              </a:rPr>
              <a:t>2008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4572000"/>
            <a:ext cx="1810512" cy="1691640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663440"/>
            <a:ext cx="1627632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262626"/>
                </a:solidFill>
                <a:latin typeface="微软雅黑"/>
                <a:ea typeface="微软雅黑"/>
              </a:rPr>
              <a:t>返乡创业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微软雅黑"/>
                <a:ea typeface="微软雅黑"/>
              </a:rPr>
              <a:t>回到宜春从事炒货生意，开出第一家炒货零食店，赚得第一桶金</a:t>
            </a:r>
          </a:p>
        </p:txBody>
      </p:sp>
      <p:sp>
        <p:nvSpPr>
          <p:cNvPr id="14" name="Oval 13"/>
          <p:cNvSpPr/>
          <p:nvPr/>
        </p:nvSpPr>
        <p:spPr>
          <a:xfrm>
            <a:off x="3941063" y="4096511"/>
            <a:ext cx="201168" cy="201168"/>
          </a:xfrm>
          <a:prstGeom prst="ellipse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90672" y="3246120"/>
            <a:ext cx="1901952" cy="6400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ctr"/>
            <a:r>
              <a:rPr sz="2200" b="1" i="0">
                <a:solidFill>
                  <a:srgbClr val="C01A22"/>
                </a:solidFill>
                <a:latin typeface="Arial"/>
                <a:ea typeface="Arial"/>
              </a:rPr>
              <a:t>2019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36391" y="4572000"/>
            <a:ext cx="1810512" cy="1691640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27832" y="4663440"/>
            <a:ext cx="1627632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262626"/>
                </a:solidFill>
                <a:latin typeface="微软雅黑"/>
                <a:ea typeface="微软雅黑"/>
              </a:rPr>
              <a:t>品牌创立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微软雅黑"/>
                <a:ea typeface="微软雅黑"/>
              </a:rPr>
              <a:t>首家直营店落地，正式推出「赵一鸣」品牌，开启量贩零食连锁化</a:t>
            </a:r>
          </a:p>
        </p:txBody>
      </p:sp>
      <p:sp>
        <p:nvSpPr>
          <p:cNvPr id="18" name="Oval 17"/>
          <p:cNvSpPr/>
          <p:nvPr/>
        </p:nvSpPr>
        <p:spPr>
          <a:xfrm>
            <a:off x="6025896" y="4096511"/>
            <a:ext cx="201168" cy="201168"/>
          </a:xfrm>
          <a:prstGeom prst="ellipse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75504" y="3246120"/>
            <a:ext cx="1901952" cy="6400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ctr"/>
            <a:r>
              <a:rPr sz="2200" b="1" i="0">
                <a:solidFill>
                  <a:srgbClr val="C01A22"/>
                </a:solidFill>
                <a:latin typeface="Arial"/>
                <a:ea typeface="Arial"/>
              </a:rPr>
              <a:t>2023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21224" y="4572000"/>
            <a:ext cx="1810512" cy="1691640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2664" y="4663440"/>
            <a:ext cx="1627632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262626"/>
                </a:solidFill>
                <a:latin typeface="微软雅黑"/>
                <a:ea typeface="微软雅黑"/>
              </a:rPr>
              <a:t>并入集团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微软雅黑"/>
                <a:ea typeface="微软雅黑"/>
              </a:rPr>
              <a:t>与「零食很忙」合并组建鸣鸣很忙集团，毛利率由 5.6%→9.7%</a:t>
            </a:r>
          </a:p>
        </p:txBody>
      </p:sp>
      <p:sp>
        <p:nvSpPr>
          <p:cNvPr id="22" name="Oval 21"/>
          <p:cNvSpPr/>
          <p:nvPr/>
        </p:nvSpPr>
        <p:spPr>
          <a:xfrm>
            <a:off x="8110728" y="4096511"/>
            <a:ext cx="201168" cy="201168"/>
          </a:xfrm>
          <a:prstGeom prst="ellipse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0336" y="3246120"/>
            <a:ext cx="1901952" cy="6400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ctr"/>
            <a:r>
              <a:rPr sz="2200" b="1" i="0">
                <a:solidFill>
                  <a:srgbClr val="C01A22"/>
                </a:solidFill>
                <a:latin typeface="Arial"/>
                <a:ea typeface="Arial"/>
              </a:rPr>
              <a:t>2024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06056" y="4572000"/>
            <a:ext cx="1810512" cy="1691640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97496" y="4663440"/>
            <a:ext cx="1627632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262626"/>
                </a:solidFill>
                <a:latin typeface="微软雅黑"/>
                <a:ea typeface="微软雅黑"/>
              </a:rPr>
              <a:t>规模登顶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微软雅黑"/>
                <a:ea typeface="微软雅黑"/>
              </a:rPr>
              <a:t>营收 163.28 亿元，门店超 5000 家，成集团第一大收入品牌</a:t>
            </a:r>
          </a:p>
        </p:txBody>
      </p:sp>
      <p:sp>
        <p:nvSpPr>
          <p:cNvPr id="26" name="Oval 25"/>
          <p:cNvSpPr/>
          <p:nvPr/>
        </p:nvSpPr>
        <p:spPr>
          <a:xfrm>
            <a:off x="10195560" y="4096511"/>
            <a:ext cx="201168" cy="201168"/>
          </a:xfrm>
          <a:prstGeom prst="ellipse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3246120"/>
            <a:ext cx="1901952" cy="6400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ctr"/>
            <a:r>
              <a:rPr sz="2200" b="1" i="0">
                <a:solidFill>
                  <a:srgbClr val="C01A22"/>
                </a:solidFill>
                <a:latin typeface="Arial"/>
                <a:ea typeface="Arial"/>
              </a:rPr>
              <a:t>2025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90888" y="4572000"/>
            <a:ext cx="1810512" cy="1691640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82328" y="4663440"/>
            <a:ext cx="1627632" cy="1554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262626"/>
                </a:solidFill>
                <a:latin typeface="微软雅黑"/>
                <a:ea typeface="微软雅黑"/>
              </a:rPr>
              <a:t>上市扩张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微软雅黑"/>
                <a:ea typeface="微软雅黑"/>
              </a:rPr>
              <a:t>集团推进上市，借资本与供应链优势加速全国化、深耕北方市场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38404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6032"/>
            <a:ext cx="8686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500" b="1" i="0">
                <a:solidFill>
                  <a:srgbClr val="262626"/>
                </a:solidFill>
                <a:latin typeface="微软雅黑"/>
                <a:ea typeface="微软雅黑"/>
              </a:rPr>
              <a:t>商业模式：量贩零食「多、快、好、省」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82880"/>
            <a:ext cx="12801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 i="0">
                <a:solidFill>
                  <a:srgbClr val="EAD9D4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68680"/>
            <a:ext cx="11155680" cy="254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26974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2697480" cy="1188720"/>
          </a:xfrm>
          <a:prstGeom prst="rect">
            <a:avLst/>
          </a:prstGeom>
          <a:solidFill>
            <a:srgbClr val="E37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27048"/>
            <a:ext cx="2697480" cy="10058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</a:rPr>
              <a:t>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34640"/>
            <a:ext cx="233172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 i="0">
                <a:solidFill>
                  <a:srgbClr val="E37E1B"/>
                </a:solidFill>
                <a:latin typeface="微软雅黑"/>
                <a:ea typeface="微软雅黑"/>
              </a:rPr>
              <a:t>SKU 丰富</a:t>
            </a:r>
          </a:p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2000+ 种零食，月上新 100+；合作定制 SKU 占比超 34%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417320"/>
            <a:ext cx="26974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1417320"/>
            <a:ext cx="2697480" cy="1188720"/>
          </a:xfrm>
          <a:prstGeom prst="rect">
            <a:avLst/>
          </a:prstGeom>
          <a:solidFill>
            <a:srgbClr val="2E8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1527048"/>
            <a:ext cx="2697480" cy="10058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</a:rPr>
              <a:t>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2152" y="2834640"/>
            <a:ext cx="233172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 i="0">
                <a:solidFill>
                  <a:srgbClr val="2E8B76"/>
                </a:solidFill>
                <a:latin typeface="微软雅黑"/>
                <a:ea typeface="微软雅黑"/>
              </a:rPr>
              <a:t>履约高效</a:t>
            </a:r>
          </a:p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56 个区域仓配中心，核心经济圈 300km 内 24 小时达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417320"/>
            <a:ext cx="26974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4" y="1417320"/>
            <a:ext cx="2697480" cy="11887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5624" y="1527048"/>
            <a:ext cx="2697480" cy="10058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</a:rPr>
              <a:t>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2834640"/>
            <a:ext cx="233172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 i="0">
                <a:solidFill>
                  <a:srgbClr val="2C5F8A"/>
                </a:solidFill>
                <a:latin typeface="微软雅黑"/>
                <a:ea typeface="微软雅黑"/>
              </a:rPr>
              <a:t>体验升级</a:t>
            </a:r>
          </a:p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欢乐舒适的购物体验 + 集团统一 IP 营销（零食音乐节等）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417320"/>
            <a:ext cx="26974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417320"/>
            <a:ext cx="2697480" cy="118872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51976" y="1527048"/>
            <a:ext cx="2697480" cy="10058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</a:rPr>
              <a:t>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4855" y="2834640"/>
            <a:ext cx="233172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 i="0">
                <a:solidFill>
                  <a:srgbClr val="C01A22"/>
                </a:solidFill>
                <a:latin typeface="微软雅黑"/>
                <a:ea typeface="微软雅黑"/>
              </a:rPr>
              <a:t>极致质价比</a:t>
            </a:r>
          </a:p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源头直采去经销商化（92.3%），砍掉中间溢价让利消费者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029200"/>
            <a:ext cx="11155680" cy="1005840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029200"/>
            <a:ext cx="91440" cy="100584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138928"/>
            <a:ext cx="10789920" cy="8229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C01A22"/>
                </a:solidFill>
                <a:latin typeface="微软雅黑"/>
                <a:ea typeface="微软雅黑"/>
              </a:rPr>
              <a:t>盈利逻辑：</a:t>
            </a: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加盟连锁 + 供应链直采。公司向加盟商供货收入（约 18 万/月目标口径）→ 门店 GMV （约 35–40 万/月）；公司层面以「薄毛利、大规模、高周转」取胜，加盟商端毛利 18–20%，自有品牌毛利可达 30–50%。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8C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4864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600" b="1" i="0">
                <a:solidFill>
                  <a:srgbClr val="E06A60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788920"/>
            <a:ext cx="731520" cy="6350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058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</a:rPr>
              <a:t>竞争战略分析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233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0" i="0">
                <a:solidFill>
                  <a:srgbClr val="F0C8C2"/>
                </a:solidFill>
                <a:latin typeface="Arial"/>
                <a:ea typeface="Arial"/>
              </a:rPr>
              <a:t>Competitive Strategy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7091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0" i="0">
                <a:solidFill>
                  <a:srgbClr val="F7E3DF"/>
                </a:solidFill>
                <a:latin typeface="微软雅黑"/>
                <a:ea typeface="微软雅黑"/>
              </a:rPr>
              <a:t>PEST 宏观环境 · 波特五力模型 · SWOT 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38404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6032"/>
            <a:ext cx="8686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500" b="1" i="0">
                <a:solidFill>
                  <a:srgbClr val="262626"/>
                </a:solidFill>
                <a:latin typeface="微软雅黑"/>
                <a:ea typeface="微软雅黑"/>
              </a:rPr>
              <a:t>PEST 宏观环境分析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82880"/>
            <a:ext cx="12801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 i="0">
                <a:solidFill>
                  <a:srgbClr val="EAD9D4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68680"/>
            <a:ext cx="11155680" cy="254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34440"/>
            <a:ext cx="960120" cy="224028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960120" cy="22402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  <a:ea typeface="Arial"/>
              </a:rPr>
              <a:t>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4160520" cy="1965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1A22"/>
                </a:solidFill>
                <a:latin typeface="微软雅黑"/>
                <a:ea typeface="微软雅黑"/>
              </a:rPr>
              <a:t>政治 Political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 i="0">
                <a:solidFill>
                  <a:srgbClr val="C01A22"/>
                </a:solidFill>
                <a:latin typeface="微软雅黑"/>
                <a:ea typeface="微软雅黑"/>
              </a:rPr>
              <a:t>▪ </a:t>
            </a: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契合「县域商业体系建设」与「乡村振兴」战略，下沉市场政策支持力度大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 i="0">
                <a:solidFill>
                  <a:srgbClr val="C01A22"/>
                </a:solidFill>
                <a:latin typeface="微软雅黑"/>
                <a:ea typeface="微软雅黑"/>
              </a:rPr>
              <a:t>▪ </a:t>
            </a: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需在反垄断申报、特许经营合规、食品安全属地监管上与集团保持统一高标准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234440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234440"/>
            <a:ext cx="960120" cy="2240280"/>
          </a:xfrm>
          <a:prstGeom prst="rect">
            <a:avLst/>
          </a:prstGeom>
          <a:solidFill>
            <a:srgbClr val="E37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1234440"/>
            <a:ext cx="960120" cy="22402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  <a:ea typeface="Arial"/>
              </a:rP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42632" y="1371600"/>
            <a:ext cx="4160520" cy="1965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37E1B"/>
                </a:solidFill>
                <a:latin typeface="微软雅黑"/>
                <a:ea typeface="微软雅黑"/>
              </a:rPr>
              <a:t>经济 Economic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 i="0">
                <a:solidFill>
                  <a:srgbClr val="E37E1B"/>
                </a:solidFill>
                <a:latin typeface="微软雅黑"/>
                <a:ea typeface="微软雅黑"/>
              </a:rPr>
              <a:t>▪ </a:t>
            </a: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消费分级，大众追求「质价比」，价格定位精准吸引价格敏感型客群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 i="0">
                <a:solidFill>
                  <a:srgbClr val="E37E1B"/>
                </a:solidFill>
                <a:latin typeface="微软雅黑"/>
                <a:ea typeface="微软雅黑"/>
              </a:rPr>
              <a:t>▪ </a:t>
            </a: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并入集团后毛利率 5.6%→9.7%，盈利能力增强，为独立扩张提供财务基础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611880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11880"/>
            <a:ext cx="960120" cy="2240280"/>
          </a:xfrm>
          <a:prstGeom prst="rect">
            <a:avLst/>
          </a:prstGeom>
          <a:solidFill>
            <a:srgbClr val="2E8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611880"/>
            <a:ext cx="960120" cy="22402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  <a:ea typeface="Arial"/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749040"/>
            <a:ext cx="4160520" cy="1965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76"/>
                </a:solidFill>
                <a:latin typeface="微软雅黑"/>
                <a:ea typeface="微软雅黑"/>
              </a:rPr>
              <a:t>社会 Social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 i="0">
                <a:solidFill>
                  <a:srgbClr val="2E8B76"/>
                </a:solidFill>
                <a:latin typeface="微软雅黑"/>
                <a:ea typeface="微软雅黑"/>
              </a:rPr>
              <a:t>▪ </a:t>
            </a: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年轻客群与家庭客群追求即时性、娱乐化零食消费，「欢乐舒适」体验受青睐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 i="0">
                <a:solidFill>
                  <a:srgbClr val="2E8B76"/>
                </a:solidFill>
                <a:latin typeface="微软雅黑"/>
                <a:ea typeface="微软雅黑"/>
              </a:rPr>
              <a:t>▪ </a:t>
            </a: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华中、华北原优势区域消费者认知深厚，集团统一 IP 营销提升全国知名度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3611880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3611880"/>
            <a:ext cx="960120" cy="22402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9632" y="3611880"/>
            <a:ext cx="960120" cy="22402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  <a:ea typeface="Arial"/>
              </a:rPr>
              <a:t>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2632" y="3749040"/>
            <a:ext cx="4160520" cy="1965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C5F8A"/>
                </a:solidFill>
                <a:latin typeface="微软雅黑"/>
                <a:ea typeface="微软雅黑"/>
              </a:rPr>
              <a:t>技术 Technological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 i="0">
                <a:solidFill>
                  <a:srgbClr val="2C5F8A"/>
                </a:solidFill>
                <a:latin typeface="微软雅黑"/>
                <a:ea typeface="微软雅黑"/>
              </a:rPr>
              <a:t>▪ </a:t>
            </a: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直接复用集团全流程数字化能力（选品/采购/仓储/门店管理），无需重复建设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0" i="0">
                <a:solidFill>
                  <a:srgbClr val="2C5F8A"/>
                </a:solidFill>
                <a:latin typeface="微软雅黑"/>
                <a:ea typeface="微软雅黑"/>
              </a:rPr>
              <a:t>▪ </a:t>
            </a: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库存周转 11.6 天、物流 24 小时达，行业领先，支撑大规模精细化运营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38404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6032"/>
            <a:ext cx="8686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500" b="1" i="0">
                <a:solidFill>
                  <a:srgbClr val="262626"/>
                </a:solidFill>
                <a:latin typeface="微软雅黑"/>
                <a:ea typeface="微软雅黑"/>
              </a:rPr>
              <a:t>波特五力模型：行业竞争结构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82880"/>
            <a:ext cx="12801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 i="0">
                <a:solidFill>
                  <a:srgbClr val="EAD9D4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68680"/>
            <a:ext cx="11155680" cy="254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34840" y="3063239"/>
            <a:ext cx="3108960" cy="128016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3063239"/>
            <a:ext cx="3108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</a:rPr>
              <a:t>现有竞争者</a:t>
            </a:r>
          </a:p>
          <a:p>
            <a:pPr algn="ctr">
              <a:spcBef>
                <a:spcPts val="200"/>
              </a:spcBef>
            </a:pPr>
            <a:r>
              <a:rPr sz="1300" b="1" i="0">
                <a:solidFill>
                  <a:srgbClr val="FFE080"/>
                </a:solidFill>
                <a:latin typeface="微软雅黑"/>
                <a:ea typeface="微软雅黑"/>
              </a:rPr>
              <a:t>【极强】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050" b="0" i="0">
                <a:solidFill>
                  <a:srgbClr val="F7DDDA"/>
                </a:solidFill>
                <a:latin typeface="微软雅黑"/>
                <a:ea typeface="微软雅黑"/>
              </a:rPr>
              <a:t>零食很忙·好想来·来优品；价格战 + 门店加密 + 加盟商争夺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1234440"/>
            <a:ext cx="3108960" cy="1051560"/>
          </a:xfrm>
          <a:prstGeom prst="rect">
            <a:avLst/>
          </a:prstGeom>
          <a:solidFill>
            <a:srgbClr val="FFFFFF"/>
          </a:solidFill>
          <a:ln w="25400">
            <a:solidFill>
              <a:srgbClr val="2E8B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234440"/>
            <a:ext cx="3108960" cy="384048"/>
          </a:xfrm>
          <a:prstGeom prst="rect">
            <a:avLst/>
          </a:prstGeom>
          <a:solidFill>
            <a:srgbClr val="2E8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234440"/>
            <a:ext cx="310896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潜在进入者  </a:t>
            </a:r>
            <a:r>
              <a:rPr sz="1200" b="1" i="0">
                <a:solidFill>
                  <a:srgbClr val="FFF0C0"/>
                </a:solidFill>
                <a:latin typeface="微软雅黑"/>
                <a:ea typeface="微软雅黑"/>
              </a:rPr>
              <a:t>【中】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691640"/>
            <a:ext cx="2834640" cy="548639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微软雅黑"/>
                <a:ea typeface="微软雅黑"/>
              </a:rPr>
              <a:t>赛道进入整合期，新品牌独立突围难；威胁来自上游制造商向下整合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5074920"/>
            <a:ext cx="3108960" cy="1051560"/>
          </a:xfrm>
          <a:prstGeom prst="rect">
            <a:avLst/>
          </a:prstGeom>
          <a:solidFill>
            <a:srgbClr val="FFFFFF"/>
          </a:solidFill>
          <a:ln w="25400">
            <a:solidFill>
              <a:srgbClr val="2C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5074920"/>
            <a:ext cx="3108960" cy="38404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5074920"/>
            <a:ext cx="310896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替代品  </a:t>
            </a:r>
            <a:r>
              <a:rPr sz="1200" b="1" i="0">
                <a:solidFill>
                  <a:srgbClr val="FFF0C0"/>
                </a:solidFill>
                <a:latin typeface="微软雅黑"/>
                <a:ea typeface="微软雅黑"/>
              </a:rPr>
              <a:t>【中】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5532120"/>
            <a:ext cx="2834640" cy="548639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微软雅黑"/>
                <a:ea typeface="微软雅黑"/>
              </a:rPr>
              <a:t>传统商超/便利店/社区团购/电商替代；「多快好省」锁定年轻客群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34639"/>
            <a:ext cx="365760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E37E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834639"/>
            <a:ext cx="3657600" cy="384048"/>
          </a:xfrm>
          <a:prstGeom prst="rect">
            <a:avLst/>
          </a:prstGeom>
          <a:solidFill>
            <a:srgbClr val="E37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834639"/>
            <a:ext cx="365760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供应商议价力  </a:t>
            </a:r>
            <a:r>
              <a:rPr sz="1200" b="1" i="0">
                <a:solidFill>
                  <a:srgbClr val="FFF0C0"/>
                </a:solidFill>
                <a:latin typeface="微软雅黑"/>
                <a:ea typeface="微软雅黑"/>
              </a:rPr>
              <a:t>【弱】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291839"/>
            <a:ext cx="3383280" cy="1234439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微软雅黑"/>
                <a:ea typeface="微软雅黑"/>
              </a:rPr>
              <a:t>集团第二大品牌 + 联合采购规模 → 极强议价力；定制化产品深度绑定供应商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2834639"/>
            <a:ext cx="365760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F2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2834639"/>
            <a:ext cx="3657600" cy="384048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2834639"/>
            <a:ext cx="365760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购买者议价力  </a:t>
            </a:r>
            <a:r>
              <a:rPr sz="1200" b="1" i="0">
                <a:solidFill>
                  <a:srgbClr val="FFF0C0"/>
                </a:solidFill>
                <a:latin typeface="微软雅黑"/>
                <a:ea typeface="微软雅黑"/>
              </a:rPr>
              <a:t>【中/弱】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5592" y="3291839"/>
            <a:ext cx="3383280" cy="1234439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微软雅黑"/>
                <a:ea typeface="微软雅黑"/>
              </a:rPr>
              <a:t>消费者价格敏感但忠诚度建立中；加盟商高度依赖品牌、单体无议价力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989320" y="2286000"/>
            <a:ext cx="0" cy="749808"/>
          </a:xfrm>
          <a:prstGeom prst="bentConnector3">
            <a:avLst/>
          </a:prstGeom>
          <a:ln w="19050">
            <a:solidFill>
              <a:srgbClr val="6666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989320" y="4370832"/>
            <a:ext cx="0" cy="658368"/>
          </a:xfrm>
          <a:prstGeom prst="bentConnector3">
            <a:avLst/>
          </a:prstGeom>
          <a:ln w="19050">
            <a:solidFill>
              <a:srgbClr val="6666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160520" y="3703320"/>
            <a:ext cx="274320" cy="0"/>
          </a:xfrm>
          <a:prstGeom prst="bentConnector3">
            <a:avLst/>
          </a:prstGeom>
          <a:ln w="19050">
            <a:solidFill>
              <a:srgbClr val="6666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726679" y="3703320"/>
            <a:ext cx="301752" cy="0"/>
          </a:xfrm>
          <a:prstGeom prst="bentConnector3">
            <a:avLst/>
          </a:prstGeom>
          <a:ln w="19050">
            <a:solidFill>
              <a:srgbClr val="6666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38404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6032"/>
            <a:ext cx="8686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500" b="1" i="0">
                <a:solidFill>
                  <a:srgbClr val="262626"/>
                </a:solidFill>
                <a:latin typeface="微软雅黑"/>
                <a:ea typeface="微软雅黑"/>
              </a:rPr>
              <a:t>SWOT 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82880"/>
            <a:ext cx="12801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 i="0">
                <a:solidFill>
                  <a:srgbClr val="EAD9D4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68680"/>
            <a:ext cx="11155680" cy="254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34440"/>
            <a:ext cx="5486400" cy="457200"/>
          </a:xfrm>
          <a:prstGeom prst="rect">
            <a:avLst/>
          </a:prstGeom>
          <a:solidFill>
            <a:srgbClr val="2E8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3444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</a:rPr>
              <a:t>S 优势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01368"/>
            <a:ext cx="5029200" cy="160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2E8B76"/>
                </a:solidFill>
                <a:latin typeface="微软雅黑"/>
                <a:ea typeface="微软雅黑"/>
              </a:rPr>
              <a:t>• </a:t>
            </a: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集团赋能：供应链/数字化/资本/品牌营销，增速远超独立发展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2E8B76"/>
                </a:solidFill>
                <a:latin typeface="微软雅黑"/>
                <a:ea typeface="微软雅黑"/>
              </a:rPr>
              <a:t>• </a:t>
            </a: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独立品牌认知：华北、江西消费者基础与加盟网络深厚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2E8B76"/>
                </a:solidFill>
                <a:latin typeface="微软雅黑"/>
                <a:ea typeface="微软雅黑"/>
              </a:rPr>
              <a:t>• </a:t>
            </a: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盈利跃升：毛利率 5.6%→9.7%，单店模型优化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2E8B76"/>
                </a:solidFill>
                <a:latin typeface="微软雅黑"/>
                <a:ea typeface="微软雅黑"/>
              </a:rPr>
              <a:t>• </a:t>
            </a: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地域互补：与零食很忙形成南北错位，减少内耗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234440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234440"/>
            <a:ext cx="5486400" cy="457200"/>
          </a:xfrm>
          <a:prstGeom prst="rect">
            <a:avLst/>
          </a:prstGeom>
          <a:solidFill>
            <a:srgbClr val="E37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23444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</a:rPr>
              <a:t>W 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1801368"/>
            <a:ext cx="5029200" cy="160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E37E1B"/>
                </a:solidFill>
                <a:latin typeface="微软雅黑"/>
                <a:ea typeface="微软雅黑"/>
              </a:rPr>
              <a:t>• </a:t>
            </a: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全国品牌力弱于零食很忙（如湖南大本营影响力较弱）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E37E1B"/>
                </a:solidFill>
                <a:latin typeface="微软雅黑"/>
                <a:ea typeface="微软雅黑"/>
              </a:rPr>
              <a:t>• </a:t>
            </a: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历史管理遗留：早期「非独立加盟商」反映加盟体系不规范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E37E1B"/>
                </a:solidFill>
                <a:latin typeface="微软雅黑"/>
                <a:ea typeface="微软雅黑"/>
              </a:rPr>
              <a:t>• </a:t>
            </a: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战略/供应链/数字化完全依赖集团，自主权有限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611880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11880"/>
            <a:ext cx="5486400" cy="45720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61188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</a:rPr>
              <a:t>O 机会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78808"/>
            <a:ext cx="5029200" cy="160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2C5F8A"/>
                </a:solidFill>
                <a:latin typeface="微软雅黑"/>
                <a:ea typeface="微软雅黑"/>
              </a:rPr>
              <a:t>• </a:t>
            </a: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全国化扩张：借上市资金向华东/华南/西南空白市场拓展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2C5F8A"/>
                </a:solidFill>
                <a:latin typeface="微软雅黑"/>
                <a:ea typeface="微软雅黑"/>
              </a:rPr>
              <a:t>• </a:t>
            </a: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承接集团资源倾斜（占集团收入 58.4%）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2C5F8A"/>
                </a:solidFill>
                <a:latin typeface="微软雅黑"/>
                <a:ea typeface="微软雅黑"/>
              </a:rPr>
              <a:t>• </a:t>
            </a: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北方下沉市场竞争较缓，可快速加密构筑护城河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3611880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3611880"/>
            <a:ext cx="5486400" cy="45720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61188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</a:rPr>
              <a:t>T 威胁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4178808"/>
            <a:ext cx="5029200" cy="160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C01A22"/>
                </a:solidFill>
                <a:latin typeface="微软雅黑"/>
                <a:ea typeface="微软雅黑"/>
              </a:rPr>
              <a:t>• </a:t>
            </a: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与零食很忙未来在同区域直接竞争不可避免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C01A22"/>
                </a:solidFill>
                <a:latin typeface="微软雅黑"/>
                <a:ea typeface="微软雅黑"/>
              </a:rPr>
              <a:t>• </a:t>
            </a: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加盟商忠诚度考验：盈利不及预期或倒戈竞品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 i="0">
                <a:solidFill>
                  <a:srgbClr val="C01A22"/>
                </a:solidFill>
                <a:latin typeface="微软雅黑"/>
                <a:ea typeface="微软雅黑"/>
              </a:rPr>
              <a:t>• </a:t>
            </a: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门店庞大且以加盟为主，单店食安事件易波及品牌声誉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8C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4864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600" b="1" i="0">
                <a:solidFill>
                  <a:srgbClr val="E06A60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788920"/>
            <a:ext cx="731520" cy="6350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058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</a:rPr>
              <a:t>战略类型与战略推导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233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0" i="0">
                <a:solidFill>
                  <a:srgbClr val="F0C8C2"/>
                </a:solidFill>
                <a:latin typeface="Arial"/>
                <a:ea typeface="Arial"/>
              </a:rPr>
              <a:t>Strategy Formulation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7091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0" i="0">
                <a:solidFill>
                  <a:srgbClr val="F7E3DF"/>
                </a:solidFill>
                <a:latin typeface="微软雅黑"/>
                <a:ea typeface="微软雅黑"/>
              </a:rPr>
              <a:t>竞争战略定位 · 总体战略 · 三大战略主轴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38404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6032"/>
            <a:ext cx="8686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500" b="1" i="0">
                <a:solidFill>
                  <a:srgbClr val="262626"/>
                </a:solidFill>
                <a:latin typeface="微软雅黑"/>
                <a:ea typeface="微软雅黑"/>
              </a:rPr>
              <a:t>战略类型：成本领先为主的总成本领先战略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82880"/>
            <a:ext cx="12801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 i="0">
                <a:solidFill>
                  <a:srgbClr val="EAD9D4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68680"/>
            <a:ext cx="11155680" cy="254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111556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</a:rPr>
              <a:t>基于波特竞争战略框架，</a:t>
            </a:r>
            <a:r>
              <a:rPr sz="1400" b="1" i="0">
                <a:solidFill>
                  <a:srgbClr val="C01A22"/>
                </a:solidFill>
                <a:latin typeface="微软雅黑"/>
                <a:ea typeface="微软雅黑"/>
              </a:rPr>
              <a:t>赵一鸣采取「总成本领先战略」</a:t>
            </a: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</a:rPr>
              <a:t>——以源头直采、规模采购、高效供应链与数字化运营压低成本，向价格敏感型下沉客群提供「质价比」零食；并辅以适度差异化（自有品牌、定制爆款）。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48840"/>
            <a:ext cx="36576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148840"/>
            <a:ext cx="3657600" cy="64008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148840"/>
            <a:ext cx="36576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</a:rPr>
              <a:t>成本领先抓手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3108960" cy="2743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01A22"/>
                </a:solidFill>
                <a:latin typeface="微软雅黑"/>
                <a:ea typeface="微软雅黑"/>
              </a:rPr>
              <a:t>✓ </a:t>
            </a: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源头直采去经销商化（92.3%）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01A22"/>
                </a:solidFill>
                <a:latin typeface="微软雅黑"/>
                <a:ea typeface="微软雅黑"/>
              </a:rPr>
              <a:t>✓ </a:t>
            </a: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联合集团规模采购压低进价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01A22"/>
                </a:solidFill>
                <a:latin typeface="微软雅黑"/>
                <a:ea typeface="微软雅黑"/>
              </a:rPr>
              <a:t>✓ </a:t>
            </a: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56 个仓配中心 + 物流成本 1.7%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01A22"/>
                </a:solidFill>
                <a:latin typeface="微软雅黑"/>
                <a:ea typeface="微软雅黑"/>
              </a:rPr>
              <a:t>✓ </a:t>
            </a: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数字化选品/补货降低损耗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2148840"/>
            <a:ext cx="36576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2148840"/>
            <a:ext cx="3657600" cy="640080"/>
          </a:xfrm>
          <a:prstGeom prst="rect">
            <a:avLst/>
          </a:prstGeom>
          <a:solidFill>
            <a:srgbClr val="E37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59" y="2148840"/>
            <a:ext cx="36576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</a:rPr>
              <a:t>差异化补充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880360"/>
            <a:ext cx="3108960" cy="2743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E37E1B"/>
                </a:solidFill>
                <a:latin typeface="微软雅黑"/>
                <a:ea typeface="微软雅黑"/>
              </a:rPr>
              <a:t>✓ </a:t>
            </a: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自有品牌毛利 30–50%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E37E1B"/>
                </a:solidFill>
                <a:latin typeface="微软雅黑"/>
                <a:ea typeface="微软雅黑"/>
              </a:rPr>
              <a:t>✓ </a:t>
            </a: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定制爆款（麻酱味素毛肚 1 亿+件）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E37E1B"/>
                </a:solidFill>
                <a:latin typeface="微软雅黑"/>
                <a:ea typeface="微软雅黑"/>
              </a:rPr>
              <a:t>✓ </a:t>
            </a: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统一 IP 营销塑造品牌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E37E1B"/>
                </a:solidFill>
                <a:latin typeface="微软雅黑"/>
                <a:ea typeface="微软雅黑"/>
              </a:rPr>
              <a:t>✓ </a:t>
            </a: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欢乐舒适门店体验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2148840"/>
            <a:ext cx="36576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0" y="2148840"/>
            <a:ext cx="3657600" cy="6400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2148840"/>
            <a:ext cx="36576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</a:rPr>
              <a:t>目标聚焦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880360"/>
            <a:ext cx="3108960" cy="2743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2C5F8A"/>
                </a:solidFill>
                <a:latin typeface="微软雅黑"/>
                <a:ea typeface="微软雅黑"/>
              </a:rPr>
              <a:t>✓ </a:t>
            </a: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聚焦三四线及下沉市场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2C5F8A"/>
                </a:solidFill>
                <a:latin typeface="微软雅黑"/>
                <a:ea typeface="微软雅黑"/>
              </a:rPr>
              <a:t>✓ </a:t>
            </a: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深耕北方华北/西北空白市场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2C5F8A"/>
                </a:solidFill>
                <a:latin typeface="微软雅黑"/>
                <a:ea typeface="微软雅黑"/>
              </a:rPr>
              <a:t>✓ </a:t>
            </a: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社区便民消费场景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2C5F8A"/>
                </a:solidFill>
                <a:latin typeface="微软雅黑"/>
                <a:ea typeface="微软雅黑"/>
              </a:rPr>
              <a:t>✓ </a:t>
            </a: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家庭与年轻客群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38404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6032"/>
            <a:ext cx="8686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500" b="1" i="0">
                <a:solidFill>
                  <a:srgbClr val="262626"/>
                </a:solidFill>
                <a:latin typeface="微软雅黑"/>
                <a:ea typeface="微软雅黑"/>
              </a:rPr>
              <a:t>总体战略与三大战略主轴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82880"/>
            <a:ext cx="12801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 i="0">
                <a:solidFill>
                  <a:srgbClr val="EAD9D4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68680"/>
            <a:ext cx="11155680" cy="254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11155680" cy="123444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98448"/>
            <a:ext cx="10698480" cy="1051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300" b="1" i="0">
                <a:solidFill>
                  <a:srgbClr val="F7D0CB"/>
                </a:solidFill>
                <a:latin typeface="微软雅黑"/>
                <a:ea typeface="微软雅黑"/>
              </a:rPr>
              <a:t>总体战略</a:t>
            </a:r>
          </a:p>
          <a:p>
            <a:pPr algn="ctr">
              <a:spcBef>
                <a:spcPts val="200"/>
              </a:spcBef>
            </a:pPr>
            <a:r>
              <a:rPr sz="2400" b="1" i="0">
                <a:solidFill>
                  <a:srgbClr val="FFFFFF"/>
                </a:solidFill>
                <a:latin typeface="微软雅黑"/>
                <a:ea typeface="微软雅黑"/>
              </a:rPr>
              <a:t>规模深耕 + 品牌提质 + 供应链提效 + 数字化赋能</a:t>
            </a:r>
          </a:p>
          <a:p>
            <a:pPr algn="ctr">
              <a:spcBef>
                <a:spcPts val="400"/>
              </a:spcBef>
            </a:pPr>
            <a:r>
              <a:rPr sz="1400" b="0" i="0">
                <a:solidFill>
                  <a:srgbClr val="F7E3DF"/>
                </a:solidFill>
                <a:latin typeface="微软雅黑"/>
                <a:ea typeface="微软雅黑"/>
              </a:rPr>
              <a:t>打造全国领先的零食量贩龙头品牌 ｜ 2027 目标：营收突破 250 亿元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697480"/>
            <a:ext cx="3657600" cy="3108960"/>
          </a:xfrm>
          <a:prstGeom prst="rect">
            <a:avLst/>
          </a:prstGeom>
          <a:solidFill>
            <a:srgbClr val="FCF4F1"/>
          </a:solidFill>
          <a:ln w="19050">
            <a:solidFill>
              <a:srgbClr val="C01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697480"/>
            <a:ext cx="3657600" cy="86868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770632"/>
            <a:ext cx="365760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巩固核心</a:t>
            </a:r>
          </a:p>
          <a:p>
            <a:pPr algn="ctr">
              <a:spcBef>
                <a:spcPts val="200"/>
              </a:spcBef>
            </a:pPr>
            <a:r>
              <a:rPr sz="1200" b="0" i="0">
                <a:solidFill>
                  <a:srgbClr val="FFF0E0"/>
                </a:solidFill>
                <a:latin typeface="微软雅黑"/>
                <a:ea typeface="微软雅黑"/>
              </a:rPr>
              <a:t>稳固基本盘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49039"/>
            <a:ext cx="3108960" cy="1920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</a:rPr>
              <a:t>持续强化供应链整合优势，牢牢占据下沉市场领导地位，稳固量贩零食基本盘，夯实品牌护城河。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2697480"/>
            <a:ext cx="3657600" cy="3108960"/>
          </a:xfrm>
          <a:prstGeom prst="rect">
            <a:avLst/>
          </a:prstGeom>
          <a:solidFill>
            <a:srgbClr val="FCF4F1"/>
          </a:solidFill>
          <a:ln w="19050">
            <a:solidFill>
              <a:srgbClr val="2E8B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59" y="2697480"/>
            <a:ext cx="3657600" cy="868680"/>
          </a:xfrm>
          <a:prstGeom prst="rect">
            <a:avLst/>
          </a:prstGeom>
          <a:solidFill>
            <a:srgbClr val="2E8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59" y="2770632"/>
            <a:ext cx="365760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精细运营</a:t>
            </a:r>
          </a:p>
          <a:p>
            <a:pPr algn="ctr">
              <a:spcBef>
                <a:spcPts val="200"/>
              </a:spcBef>
            </a:pPr>
            <a:r>
              <a:rPr sz="1200" b="0" i="0">
                <a:solidFill>
                  <a:srgbClr val="FFF0E0"/>
                </a:solidFill>
                <a:latin typeface="微软雅黑"/>
                <a:ea typeface="微软雅黑"/>
              </a:rPr>
              <a:t>效率驱动转型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749039"/>
            <a:ext cx="3108960" cy="1920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</a:rPr>
              <a:t>战略重心从门店扩张转向单店效益提升，以数字化加强加盟商赋能与管控，从「规模驱动」转向「效率驱动」。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1000" y="2697480"/>
            <a:ext cx="3657600" cy="3108960"/>
          </a:xfrm>
          <a:prstGeom prst="rect">
            <a:avLst/>
          </a:prstGeom>
          <a:solidFill>
            <a:srgbClr val="FCF4F1"/>
          </a:solidFill>
          <a:ln w="19050">
            <a:solidFill>
              <a:srgbClr val="2C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657600" cy="8686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770632"/>
            <a:ext cx="365760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多元探索</a:t>
            </a:r>
          </a:p>
          <a:p>
            <a:pPr algn="ctr">
              <a:spcBef>
                <a:spcPts val="200"/>
              </a:spcBef>
            </a:pPr>
            <a:r>
              <a:rPr sz="1200" b="0" i="0">
                <a:solidFill>
                  <a:srgbClr val="FFF0E0"/>
                </a:solidFill>
                <a:latin typeface="微软雅黑"/>
                <a:ea typeface="微软雅黑"/>
              </a:rPr>
              <a:t>培育第二曲线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749039"/>
            <a:ext cx="3108960" cy="1920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</a:rPr>
              <a:t>布局健康化、功能化产品赛道，孵化「新鲜零食」等创新业态，挖掘消费新需求，保障长期生命力。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300" b="1" i="0">
                <a:solidFill>
                  <a:srgbClr val="C01A22"/>
                </a:solidFill>
                <a:latin typeface="微软雅黑"/>
                <a:ea typeface="微软雅黑"/>
              </a:rPr>
              <a:t>战略愿景：通过「核心稳固、运营提效、业态创新」三位一体，构建全链路、可持续的商业增长闭环。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8C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4864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600" b="1" i="0">
                <a:solidFill>
                  <a:srgbClr val="E06A60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788920"/>
            <a:ext cx="731520" cy="6350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058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</a:rPr>
              <a:t>战略地图（BSC 四维度）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233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0" i="0">
                <a:solidFill>
                  <a:srgbClr val="F0C8C2"/>
                </a:solidFill>
                <a:latin typeface="Arial"/>
                <a:ea typeface="Arial"/>
              </a:rPr>
              <a:t>Strategy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7091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0" i="0">
                <a:solidFill>
                  <a:srgbClr val="F7E3DF"/>
                </a:solidFill>
                <a:latin typeface="微软雅黑"/>
                <a:ea typeface="微软雅黑"/>
              </a:rPr>
              <a:t>财务 · 客户 · 内部流程 · 学习与成长 —— 因果驱动闭环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38404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6032"/>
            <a:ext cx="8686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500" b="1" i="0">
                <a:solidFill>
                  <a:srgbClr val="262626"/>
                </a:solidFill>
                <a:latin typeface="微软雅黑"/>
                <a:ea typeface="微软雅黑"/>
              </a:rPr>
              <a:t>赵一鸣零食 BSC 战略地图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82880"/>
            <a:ext cx="12801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 i="0">
                <a:solidFill>
                  <a:srgbClr val="EAD9D4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68680"/>
            <a:ext cx="11155680" cy="254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2331720" cy="120700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2148839" cy="12070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</a:rPr>
              <a:t>财务维度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00" b="0" i="0">
                <a:solidFill>
                  <a:srgbClr val="FFF0EC"/>
                </a:solidFill>
                <a:latin typeface="微软雅黑"/>
                <a:ea typeface="微软雅黑"/>
              </a:rPr>
              <a:t>扩大营收规模、优化利润结构、提升整体盈利能力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1252728"/>
            <a:ext cx="2096262" cy="987552"/>
          </a:xfrm>
          <a:prstGeom prst="rect">
            <a:avLst/>
          </a:prstGeom>
          <a:solidFill>
            <a:srgbClr val="FFFFFF"/>
          </a:solidFill>
          <a:ln w="15875">
            <a:solidFill>
              <a:srgbClr val="C01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1252728"/>
            <a:ext cx="1986534" cy="9875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单店月均供货收入→18万元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0358" y="1252728"/>
            <a:ext cx="2096262" cy="987552"/>
          </a:xfrm>
          <a:prstGeom prst="rect">
            <a:avLst/>
          </a:prstGeom>
          <a:solidFill>
            <a:srgbClr val="FFFFFF"/>
          </a:solidFill>
          <a:ln w="15875">
            <a:solidFill>
              <a:srgbClr val="C01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05222" y="1252728"/>
            <a:ext cx="1986534" cy="9875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物流成本→&lt;1.5%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56348" y="1252728"/>
            <a:ext cx="2096262" cy="987552"/>
          </a:xfrm>
          <a:prstGeom prst="rect">
            <a:avLst/>
          </a:prstGeom>
          <a:solidFill>
            <a:srgbClr val="FFFFFF"/>
          </a:solidFill>
          <a:ln w="15875">
            <a:solidFill>
              <a:srgbClr val="C01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1212" y="1252728"/>
            <a:ext cx="1986534" cy="9875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源头直采占比≥95%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62338" y="1252728"/>
            <a:ext cx="2096262" cy="987552"/>
          </a:xfrm>
          <a:prstGeom prst="rect">
            <a:avLst/>
          </a:prstGeom>
          <a:solidFill>
            <a:srgbClr val="FFFFFF"/>
          </a:solidFill>
          <a:ln w="15875">
            <a:solidFill>
              <a:srgbClr val="C01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17202" y="1252728"/>
            <a:ext cx="1986534" cy="9875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线上营收占比 5%→15%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23160"/>
            <a:ext cx="2331720" cy="1207008"/>
          </a:xfrm>
          <a:prstGeom prst="rect">
            <a:avLst/>
          </a:prstGeom>
          <a:solidFill>
            <a:srgbClr val="E37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423160"/>
            <a:ext cx="2148839" cy="12070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</a:rPr>
              <a:t>客户维度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00" b="0" i="0">
                <a:solidFill>
                  <a:srgbClr val="FFF0EC"/>
                </a:solidFill>
                <a:latin typeface="微软雅黑"/>
                <a:ea typeface="微软雅黑"/>
              </a:rPr>
              <a:t>稳固客群、拓展市场、提升口碑与复购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8" y="2532888"/>
            <a:ext cx="2096262" cy="987552"/>
          </a:xfrm>
          <a:prstGeom prst="rect">
            <a:avLst/>
          </a:prstGeom>
          <a:solidFill>
            <a:srgbClr val="FFFFFF"/>
          </a:solidFill>
          <a:ln w="15875">
            <a:solidFill>
              <a:srgbClr val="E37E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9232" y="2532888"/>
            <a:ext cx="1986534" cy="9875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优化品牌形象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50358" y="2532888"/>
            <a:ext cx="2096262" cy="987552"/>
          </a:xfrm>
          <a:prstGeom prst="rect">
            <a:avLst/>
          </a:prstGeom>
          <a:solidFill>
            <a:srgbClr val="FFFFFF"/>
          </a:solidFill>
          <a:ln w="15875">
            <a:solidFill>
              <a:srgbClr val="E37E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05222" y="2532888"/>
            <a:ext cx="1986534" cy="9875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降低客诉率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56348" y="2532888"/>
            <a:ext cx="2096262" cy="987552"/>
          </a:xfrm>
          <a:prstGeom prst="rect">
            <a:avLst/>
          </a:prstGeom>
          <a:solidFill>
            <a:srgbClr val="FFFFFF"/>
          </a:solidFill>
          <a:ln w="15875">
            <a:solidFill>
              <a:srgbClr val="E37E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11212" y="2532888"/>
            <a:ext cx="1986534" cy="9875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会员消费占比→70%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62338" y="2532888"/>
            <a:ext cx="2096262" cy="987552"/>
          </a:xfrm>
          <a:prstGeom prst="rect">
            <a:avLst/>
          </a:prstGeom>
          <a:solidFill>
            <a:srgbClr val="FFFFFF"/>
          </a:solidFill>
          <a:ln w="15875">
            <a:solidFill>
              <a:srgbClr val="E37E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17202" y="2532888"/>
            <a:ext cx="1986534" cy="9875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北方门店占比→35%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703320"/>
            <a:ext cx="2331720" cy="1207008"/>
          </a:xfrm>
          <a:prstGeom prst="rect">
            <a:avLst/>
          </a:prstGeom>
          <a:solidFill>
            <a:srgbClr val="2E8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703320"/>
            <a:ext cx="2148839" cy="12070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</a:rPr>
              <a:t>内部流程维度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00" b="0" i="0">
                <a:solidFill>
                  <a:srgbClr val="FFF0EC"/>
                </a:solidFill>
                <a:latin typeface="微软雅黑"/>
                <a:ea typeface="微软雅黑"/>
              </a:rPr>
              <a:t>完善供应链、品控、门店管理，提升运营效率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44368" y="3813048"/>
            <a:ext cx="2096262" cy="987552"/>
          </a:xfrm>
          <a:prstGeom prst="rect">
            <a:avLst/>
          </a:prstGeom>
          <a:solidFill>
            <a:srgbClr val="FFFFFF"/>
          </a:solidFill>
          <a:ln w="15875">
            <a:solidFill>
              <a:srgbClr val="2E8B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99232" y="3813048"/>
            <a:ext cx="1986534" cy="9875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搭建区域仓储配送中心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50358" y="3813048"/>
            <a:ext cx="2096262" cy="987552"/>
          </a:xfrm>
          <a:prstGeom prst="rect">
            <a:avLst/>
          </a:prstGeom>
          <a:solidFill>
            <a:srgbClr val="FFFFFF"/>
          </a:solidFill>
          <a:ln w="15875">
            <a:solidFill>
              <a:srgbClr val="2E8B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05222" y="3813048"/>
            <a:ext cx="1986534" cy="9875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商品动销率→88%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56348" y="3813048"/>
            <a:ext cx="2096262" cy="987552"/>
          </a:xfrm>
          <a:prstGeom prst="rect">
            <a:avLst/>
          </a:prstGeom>
          <a:solidFill>
            <a:srgbClr val="FFFFFF"/>
          </a:solidFill>
          <a:ln w="15875">
            <a:solidFill>
              <a:srgbClr val="2E8B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11212" y="3813048"/>
            <a:ext cx="1986534" cy="9875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自有品牌占比→30%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62338" y="3813048"/>
            <a:ext cx="2096262" cy="987552"/>
          </a:xfrm>
          <a:prstGeom prst="rect">
            <a:avLst/>
          </a:prstGeom>
          <a:solidFill>
            <a:srgbClr val="FFFFFF"/>
          </a:solidFill>
          <a:ln w="15875">
            <a:solidFill>
              <a:srgbClr val="2E8B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17202" y="3813048"/>
            <a:ext cx="1986534" cy="9875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加盟管理标准化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983480"/>
            <a:ext cx="2331720" cy="120700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4983480"/>
            <a:ext cx="2148839" cy="12070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</a:rPr>
              <a:t>学习与成长维度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00" b="0" i="0">
                <a:solidFill>
                  <a:srgbClr val="FFF0EC"/>
                </a:solidFill>
                <a:latin typeface="微软雅黑"/>
                <a:ea typeface="微软雅黑"/>
              </a:rPr>
              <a:t>强化数字化、人才、组织能力，为长期发展打底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44368" y="5093208"/>
            <a:ext cx="2096262" cy="987552"/>
          </a:xfrm>
          <a:prstGeom prst="rect">
            <a:avLst/>
          </a:prstGeom>
          <a:solidFill>
            <a:srgbClr val="FFFFFF"/>
          </a:solidFill>
          <a:ln w="15875">
            <a:solidFill>
              <a:srgbClr val="2C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99232" y="5093208"/>
            <a:ext cx="1986534" cy="9875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搭建一体化数字系统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50358" y="5093208"/>
            <a:ext cx="2096262" cy="987552"/>
          </a:xfrm>
          <a:prstGeom prst="rect">
            <a:avLst/>
          </a:prstGeom>
          <a:solidFill>
            <a:srgbClr val="FFFFFF"/>
          </a:solidFill>
          <a:ln w="15875">
            <a:solidFill>
              <a:srgbClr val="2C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05222" y="5093208"/>
            <a:ext cx="1986534" cy="9875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员工/加盟商培训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56348" y="5093208"/>
            <a:ext cx="2096262" cy="987552"/>
          </a:xfrm>
          <a:prstGeom prst="rect">
            <a:avLst/>
          </a:prstGeom>
          <a:solidFill>
            <a:srgbClr val="FFFFFF"/>
          </a:solidFill>
          <a:ln w="15875">
            <a:solidFill>
              <a:srgbClr val="2C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11212" y="5093208"/>
            <a:ext cx="1986534" cy="9875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库存准确率→99%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562338" y="5093208"/>
            <a:ext cx="2096262" cy="987552"/>
          </a:xfrm>
          <a:prstGeom prst="rect">
            <a:avLst/>
          </a:prstGeom>
          <a:solidFill>
            <a:srgbClr val="FFFFFF"/>
          </a:solidFill>
          <a:ln w="15875">
            <a:solidFill>
              <a:srgbClr val="2C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17202" y="5093208"/>
            <a:ext cx="1986534" cy="9875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优化组织架构适配全国扩张</a:t>
            </a:r>
          </a:p>
        </p:txBody>
      </p:sp>
      <p:sp>
        <p:nvSpPr>
          <p:cNvPr id="48" name="Up Arrow 47"/>
          <p:cNvSpPr/>
          <p:nvPr/>
        </p:nvSpPr>
        <p:spPr>
          <a:xfrm>
            <a:off x="11686032" y="1143000"/>
            <a:ext cx="384048" cy="5047488"/>
          </a:xfrm>
          <a:prstGeom prst="upArrow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因
果
驱
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17220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200" b="1" i="0">
                <a:solidFill>
                  <a:srgbClr val="666666"/>
                </a:solidFill>
                <a:latin typeface="微软雅黑"/>
                <a:ea typeface="微软雅黑"/>
              </a:rPr>
              <a:t>驱动逻辑：学习成长 → 内部流程 → 客户 → 财务，底层能力支撑上层目标，形成战略闭环。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38404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6032"/>
            <a:ext cx="8686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500" b="1" i="0">
                <a:solidFill>
                  <a:srgbClr val="262626"/>
                </a:solidFill>
                <a:latin typeface="微软雅黑"/>
                <a:ea typeface="微软雅黑"/>
              </a:rPr>
              <a:t>战略地图 · 财务维度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82880"/>
            <a:ext cx="12801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 i="0">
                <a:solidFill>
                  <a:srgbClr val="EAD9D4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68680"/>
            <a:ext cx="11155680" cy="254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11155680" cy="68580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188720"/>
            <a:ext cx="1060704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400" b="1" i="0">
                <a:solidFill>
                  <a:srgbClr val="FFECE6"/>
                </a:solidFill>
                <a:latin typeface="微软雅黑"/>
                <a:ea typeface="微软雅黑"/>
              </a:rPr>
              <a:t>战略主题：</a:t>
            </a: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</a:rPr>
              <a:t>扩大营收规模、优化利润结构、提升整体盈利能力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57400"/>
            <a:ext cx="11155680" cy="457200"/>
          </a:xfrm>
          <a:prstGeom prst="rect">
            <a:avLst/>
          </a:prstGeom>
          <a:solidFill>
            <a:srgbClr val="8C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057400"/>
            <a:ext cx="2194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战略目标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057400"/>
            <a:ext cx="256032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关键指标 (KPI)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057400"/>
            <a:ext cx="22860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目标值 / 现状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057400"/>
            <a:ext cx="3383279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支撑举措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14600"/>
            <a:ext cx="1115568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514600"/>
            <a:ext cx="215798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C01A22"/>
                </a:solidFill>
                <a:latin typeface="微软雅黑"/>
                <a:ea typeface="微软雅黑"/>
              </a:rPr>
              <a:t>营收规模增长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2514600"/>
            <a:ext cx="252374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总营收 / 单店月供货收入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3288" y="2514600"/>
            <a:ext cx="224942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250亿(2027) / 18万元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2514600"/>
            <a:ext cx="334670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20% CAGR；规模化扩张 + 单店提效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00984"/>
            <a:ext cx="11155680" cy="786384"/>
          </a:xfrm>
          <a:prstGeom prst="rect">
            <a:avLst/>
          </a:prstGeom>
          <a:solidFill>
            <a:srgbClr val="FCF4F1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3300984"/>
            <a:ext cx="215798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C01A22"/>
                </a:solidFill>
                <a:latin typeface="微软雅黑"/>
                <a:ea typeface="微软雅黑"/>
              </a:rPr>
              <a:t>供应链成本优化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0088" y="3300984"/>
            <a:ext cx="252374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源头直采占比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33288" y="3300984"/>
            <a:ext cx="224942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≥95%（现 92.3%）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8" y="3300984"/>
            <a:ext cx="334670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完全去经销商化，砍中间溢价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1115568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" y="4087368"/>
            <a:ext cx="215798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C01A22"/>
                </a:solidFill>
                <a:latin typeface="微软雅黑"/>
                <a:ea typeface="微软雅黑"/>
              </a:rPr>
              <a:t>物流费用管控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90088" y="4087368"/>
            <a:ext cx="252374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物流成本占收入比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33288" y="4087368"/>
            <a:ext cx="224942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&lt;1.5%（现 1.7%）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8" y="4087368"/>
            <a:ext cx="334670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56 仓配中心 + 数字化网格配送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73752"/>
            <a:ext cx="11155680" cy="786384"/>
          </a:xfrm>
          <a:prstGeom prst="rect">
            <a:avLst/>
          </a:prstGeom>
          <a:solidFill>
            <a:srgbClr val="FCF4F1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" y="4873752"/>
            <a:ext cx="215798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C01A22"/>
                </a:solidFill>
                <a:latin typeface="微软雅黑"/>
                <a:ea typeface="微软雅黑"/>
              </a:rPr>
              <a:t>渠道结构升级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0088" y="4873752"/>
            <a:ext cx="252374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线上(即时零售)营收占比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33288" y="4873752"/>
            <a:ext cx="224942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5%→15%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2168" y="4873752"/>
            <a:ext cx="334670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门店变前置仓，接入美团/饿了么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751576"/>
            <a:ext cx="11155680" cy="640080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751576"/>
            <a:ext cx="91440" cy="64008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751576"/>
            <a:ext cx="1078992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01A22"/>
                </a:solidFill>
                <a:latin typeface="微软雅黑"/>
                <a:ea typeface="微软雅黑"/>
              </a:rPr>
              <a:t>小结：</a:t>
            </a: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财务目标以「营收+毛利」双增长为核心；直采与物流成本已具领先优势，毛利提升关键在自有品牌放量。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38404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6032"/>
            <a:ext cx="8686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500" b="1" i="0">
                <a:solidFill>
                  <a:srgbClr val="262626"/>
                </a:solidFill>
                <a:latin typeface="微软雅黑"/>
                <a:ea typeface="微软雅黑"/>
              </a:rPr>
              <a:t>战略地图 · 客户维度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82880"/>
            <a:ext cx="12801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 i="0">
                <a:solidFill>
                  <a:srgbClr val="EAD9D4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68680"/>
            <a:ext cx="11155680" cy="254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11155680" cy="685800"/>
          </a:xfrm>
          <a:prstGeom prst="rect">
            <a:avLst/>
          </a:prstGeom>
          <a:solidFill>
            <a:srgbClr val="E37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188720"/>
            <a:ext cx="1060704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400" b="1" i="0">
                <a:solidFill>
                  <a:srgbClr val="FFECE6"/>
                </a:solidFill>
                <a:latin typeface="微软雅黑"/>
                <a:ea typeface="微软雅黑"/>
              </a:rPr>
              <a:t>战略主题：</a:t>
            </a: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</a:rPr>
              <a:t>稳固客群、拓展市场、提升用户口碑与复购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57400"/>
            <a:ext cx="11155680" cy="457200"/>
          </a:xfrm>
          <a:prstGeom prst="rect">
            <a:avLst/>
          </a:prstGeom>
          <a:solidFill>
            <a:srgbClr val="8C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057400"/>
            <a:ext cx="2194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战略目标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057400"/>
            <a:ext cx="256032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关键指标 (KPI)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057400"/>
            <a:ext cx="22860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目标值 / 现状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057400"/>
            <a:ext cx="3383279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支撑举措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14600"/>
            <a:ext cx="1115568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514600"/>
            <a:ext cx="215798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E37E1B"/>
                </a:solidFill>
                <a:latin typeface="微软雅黑"/>
                <a:ea typeface="微软雅黑"/>
              </a:rPr>
              <a:t>提升品牌口碑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2514600"/>
            <a:ext cx="252374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品牌形象 / 客诉率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3288" y="2514600"/>
            <a:ext cx="224942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优化形象、客诉率下降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2514600"/>
            <a:ext cx="334670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统一 IP 营销 + 服务标准化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00984"/>
            <a:ext cx="11155680" cy="786384"/>
          </a:xfrm>
          <a:prstGeom prst="rect">
            <a:avLst/>
          </a:prstGeom>
          <a:solidFill>
            <a:srgbClr val="FCF4F1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3300984"/>
            <a:ext cx="215798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E37E1B"/>
                </a:solidFill>
                <a:latin typeface="微软雅黑"/>
                <a:ea typeface="微软雅黑"/>
              </a:rPr>
              <a:t>深挖用户价值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0088" y="3300984"/>
            <a:ext cx="252374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会员消费占比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33288" y="3300984"/>
            <a:ext cx="224942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→70%（复购率已达 75%）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8" y="3300984"/>
            <a:ext cx="334670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会员分层权益 + 精准营销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1115568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" y="4087368"/>
            <a:ext cx="215798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E37E1B"/>
                </a:solidFill>
                <a:latin typeface="微软雅黑"/>
                <a:ea typeface="微软雅黑"/>
              </a:rPr>
              <a:t>拓展区域市场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90088" y="4087368"/>
            <a:ext cx="252374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北方门店占比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33288" y="4087368"/>
            <a:ext cx="224942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→35%（现约 15–18%）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8" y="4087368"/>
            <a:ext cx="334670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10 亿专项资金深耕华北/西北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73752"/>
            <a:ext cx="11155680" cy="786384"/>
          </a:xfrm>
          <a:prstGeom prst="rect">
            <a:avLst/>
          </a:prstGeom>
          <a:solidFill>
            <a:srgbClr val="FCF4F1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" y="4873752"/>
            <a:ext cx="215798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E37E1B"/>
                </a:solidFill>
                <a:latin typeface="微软雅黑"/>
                <a:ea typeface="微软雅黑"/>
              </a:rPr>
              <a:t>扩大客群基数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0088" y="4873752"/>
            <a:ext cx="252374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门店数量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33288" y="4873752"/>
            <a:ext cx="224942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北方 3000+ 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2168" y="4873752"/>
            <a:ext cx="334670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优先安徽/河北/山东，辐射山陕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751576"/>
            <a:ext cx="11155680" cy="640080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751576"/>
            <a:ext cx="91440" cy="64008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751576"/>
            <a:ext cx="1078992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01A22"/>
                </a:solidFill>
                <a:latin typeface="微软雅黑"/>
                <a:ea typeface="微软雅黑"/>
              </a:rPr>
              <a:t>小结：</a:t>
            </a: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复购率已超额达成（75%&gt;50%），重心转向「从复购到高价值消费」；北方市场为最大增量空间。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38404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6032"/>
            <a:ext cx="8686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500" b="1" i="0">
                <a:solidFill>
                  <a:srgbClr val="262626"/>
                </a:solidFill>
                <a:latin typeface="微软雅黑"/>
                <a:ea typeface="微软雅黑"/>
              </a:rPr>
              <a:t>战略地图 · 内部流程维度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82880"/>
            <a:ext cx="12801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 i="0">
                <a:solidFill>
                  <a:srgbClr val="EAD9D4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68680"/>
            <a:ext cx="11155680" cy="254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11155680" cy="685800"/>
          </a:xfrm>
          <a:prstGeom prst="rect">
            <a:avLst/>
          </a:prstGeom>
          <a:solidFill>
            <a:srgbClr val="2E8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188720"/>
            <a:ext cx="1060704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400" b="1" i="0">
                <a:solidFill>
                  <a:srgbClr val="FFECE6"/>
                </a:solidFill>
                <a:latin typeface="微软雅黑"/>
                <a:ea typeface="微软雅黑"/>
              </a:rPr>
              <a:t>战略主题：</a:t>
            </a: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</a:rPr>
              <a:t>完善供应链、品控、门店管理，提升运营效率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57400"/>
            <a:ext cx="11155680" cy="457200"/>
          </a:xfrm>
          <a:prstGeom prst="rect">
            <a:avLst/>
          </a:prstGeom>
          <a:solidFill>
            <a:srgbClr val="8C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057400"/>
            <a:ext cx="2194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战略目标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057400"/>
            <a:ext cx="256032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关键指标 (KPI)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057400"/>
            <a:ext cx="22860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目标值 / 现状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057400"/>
            <a:ext cx="3383279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支撑举措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14600"/>
            <a:ext cx="1115568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514600"/>
            <a:ext cx="215798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2E8B76"/>
                </a:solidFill>
                <a:latin typeface="微软雅黑"/>
                <a:ea typeface="微软雅黑"/>
              </a:rPr>
              <a:t>供应链网络建设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2514600"/>
            <a:ext cx="252374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区域仓配中心数量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3288" y="2514600"/>
            <a:ext cx="224942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已建 56 个，持续加密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2514600"/>
            <a:ext cx="334670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网格化配送，300km/24h 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00984"/>
            <a:ext cx="11155680" cy="786384"/>
          </a:xfrm>
          <a:prstGeom prst="rect">
            <a:avLst/>
          </a:prstGeom>
          <a:solidFill>
            <a:srgbClr val="FCF4F1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3300984"/>
            <a:ext cx="215798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2E8B76"/>
                </a:solidFill>
                <a:latin typeface="微软雅黑"/>
                <a:ea typeface="微软雅黑"/>
              </a:rPr>
              <a:t>商品周转效率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0088" y="3300984"/>
            <a:ext cx="252374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商品动销率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33288" y="3300984"/>
            <a:ext cx="224942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→88%（现约 75%）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8" y="3300984"/>
            <a:ext cx="334670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数字化选品 + 全链路品效优化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1115568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" y="4087368"/>
            <a:ext cx="215798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2E8B76"/>
                </a:solidFill>
                <a:latin typeface="微软雅黑"/>
                <a:ea typeface="微软雅黑"/>
              </a:rPr>
              <a:t>产品力升级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90088" y="4087368"/>
            <a:ext cx="252374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自有品牌占比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33288" y="4087368"/>
            <a:ext cx="224942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→30%（现约 12%）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8" y="4087368"/>
            <a:ext cx="334670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联合定制 + 打造 10 个亿元大单品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73752"/>
            <a:ext cx="11155680" cy="786384"/>
          </a:xfrm>
          <a:prstGeom prst="rect">
            <a:avLst/>
          </a:prstGeom>
          <a:solidFill>
            <a:srgbClr val="FCF4F1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" y="4873752"/>
            <a:ext cx="215798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2E8B76"/>
                </a:solidFill>
                <a:latin typeface="微软雅黑"/>
                <a:ea typeface="微软雅黑"/>
              </a:rPr>
              <a:t>门店运营标准化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0088" y="4873752"/>
            <a:ext cx="252374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加盟管理标准化率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33288" y="4873752"/>
            <a:ext cx="224942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标准化全覆盖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2168" y="4873752"/>
            <a:ext cx="334670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WMS/TMS/ERP 一体化管控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751576"/>
            <a:ext cx="11155680" cy="640080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751576"/>
            <a:ext cx="91440" cy="64008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751576"/>
            <a:ext cx="1078992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01A22"/>
                </a:solidFill>
                <a:latin typeface="微软雅黑"/>
                <a:ea typeface="微软雅黑"/>
              </a:rPr>
              <a:t>小结：</a:t>
            </a: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动销率与自有品牌是利润与差异化关键；需从「结果导向」转向「能力导向」（选品周期、库存周转）。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38404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6032"/>
            <a:ext cx="8686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500" b="1" i="0">
                <a:solidFill>
                  <a:srgbClr val="262626"/>
                </a:solidFill>
                <a:latin typeface="微软雅黑"/>
                <a:ea typeface="微软雅黑"/>
              </a:rPr>
              <a:t>战略地图 · 学习与成长维度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82880"/>
            <a:ext cx="12801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 i="0">
                <a:solidFill>
                  <a:srgbClr val="EAD9D4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68680"/>
            <a:ext cx="11155680" cy="254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11155680" cy="68580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188720"/>
            <a:ext cx="1060704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400" b="1" i="0">
                <a:solidFill>
                  <a:srgbClr val="FFECE6"/>
                </a:solidFill>
                <a:latin typeface="微软雅黑"/>
                <a:ea typeface="微软雅黑"/>
              </a:rPr>
              <a:t>战略主题：</a:t>
            </a: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</a:rPr>
              <a:t>强化数字化、人才、组织能力，为长期发展打底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57400"/>
            <a:ext cx="11155680" cy="457200"/>
          </a:xfrm>
          <a:prstGeom prst="rect">
            <a:avLst/>
          </a:prstGeom>
          <a:solidFill>
            <a:srgbClr val="8C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057400"/>
            <a:ext cx="2194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战略目标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057400"/>
            <a:ext cx="256032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关键指标 (KPI)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057400"/>
            <a:ext cx="22860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目标值 / 现状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057400"/>
            <a:ext cx="3383279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支撑举措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14600"/>
            <a:ext cx="1115568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514600"/>
            <a:ext cx="215798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2C5F8A"/>
                </a:solidFill>
                <a:latin typeface="微软雅黑"/>
                <a:ea typeface="微软雅黑"/>
              </a:rPr>
              <a:t>数字化底座建设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2514600"/>
            <a:ext cx="252374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数字化投入 / 系统一体化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3288" y="2514600"/>
            <a:ext cx="224942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累计 5 亿+；2026 一体化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2514600"/>
            <a:ext cx="334670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WMS/TMS/ERP 打通全链路数据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00984"/>
            <a:ext cx="11155680" cy="786384"/>
          </a:xfrm>
          <a:prstGeom prst="rect">
            <a:avLst/>
          </a:prstGeom>
          <a:solidFill>
            <a:srgbClr val="FCF4F1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3300984"/>
            <a:ext cx="215798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2C5F8A"/>
                </a:solidFill>
                <a:latin typeface="微软雅黑"/>
                <a:ea typeface="微软雅黑"/>
              </a:rPr>
              <a:t>库存精准管理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0088" y="3300984"/>
            <a:ext cx="252374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库存准确率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33288" y="3300984"/>
            <a:ext cx="224942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→99%（目标 99.8%）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8" y="3300984"/>
            <a:ext cx="334670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智能补货 + 数据协同闭环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1115568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" y="4087368"/>
            <a:ext cx="215798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2C5F8A"/>
                </a:solidFill>
                <a:latin typeface="微软雅黑"/>
                <a:ea typeface="微软雅黑"/>
              </a:rPr>
              <a:t>加盟商赋能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90088" y="4087368"/>
            <a:ext cx="252374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培训覆盖率 / 新店存活率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33288" y="4087368"/>
            <a:ext cx="224942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覆盖 100% / 存活率 95%+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8" y="4087368"/>
            <a:ext cx="334670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标准化课程 + 实战演练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73752"/>
            <a:ext cx="11155680" cy="786384"/>
          </a:xfrm>
          <a:prstGeom prst="rect">
            <a:avLst/>
          </a:prstGeom>
          <a:solidFill>
            <a:srgbClr val="FCF4F1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" y="4873752"/>
            <a:ext cx="215798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2C5F8A"/>
                </a:solidFill>
                <a:latin typeface="微软雅黑"/>
                <a:ea typeface="微软雅黑"/>
              </a:rPr>
              <a:t>组织能力适配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0088" y="4873752"/>
            <a:ext cx="252374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组织架构 / 人才梯队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33288" y="4873752"/>
            <a:ext cx="224942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适配全国扩张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2168" y="4873752"/>
            <a:ext cx="3346704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数据分析/算法/业务复合人才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751576"/>
            <a:ext cx="11155680" cy="640080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751576"/>
            <a:ext cx="91440" cy="64008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751576"/>
            <a:ext cx="1078992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01A22"/>
                </a:solidFill>
                <a:latin typeface="微软雅黑"/>
                <a:ea typeface="微软雅黑"/>
              </a:rPr>
              <a:t>小结：</a:t>
            </a: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组织能力建设需匹配业务扩张速度；当前数字化偏「系统建设」，应深化为「流程再造」与「组织转型」。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8C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4864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600" b="1" i="0">
                <a:solidFill>
                  <a:srgbClr val="E06A60"/>
                </a:solidFill>
                <a:latin typeface="Arial"/>
                <a:ea typeface="Arial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788920"/>
            <a:ext cx="731520" cy="6350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058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</a:rPr>
              <a:t>分析与讨论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233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600" b="0" i="0">
                <a:solidFill>
                  <a:srgbClr val="F0C8C2"/>
                </a:solidFill>
                <a:latin typeface="Arial"/>
                <a:ea typeface="Arial"/>
              </a:rPr>
              <a:t>Evaluation &amp;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7091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0" i="0">
                <a:solidFill>
                  <a:srgbClr val="F7E3DF"/>
                </a:solidFill>
                <a:latin typeface="微软雅黑"/>
                <a:ea typeface="微软雅黑"/>
              </a:rPr>
              <a:t>战略执行评价 · 偏差原因分析 · 数据口径修正 · 结论启示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38404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6032"/>
            <a:ext cx="8686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500" b="1" i="0">
                <a:solidFill>
                  <a:srgbClr val="262626"/>
                </a:solidFill>
                <a:latin typeface="微软雅黑"/>
                <a:ea typeface="微软雅黑"/>
              </a:rPr>
              <a:t>战略执行评价：目标达成对照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82880"/>
            <a:ext cx="12801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 i="0">
                <a:solidFill>
                  <a:srgbClr val="EAD9D4"/>
                </a:solidFill>
                <a:latin typeface="Arial"/>
                <a:ea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68680"/>
            <a:ext cx="11155680" cy="254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34440"/>
            <a:ext cx="13716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维度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234440"/>
            <a:ext cx="2834639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关键指标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59" y="1234440"/>
            <a:ext cx="164592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目标值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59" y="1234440"/>
            <a:ext cx="164592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现状(最新)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1234440"/>
            <a:ext cx="27432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达成评价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691640"/>
            <a:ext cx="11155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691640"/>
            <a:ext cx="13716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1" i="0">
                <a:solidFill>
                  <a:srgbClr val="262626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1691640"/>
            <a:ext cx="2834639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源头直采占比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59" y="1691640"/>
            <a:ext cx="1645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≥95% / 90%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59" y="1691640"/>
            <a:ext cx="1645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92.3%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23960" y="1783080"/>
            <a:ext cx="1463040" cy="320040"/>
          </a:xfrm>
          <a:prstGeom prst="rect">
            <a:avLst/>
          </a:prstGeom>
          <a:solidFill>
            <a:srgbClr val="2E8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783080"/>
            <a:ext cx="1463040" cy="3200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超额*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94560"/>
            <a:ext cx="11155680" cy="502920"/>
          </a:xfrm>
          <a:prstGeom prst="rect">
            <a:avLst/>
          </a:prstGeom>
          <a:solidFill>
            <a:srgbClr val="FCF4F1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194560"/>
            <a:ext cx="13716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1" i="0">
                <a:solidFill>
                  <a:srgbClr val="262626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194560"/>
            <a:ext cx="2834639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物流成本占比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59" y="2194560"/>
            <a:ext cx="1645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&lt;1.5%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59" y="2194560"/>
            <a:ext cx="1645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1.7%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23960" y="2286000"/>
            <a:ext cx="1463040" cy="320040"/>
          </a:xfrm>
          <a:prstGeom prst="rect">
            <a:avLst/>
          </a:prstGeom>
          <a:solidFill>
            <a:srgbClr val="E37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3960" y="2286000"/>
            <a:ext cx="1463040" cy="3200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接近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697480"/>
            <a:ext cx="11155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697480"/>
            <a:ext cx="13716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1" i="0">
                <a:solidFill>
                  <a:srgbClr val="262626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2697480"/>
            <a:ext cx="2834639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毛利率(公司层面)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59" y="2697480"/>
            <a:ext cx="1645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32%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59" y="2697480"/>
            <a:ext cx="1645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7.6%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2788920"/>
            <a:ext cx="1463040" cy="32004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23960" y="2788920"/>
            <a:ext cx="1463040" cy="3200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差距大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200400"/>
            <a:ext cx="11155680" cy="502920"/>
          </a:xfrm>
          <a:prstGeom prst="rect">
            <a:avLst/>
          </a:prstGeom>
          <a:solidFill>
            <a:srgbClr val="FCF4F1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3200400"/>
            <a:ext cx="13716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1" i="0">
                <a:solidFill>
                  <a:srgbClr val="262626"/>
                </a:solidFill>
                <a:latin typeface="微软雅黑"/>
                <a:ea typeface="微软雅黑"/>
              </a:rPr>
              <a:t>客户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48840" y="3200400"/>
            <a:ext cx="2834639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会员复购率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66359" y="3200400"/>
            <a:ext cx="1645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50%→提升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59" y="3200400"/>
            <a:ext cx="1645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75%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23960" y="3291840"/>
            <a:ext cx="1463040" cy="320040"/>
          </a:xfrm>
          <a:prstGeom prst="rect">
            <a:avLst/>
          </a:prstGeom>
          <a:solidFill>
            <a:srgbClr val="2E8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23960" y="3291840"/>
            <a:ext cx="1463040" cy="3200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超额达成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703320"/>
            <a:ext cx="11155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703320"/>
            <a:ext cx="13716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1" i="0">
                <a:solidFill>
                  <a:srgbClr val="262626"/>
                </a:solidFill>
                <a:latin typeface="微软雅黑"/>
                <a:ea typeface="微软雅黑"/>
              </a:rPr>
              <a:t>客户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48840" y="3703320"/>
            <a:ext cx="2834639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北方门店占比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66359" y="3703320"/>
            <a:ext cx="1645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35%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59" y="3703320"/>
            <a:ext cx="1645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约15–18%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23960" y="3794759"/>
            <a:ext cx="1463040" cy="320040"/>
          </a:xfrm>
          <a:prstGeom prst="rect">
            <a:avLst/>
          </a:prstGeom>
          <a:solidFill>
            <a:srgbClr val="E37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23960" y="3794759"/>
            <a:ext cx="1463040" cy="3200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推进中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206240"/>
            <a:ext cx="11155680" cy="502920"/>
          </a:xfrm>
          <a:prstGeom prst="rect">
            <a:avLst/>
          </a:prstGeom>
          <a:solidFill>
            <a:srgbClr val="FCF4F1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206240"/>
            <a:ext cx="13716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1" i="0">
                <a:solidFill>
                  <a:srgbClr val="262626"/>
                </a:solidFill>
                <a:latin typeface="微软雅黑"/>
                <a:ea typeface="微软雅黑"/>
              </a:rPr>
              <a:t>内部流程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206240"/>
            <a:ext cx="2834639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商品动销率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66359" y="4206240"/>
            <a:ext cx="1645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88%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59" y="4206240"/>
            <a:ext cx="1645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约75%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23960" y="4297679"/>
            <a:ext cx="1463040" cy="320040"/>
          </a:xfrm>
          <a:prstGeom prst="rect">
            <a:avLst/>
          </a:prstGeom>
          <a:solidFill>
            <a:srgbClr val="E37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23960" y="4297679"/>
            <a:ext cx="1463040" cy="3200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推进中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4709159"/>
            <a:ext cx="11155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4709159"/>
            <a:ext cx="13716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1" i="0">
                <a:solidFill>
                  <a:srgbClr val="262626"/>
                </a:solidFill>
                <a:latin typeface="微软雅黑"/>
                <a:ea typeface="微软雅黑"/>
              </a:rPr>
              <a:t>内部流程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4709159"/>
            <a:ext cx="2834639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自有品牌占比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66359" y="4709159"/>
            <a:ext cx="1645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30%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95159" y="4709159"/>
            <a:ext cx="1645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约12%(定制34%)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23960" y="4800599"/>
            <a:ext cx="1463040" cy="32004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823960" y="4800599"/>
            <a:ext cx="1463040" cy="3200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差距较大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5212079"/>
            <a:ext cx="11155680" cy="502920"/>
          </a:xfrm>
          <a:prstGeom prst="rect">
            <a:avLst/>
          </a:prstGeom>
          <a:solidFill>
            <a:srgbClr val="FCF4F1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0" y="5212079"/>
            <a:ext cx="13716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1" i="0">
                <a:solidFill>
                  <a:srgbClr val="262626"/>
                </a:solidFill>
                <a:latin typeface="微软雅黑"/>
                <a:ea typeface="微软雅黑"/>
              </a:rPr>
              <a:t>学习成长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8840" y="5212079"/>
            <a:ext cx="2834639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库存准确率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66359" y="5212079"/>
            <a:ext cx="1645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99%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95159" y="5212079"/>
            <a:ext cx="16459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目标99.8%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823960" y="5303519"/>
            <a:ext cx="1463040" cy="320040"/>
          </a:xfrm>
          <a:prstGeom prst="rect">
            <a:avLst/>
          </a:prstGeom>
          <a:solidFill>
            <a:srgbClr val="E37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23960" y="5303519"/>
            <a:ext cx="1463040" cy="3200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建设中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5788151"/>
            <a:ext cx="11155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微软雅黑"/>
                <a:ea typeface="微软雅黑"/>
              </a:rPr>
              <a:t>*注：直采占比、会员复购率已超额完成原定目标；毛利率、自有品牌占比、动销率等仍存在较大差距，部分源于目标设定偏激进（详见下页偏差原因分析）。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38404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6032"/>
            <a:ext cx="8686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500" b="1" i="0">
                <a:solidFill>
                  <a:srgbClr val="262626"/>
                </a:solidFill>
                <a:latin typeface="微软雅黑"/>
                <a:ea typeface="微软雅黑"/>
              </a:rPr>
              <a:t>偏差原因分析：四维度诊断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82880"/>
            <a:ext cx="12801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 i="0">
                <a:solidFill>
                  <a:srgbClr val="EAD9D4"/>
                </a:solidFill>
                <a:latin typeface="Arial"/>
                <a:ea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68680"/>
            <a:ext cx="11155680" cy="254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34440"/>
            <a:ext cx="5486400" cy="45720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23444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财务维度  ｜  </a:t>
            </a:r>
            <a:r>
              <a:rPr sz="1300" b="1" i="0">
                <a:solidFill>
                  <a:srgbClr val="FFECE6"/>
                </a:solidFill>
                <a:latin typeface="微软雅黑"/>
                <a:ea typeface="微软雅黑"/>
              </a:rPr>
              <a:t>毛利率目标(32%)过高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01368"/>
            <a:ext cx="5029200" cy="160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目标过度依赖行业对标（良品铺子26%、三只松鼠24%）而非自身能力与历史趋势；公司层面实际仅7.6%；物流成本目标未考虑全国扩张带来的边际压力。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234440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234440"/>
            <a:ext cx="5486400" cy="457200"/>
          </a:xfrm>
          <a:prstGeom prst="rect">
            <a:avLst/>
          </a:prstGeom>
          <a:solidFill>
            <a:srgbClr val="E37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23444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客户维度  ｜  </a:t>
            </a:r>
            <a:r>
              <a:rPr sz="1300" b="1" i="0">
                <a:solidFill>
                  <a:srgbClr val="FFECE6"/>
                </a:solidFill>
                <a:latin typeface="微软雅黑"/>
                <a:ea typeface="微软雅黑"/>
              </a:rPr>
              <a:t>缺乏客户分层管理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1801368"/>
            <a:ext cx="5029200" cy="160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「复购→高价值消费」转化路径不清；KPI 偏后验结果（占比）缺过程指标（新客转化、客单价）；10 亿专项资金偏开店与品牌，未匹配客户洞察与区域产品定制。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611880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11880"/>
            <a:ext cx="5486400" cy="457200"/>
          </a:xfrm>
          <a:prstGeom prst="rect">
            <a:avLst/>
          </a:prstGeom>
          <a:solidFill>
            <a:srgbClr val="2E8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61188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内部流程  ｜  </a:t>
            </a:r>
            <a:r>
              <a:rPr sz="1300" b="1" i="0">
                <a:solidFill>
                  <a:srgbClr val="FFECE6"/>
                </a:solidFill>
                <a:latin typeface="微软雅黑"/>
                <a:ea typeface="微软雅黑"/>
              </a:rPr>
              <a:t>能力未拆解、数字化落地滞后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78808"/>
            <a:ext cx="5029200" cy="160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动销率(88%)、自有品牌(30%)目标偏「结果导向」而非「能力导向」；自有品牌缺与供应链/研发/门店协同机制；数字化仍以功能模块为主，缺流程再造（智能补货、区域差异化选品未落地）。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3611880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3611880"/>
            <a:ext cx="5486400" cy="45720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61188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学习成长  ｜  </a:t>
            </a:r>
            <a:r>
              <a:rPr sz="1300" b="1" i="0">
                <a:solidFill>
                  <a:srgbClr val="FFECE6"/>
                </a:solidFill>
                <a:latin typeface="微软雅黑"/>
                <a:ea typeface="微软雅黑"/>
              </a:rPr>
              <a:t>组织能力滞后于业务扩张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4178808"/>
            <a:ext cx="5029200" cy="160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加盟商培训缺覆盖率、培训后绩效等关键指标；数字化投入偏系统建设而非组织转型；人才发展与战略目标映射模糊（如自有品牌开发能力对应岗位/技能未明确）。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38404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6032"/>
            <a:ext cx="8686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500" b="1" i="0">
                <a:solidFill>
                  <a:srgbClr val="262626"/>
                </a:solidFill>
                <a:latin typeface="微软雅黑"/>
                <a:ea typeface="微软雅黑"/>
              </a:rPr>
              <a:t>数据口径差异说明与修正建议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82880"/>
            <a:ext cx="12801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 i="0">
                <a:solidFill>
                  <a:srgbClr val="EAD9D4"/>
                </a:solidFill>
                <a:latin typeface="Arial"/>
                <a:ea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68680"/>
            <a:ext cx="11155680" cy="254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11155680" cy="45720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80160"/>
            <a:ext cx="2194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280160"/>
            <a:ext cx="256032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原文档数据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1280160"/>
            <a:ext cx="256032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实际/最新数据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128016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</a:rPr>
              <a:t>修正建议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37360"/>
            <a:ext cx="1115568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737360"/>
            <a:ext cx="2157984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01A22"/>
                </a:solidFill>
                <a:latin typeface="微软雅黑"/>
                <a:ea typeface="微软雅黑"/>
              </a:rPr>
              <a:t>单店月均营收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0088" y="1737360"/>
            <a:ext cx="2523744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12万元(供货口径)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33288" y="1737360"/>
            <a:ext cx="2523744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25–30万元(门店GMV)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1737360"/>
            <a:ext cx="3072384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明确区分「公司供货收入」与「门店 GMV」两口径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578608"/>
            <a:ext cx="11155680" cy="841248"/>
          </a:xfrm>
          <a:prstGeom prst="rect">
            <a:avLst/>
          </a:prstGeom>
          <a:solidFill>
            <a:srgbClr val="FCF4F1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2578608"/>
            <a:ext cx="2157984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01A22"/>
                </a:solidFill>
                <a:latin typeface="微软雅黑"/>
                <a:ea typeface="微软雅黑"/>
              </a:rPr>
              <a:t>毛利率核算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0088" y="2578608"/>
            <a:ext cx="2523744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28%(行业/自有品牌)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33288" y="2578608"/>
            <a:ext cx="2523744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公司7.6% / 加盟商18–20%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6488" y="2578608"/>
            <a:ext cx="3072384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分层披露公司层面与加盟商层面毛利率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419856"/>
            <a:ext cx="1115568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419856"/>
            <a:ext cx="2157984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01A22"/>
                </a:solidFill>
                <a:latin typeface="微软雅黑"/>
                <a:ea typeface="微软雅黑"/>
              </a:rPr>
              <a:t>会员年复购率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0088" y="3419856"/>
            <a:ext cx="2523744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30%(2023单品牌)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33288" y="3419856"/>
            <a:ext cx="2523744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75%(2024集团合并后)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6488" y="3419856"/>
            <a:ext cx="3072384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更新为合并后最新 75%，体现会员整合优势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261104"/>
            <a:ext cx="11155680" cy="841248"/>
          </a:xfrm>
          <a:prstGeom prst="rect">
            <a:avLst/>
          </a:prstGeom>
          <a:solidFill>
            <a:srgbClr val="FCF4F1"/>
          </a:solidFill>
          <a:ln w="6350">
            <a:solidFill>
              <a:srgbClr val="DDD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4261104"/>
            <a:ext cx="2157984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01A22"/>
                </a:solidFill>
                <a:latin typeface="微软雅黑"/>
                <a:ea typeface="微软雅黑"/>
              </a:rPr>
              <a:t>供应链直采占比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90088" y="4261104"/>
            <a:ext cx="2523744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80%(2023历史)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33288" y="4261104"/>
            <a:ext cx="2523744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92.3%(2025最新)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6488" y="4261104"/>
            <a:ext cx="3072384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微软雅黑"/>
                <a:ea typeface="微软雅黑"/>
              </a:rPr>
              <a:t>采用最新 92.3%，突出供应链效率持续优化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212080"/>
            <a:ext cx="11155680" cy="731520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5212080"/>
            <a:ext cx="91440" cy="731520"/>
          </a:xfrm>
          <a:prstGeom prst="rect">
            <a:avLst/>
          </a:prstGeom>
          <a:solidFill>
            <a:srgbClr val="F2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212080"/>
            <a:ext cx="1078992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1A22"/>
                </a:solidFill>
                <a:latin typeface="微软雅黑"/>
                <a:ea typeface="微软雅黑"/>
              </a:rPr>
              <a:t>核心数据来源：</a:t>
            </a:r>
            <a:r>
              <a:rPr sz="1150" b="0" i="0">
                <a:solidFill>
                  <a:srgbClr val="262626"/>
                </a:solidFill>
                <a:latin typeface="微软雅黑"/>
                <a:ea typeface="微软雅黑"/>
              </a:rPr>
              <a:t>鸣鸣很忙集团 2024 招股书及年报、赵一鸣官网、GeoQ 智图行业蓝皮书、美团闪购行业白皮书。关键口径：单店营收区分供货收入/GMV；毛利率分公司层/加盟商层/自有品牌；会员数据按集团合并口径。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384048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6032"/>
            <a:ext cx="86868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500" b="1" i="0">
                <a:solidFill>
                  <a:srgbClr val="262626"/>
                </a:solidFill>
                <a:latin typeface="微软雅黑"/>
                <a:ea typeface="微软雅黑"/>
              </a:rPr>
              <a:t>结论与启示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82880"/>
            <a:ext cx="12801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3000" b="1" i="0">
                <a:solidFill>
                  <a:srgbClr val="EAD9D4"/>
                </a:solidFill>
                <a:latin typeface="Arial"/>
                <a:ea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68680"/>
            <a:ext cx="11155680" cy="25400"/>
          </a:xfrm>
          <a:prstGeom prst="rect">
            <a:avLst/>
          </a:prstGeom>
          <a:solidFill>
            <a:srgbClr val="DDD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11155680" cy="1078992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2103120" cy="1078992"/>
          </a:xfrm>
          <a:prstGeom prst="rect">
            <a:avLst/>
          </a:prstGeom>
          <a:solidFill>
            <a:srgbClr val="2E8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80160"/>
            <a:ext cx="2011680" cy="107899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</a:rPr>
              <a:t>战略成效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1371600"/>
            <a:ext cx="8732520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并入集团后，赵一鸣借供应链、资本与数字化赋能，从区域强势品牌跃升为全国头部，收入规模超越「零食很忙」，成本领先战略成效显著。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87168"/>
            <a:ext cx="11155680" cy="1078992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487168"/>
            <a:ext cx="2103120" cy="1078992"/>
          </a:xfrm>
          <a:prstGeom prst="rect">
            <a:avLst/>
          </a:prstGeom>
          <a:solidFill>
            <a:srgbClr val="E37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487168"/>
            <a:ext cx="2011680" cy="107899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</a:rPr>
              <a:t>执行短板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578608"/>
            <a:ext cx="8732520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毛利率、自有品牌占比、动销率等目标与现状差距较大；KPI 偏「结果导向」、缺过程性与能力性指标，目标设定偏向行业对标而非自身能力。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694176"/>
            <a:ext cx="11155680" cy="1078992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94176"/>
            <a:ext cx="2103120" cy="1078992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694176"/>
            <a:ext cx="2011680" cy="107899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</a:rPr>
              <a:t>BSC 启示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785615"/>
            <a:ext cx="8732520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战略地图需强化四维度因果传导：以「学习成长(数字化/人才)→内部流程(选品/周转)→客户(分层/客单价)→财务(毛利/营收)」的能力链条支撑目标，避免「一刀切」。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901184"/>
            <a:ext cx="11155680" cy="1078992"/>
          </a:xfrm>
          <a:prstGeom prst="rect">
            <a:avLst/>
          </a:prstGeom>
          <a:solidFill>
            <a:srgbClr val="FC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901184"/>
            <a:ext cx="2103120" cy="1078992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901184"/>
            <a:ext cx="2011680" cy="107899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</a:rPr>
              <a:t>发展建议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4992624"/>
            <a:ext cx="8732520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62626"/>
                </a:solidFill>
                <a:latin typeface="微软雅黑"/>
                <a:ea typeface="微软雅黑"/>
              </a:rPr>
              <a:t>①目标分层、设过程指标；②自有品牌建协同开发机制；③客户分区域精细运营；④数字化由「系统建设」转向「流程再造+组织转型」；⑤平衡双品牌区域竞合。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案例分析 · 赵一鸣零食战略地图与平衡计分卡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微软雅黑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8C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331720"/>
            <a:ext cx="12191695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微软雅黑"/>
                <a:ea typeface="微软雅黑"/>
              </a:rPr>
              <a:t>感 谢 聆 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800" b="0" i="0">
                <a:solidFill>
                  <a:srgbClr val="F3CFC9"/>
                </a:solidFill>
                <a:latin typeface="Arial"/>
                <a:ea typeface="Arial"/>
              </a:rPr>
              <a:t>THANKS  ·  欢迎点评与讨论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400" b="0" i="0">
                <a:solidFill>
                  <a:srgbClr val="F7E3DF"/>
                </a:solidFill>
                <a:latin typeface="微软雅黑"/>
                <a:ea typeface="微软雅黑"/>
              </a:rPr>
              <a:t>深入洞察战略蓝图，共绘零食行业新未来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